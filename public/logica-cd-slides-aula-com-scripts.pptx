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1"/>
  </p:notesMasterIdLst>
  <p:sldIdLst>
    <p:sldId id="256" r:id="rId2"/>
    <p:sldId id="374"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1" r:id="rId108"/>
    <p:sldId id="362" r:id="rId109"/>
    <p:sldId id="363" r:id="rId110"/>
    <p:sldId id="364" r:id="rId111"/>
    <p:sldId id="365" r:id="rId112"/>
    <p:sldId id="366" r:id="rId113"/>
    <p:sldId id="367" r:id="rId114"/>
    <p:sldId id="368" r:id="rId115"/>
    <p:sldId id="369" r:id="rId116"/>
    <p:sldId id="370" r:id="rId117"/>
    <p:sldId id="371" r:id="rId118"/>
    <p:sldId id="372" r:id="rId119"/>
    <p:sldId id="373" r:id="rId1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9182" autoAdjust="0"/>
  </p:normalViewPr>
  <p:slideViewPr>
    <p:cSldViewPr snapToGrid="0" snapToObjects="1">
      <p:cViewPr varScale="1">
        <p:scale>
          <a:sx n="50" d="100"/>
          <a:sy n="50" d="100"/>
        </p:scale>
        <p:origin x="1260"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lena macedo" userId="6034a6aa6a4c354a" providerId="LiveId" clId="{656E6516-F168-419A-86D3-6750C1AA0075}"/>
    <pc:docChg chg="undo custSel addSld delSld modSld">
      <pc:chgData name="helena macedo" userId="6034a6aa6a4c354a" providerId="LiveId" clId="{656E6516-F168-419A-86D3-6750C1AA0075}" dt="2026-05-05T18:44:21.062" v="173"/>
      <pc:docMkLst>
        <pc:docMk/>
      </pc:docMkLst>
      <pc:sldChg chg="modSp mod">
        <pc:chgData name="helena macedo" userId="6034a6aa6a4c354a" providerId="LiveId" clId="{656E6516-F168-419A-86D3-6750C1AA0075}" dt="2026-05-05T18:42:56.458" v="163" actId="20577"/>
        <pc:sldMkLst>
          <pc:docMk/>
          <pc:sldMk cId="0" sldId="256"/>
        </pc:sldMkLst>
        <pc:spChg chg="mod">
          <ac:chgData name="helena macedo" userId="6034a6aa6a4c354a" providerId="LiveId" clId="{656E6516-F168-419A-86D3-6750C1AA0075}" dt="2026-05-05T18:42:56.458" v="163" actId="20577"/>
          <ac:spMkLst>
            <pc:docMk/>
            <pc:sldMk cId="0" sldId="256"/>
            <ac:spMk id="9" creationId="{00000000-0000-0000-0000-000000000000}"/>
          </ac:spMkLst>
        </pc:spChg>
      </pc:sldChg>
      <pc:sldChg chg="modSp">
        <pc:chgData name="helena macedo" userId="6034a6aa6a4c354a" providerId="LiveId" clId="{656E6516-F168-419A-86D3-6750C1AA0075}" dt="2026-05-05T18:43:12.364" v="164"/>
        <pc:sldMkLst>
          <pc:docMk/>
          <pc:sldMk cId="0" sldId="270"/>
        </pc:sldMkLst>
        <pc:spChg chg="mod">
          <ac:chgData name="helena macedo" userId="6034a6aa6a4c354a" providerId="LiveId" clId="{656E6516-F168-419A-86D3-6750C1AA0075}" dt="2026-05-05T18:43:12.364" v="164"/>
          <ac:spMkLst>
            <pc:docMk/>
            <pc:sldMk cId="0" sldId="270"/>
            <ac:spMk id="9" creationId="{00000000-0000-0000-0000-000000000000}"/>
          </ac:spMkLst>
        </pc:spChg>
      </pc:sldChg>
      <pc:sldChg chg="modSp">
        <pc:chgData name="helena macedo" userId="6034a6aa6a4c354a" providerId="LiveId" clId="{656E6516-F168-419A-86D3-6750C1AA0075}" dt="2026-05-05T18:43:22.546" v="165"/>
        <pc:sldMkLst>
          <pc:docMk/>
          <pc:sldMk cId="0" sldId="295"/>
        </pc:sldMkLst>
        <pc:spChg chg="mod">
          <ac:chgData name="helena macedo" userId="6034a6aa6a4c354a" providerId="LiveId" clId="{656E6516-F168-419A-86D3-6750C1AA0075}" dt="2026-05-05T18:43:22.546" v="165"/>
          <ac:spMkLst>
            <pc:docMk/>
            <pc:sldMk cId="0" sldId="295"/>
            <ac:spMk id="9" creationId="{00000000-0000-0000-0000-000000000000}"/>
          </ac:spMkLst>
        </pc:spChg>
      </pc:sldChg>
      <pc:sldChg chg="modSp">
        <pc:chgData name="helena macedo" userId="6034a6aa6a4c354a" providerId="LiveId" clId="{656E6516-F168-419A-86D3-6750C1AA0075}" dt="2026-05-05T18:43:31.808" v="166"/>
        <pc:sldMkLst>
          <pc:docMk/>
          <pc:sldMk cId="0" sldId="314"/>
        </pc:sldMkLst>
        <pc:spChg chg="mod">
          <ac:chgData name="helena macedo" userId="6034a6aa6a4c354a" providerId="LiveId" clId="{656E6516-F168-419A-86D3-6750C1AA0075}" dt="2026-05-05T18:43:31.808" v="166"/>
          <ac:spMkLst>
            <pc:docMk/>
            <pc:sldMk cId="0" sldId="314"/>
            <ac:spMk id="9" creationId="{00000000-0000-0000-0000-000000000000}"/>
          </ac:spMkLst>
        </pc:spChg>
      </pc:sldChg>
      <pc:sldChg chg="modSp">
        <pc:chgData name="helena macedo" userId="6034a6aa6a4c354a" providerId="LiveId" clId="{656E6516-F168-419A-86D3-6750C1AA0075}" dt="2026-05-05T18:43:40.301" v="167"/>
        <pc:sldMkLst>
          <pc:docMk/>
          <pc:sldMk cId="0" sldId="330"/>
        </pc:sldMkLst>
        <pc:spChg chg="mod">
          <ac:chgData name="helena macedo" userId="6034a6aa6a4c354a" providerId="LiveId" clId="{656E6516-F168-419A-86D3-6750C1AA0075}" dt="2026-05-05T18:43:40.301" v="167"/>
          <ac:spMkLst>
            <pc:docMk/>
            <pc:sldMk cId="0" sldId="330"/>
            <ac:spMk id="9" creationId="{00000000-0000-0000-0000-000000000000}"/>
          </ac:spMkLst>
        </pc:spChg>
      </pc:sldChg>
      <pc:sldChg chg="modSp mod">
        <pc:chgData name="helena macedo" userId="6034a6aa6a4c354a" providerId="LiveId" clId="{656E6516-F168-419A-86D3-6750C1AA0075}" dt="2026-05-05T18:43:49.139" v="169"/>
        <pc:sldMkLst>
          <pc:docMk/>
          <pc:sldMk cId="0" sldId="343"/>
        </pc:sldMkLst>
        <pc:spChg chg="mod">
          <ac:chgData name="helena macedo" userId="6034a6aa6a4c354a" providerId="LiveId" clId="{656E6516-F168-419A-86D3-6750C1AA0075}" dt="2026-05-05T18:43:47.585" v="168" actId="20577"/>
          <ac:spMkLst>
            <pc:docMk/>
            <pc:sldMk cId="0" sldId="343"/>
            <ac:spMk id="2" creationId="{00000000-0000-0000-0000-000000000000}"/>
          </ac:spMkLst>
        </pc:spChg>
        <pc:spChg chg="mod">
          <ac:chgData name="helena macedo" userId="6034a6aa6a4c354a" providerId="LiveId" clId="{656E6516-F168-419A-86D3-6750C1AA0075}" dt="2026-05-05T18:43:49.139" v="169"/>
          <ac:spMkLst>
            <pc:docMk/>
            <pc:sldMk cId="0" sldId="343"/>
            <ac:spMk id="9" creationId="{00000000-0000-0000-0000-000000000000}"/>
          </ac:spMkLst>
        </pc:spChg>
      </pc:sldChg>
      <pc:sldChg chg="modSp mod">
        <pc:chgData name="helena macedo" userId="6034a6aa6a4c354a" providerId="LiveId" clId="{656E6516-F168-419A-86D3-6750C1AA0075}" dt="2026-05-05T18:43:59.622" v="171"/>
        <pc:sldMkLst>
          <pc:docMk/>
          <pc:sldMk cId="0" sldId="353"/>
        </pc:sldMkLst>
        <pc:spChg chg="mod">
          <ac:chgData name="helena macedo" userId="6034a6aa6a4c354a" providerId="LiveId" clId="{656E6516-F168-419A-86D3-6750C1AA0075}" dt="2026-05-05T18:43:57.174" v="170" actId="20577"/>
          <ac:spMkLst>
            <pc:docMk/>
            <pc:sldMk cId="0" sldId="353"/>
            <ac:spMk id="2" creationId="{00000000-0000-0000-0000-000000000000}"/>
          </ac:spMkLst>
        </pc:spChg>
        <pc:spChg chg="mod">
          <ac:chgData name="helena macedo" userId="6034a6aa6a4c354a" providerId="LiveId" clId="{656E6516-F168-419A-86D3-6750C1AA0075}" dt="2026-05-05T18:43:59.622" v="171"/>
          <ac:spMkLst>
            <pc:docMk/>
            <pc:sldMk cId="0" sldId="353"/>
            <ac:spMk id="9" creationId="{00000000-0000-0000-0000-000000000000}"/>
          </ac:spMkLst>
        </pc:spChg>
      </pc:sldChg>
      <pc:sldChg chg="modSp">
        <pc:chgData name="helena macedo" userId="6034a6aa6a4c354a" providerId="LiveId" clId="{656E6516-F168-419A-86D3-6750C1AA0075}" dt="2026-05-05T18:44:08.187" v="172"/>
        <pc:sldMkLst>
          <pc:docMk/>
          <pc:sldMk cId="0" sldId="360"/>
        </pc:sldMkLst>
        <pc:spChg chg="mod">
          <ac:chgData name="helena macedo" userId="6034a6aa6a4c354a" providerId="LiveId" clId="{656E6516-F168-419A-86D3-6750C1AA0075}" dt="2026-05-05T18:44:08.187" v="172"/>
          <ac:spMkLst>
            <pc:docMk/>
            <pc:sldMk cId="0" sldId="360"/>
            <ac:spMk id="9" creationId="{00000000-0000-0000-0000-000000000000}"/>
          </ac:spMkLst>
        </pc:spChg>
      </pc:sldChg>
      <pc:sldChg chg="modSp">
        <pc:chgData name="helena macedo" userId="6034a6aa6a4c354a" providerId="LiveId" clId="{656E6516-F168-419A-86D3-6750C1AA0075}" dt="2026-05-05T18:44:21.062" v="173"/>
        <pc:sldMkLst>
          <pc:docMk/>
          <pc:sldMk cId="0" sldId="367"/>
        </pc:sldMkLst>
        <pc:spChg chg="mod">
          <ac:chgData name="helena macedo" userId="6034a6aa6a4c354a" providerId="LiveId" clId="{656E6516-F168-419A-86D3-6750C1AA0075}" dt="2026-05-05T18:44:21.062" v="173"/>
          <ac:spMkLst>
            <pc:docMk/>
            <pc:sldMk cId="0" sldId="367"/>
            <ac:spMk id="9" creationId="{00000000-0000-0000-0000-000000000000}"/>
          </ac:spMkLst>
        </pc:spChg>
      </pc:sldChg>
      <pc:sldChg chg="new del">
        <pc:chgData name="helena macedo" userId="6034a6aa6a4c354a" providerId="LiveId" clId="{656E6516-F168-419A-86D3-6750C1AA0075}" dt="2026-05-05T18:20:00.250" v="1" actId="680"/>
        <pc:sldMkLst>
          <pc:docMk/>
          <pc:sldMk cId="960032787" sldId="374"/>
        </pc:sldMkLst>
      </pc:sldChg>
      <pc:sldChg chg="add del setBg">
        <pc:chgData name="helena macedo" userId="6034a6aa6a4c354a" providerId="LiveId" clId="{656E6516-F168-419A-86D3-6750C1AA0075}" dt="2026-05-05T18:20:04.404" v="3"/>
        <pc:sldMkLst>
          <pc:docMk/>
          <pc:sldMk cId="1181055017" sldId="374"/>
        </pc:sldMkLst>
      </pc:sldChg>
      <pc:sldChg chg="addSp delSp modSp add mod modNotesTx">
        <pc:chgData name="helena macedo" userId="6034a6aa6a4c354a" providerId="LiveId" clId="{656E6516-F168-419A-86D3-6750C1AA0075}" dt="2026-05-05T18:27:15.481" v="132" actId="14100"/>
        <pc:sldMkLst>
          <pc:docMk/>
          <pc:sldMk cId="1353412437" sldId="374"/>
        </pc:sldMkLst>
        <pc:spChg chg="del">
          <ac:chgData name="helena macedo" userId="6034a6aa6a4c354a" providerId="LiveId" clId="{656E6516-F168-419A-86D3-6750C1AA0075}" dt="2026-05-05T18:20:18.162" v="6" actId="478"/>
          <ac:spMkLst>
            <pc:docMk/>
            <pc:sldMk cId="1353412437" sldId="374"/>
            <ac:spMk id="3" creationId="{FEAB2F9F-5B4D-316A-3B0C-1B1FEAD3E7A0}"/>
          </ac:spMkLst>
        </pc:spChg>
        <pc:spChg chg="del">
          <ac:chgData name="helena macedo" userId="6034a6aa6a4c354a" providerId="LiveId" clId="{656E6516-F168-419A-86D3-6750C1AA0075}" dt="2026-05-05T18:20:15.829" v="5" actId="478"/>
          <ac:spMkLst>
            <pc:docMk/>
            <pc:sldMk cId="1353412437" sldId="374"/>
            <ac:spMk id="4" creationId="{21A5DB9A-A398-FD36-AA61-BA5B9E713BA3}"/>
          </ac:spMkLst>
        </pc:spChg>
        <pc:spChg chg="mod">
          <ac:chgData name="helena macedo" userId="6034a6aa6a4c354a" providerId="LiveId" clId="{656E6516-F168-419A-86D3-6750C1AA0075}" dt="2026-05-05T18:23:15.498" v="87" actId="404"/>
          <ac:spMkLst>
            <pc:docMk/>
            <pc:sldMk cId="1353412437" sldId="374"/>
            <ac:spMk id="8" creationId="{7DFEC53A-1A01-FDF3-4C89-831D075BB4D5}"/>
          </ac:spMkLst>
        </pc:spChg>
        <pc:spChg chg="mod">
          <ac:chgData name="helena macedo" userId="6034a6aa6a4c354a" providerId="LiveId" clId="{656E6516-F168-419A-86D3-6750C1AA0075}" dt="2026-05-05T18:27:15.481" v="132" actId="14100"/>
          <ac:spMkLst>
            <pc:docMk/>
            <pc:sldMk cId="1353412437" sldId="374"/>
            <ac:spMk id="9" creationId="{F9EE8948-A671-D5FC-6C09-D0137CAADCF1}"/>
          </ac:spMkLst>
        </pc:spChg>
        <pc:picChg chg="add mod modCrop">
          <ac:chgData name="helena macedo" userId="6034a6aa6a4c354a" providerId="LiveId" clId="{656E6516-F168-419A-86D3-6750C1AA0075}" dt="2026-05-05T18:27:11.922" v="131" actId="1076"/>
          <ac:picMkLst>
            <pc:docMk/>
            <pc:sldMk cId="1353412437" sldId="374"/>
            <ac:picMk id="11" creationId="{F71DCE0D-D059-39AE-4471-7BD7B54B1303}"/>
          </ac:picMkLst>
        </pc:picChg>
      </pc:sldChg>
      <pc:sldChg chg="add del">
        <pc:chgData name="helena macedo" userId="6034a6aa6a4c354a" providerId="LiveId" clId="{656E6516-F168-419A-86D3-6750C1AA0075}" dt="2026-05-05T18:23:20.442" v="88" actId="2696"/>
        <pc:sldMkLst>
          <pc:docMk/>
          <pc:sldMk cId="1487145796" sldId="1292"/>
        </pc:sldMkLst>
      </pc:sldChg>
      <pc:sldMasterChg chg="delSldLayout">
        <pc:chgData name="helena macedo" userId="6034a6aa6a4c354a" providerId="LiveId" clId="{656E6516-F168-419A-86D3-6750C1AA0075}" dt="2026-05-05T18:23:20.442" v="88" actId="2696"/>
        <pc:sldMasterMkLst>
          <pc:docMk/>
          <pc:sldMasterMk cId="0" sldId="2147483648"/>
        </pc:sldMasterMkLst>
        <pc:sldLayoutChg chg="del">
          <pc:chgData name="helena macedo" userId="6034a6aa6a4c354a" providerId="LiveId" clId="{656E6516-F168-419A-86D3-6750C1AA0075}" dt="2026-05-05T18:23:20.442" v="88" actId="2696"/>
          <pc:sldLayoutMkLst>
            <pc:docMk/>
            <pc:sldMasterMk cId="0" sldId="2147483648"/>
            <pc:sldLayoutMk cId="2707678154" sldId="214748365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48928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Boas-vindas a todos. Antes de qualquer definição formal, quero propor uma reflexão: o que acontece dentro de um computador quando ele filtra uma planilha, quando um algoritmo de crédito decide aprovar um empréstimo, ou quando um motor de busca ranqueia páginas? Em todos esses casos existe uma estrutura lógica subjacente — regras, condições, encadeamentos de "se... então..." — que determina o comportamento do sistema. Este capítulo é o ponto de partida para entendermos essa estrutura. Não vamos entrar em detalhes técnicos ainda; a ideia é criar intuição sobre por que a lógica importa na Ciência de Dados. Ao longo do livro iremos da proposição mais simples ("a nota é maior que 7") até técnicas de prova automática usadas em SAT solvers industriais. Tudo isso começa aqui.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A6B4D-740B-6AF7-B830-7C79B4F72B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5CF411-E0DF-8D3A-E2A5-A10C1DBEC0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374027-B448-2A8D-E563-B79D322391E5}"/>
              </a:ext>
            </a:extLst>
          </p:cNvPr>
          <p:cNvSpPr>
            <a:spLocks noGrp="1"/>
          </p:cNvSpPr>
          <p:nvPr>
            <p:ph type="body" idx="1"/>
          </p:nvPr>
        </p:nvSpPr>
        <p:spPr/>
        <p:txBody>
          <a:bodyPr/>
          <a:lstStyle/>
          <a:p>
            <a:endParaRPr lang="pt-BR" dirty="0"/>
          </a:p>
        </p:txBody>
      </p:sp>
      <p:sp>
        <p:nvSpPr>
          <p:cNvPr id="4" name="Slide Number Placeholder 3">
            <a:extLst>
              <a:ext uri="{FF2B5EF4-FFF2-40B4-BE49-F238E27FC236}">
                <a16:creationId xmlns:a16="http://schemas.microsoft.com/office/drawing/2014/main" id="{46BC1C7B-8FCE-9EE7-8747-F1B978742A4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35231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Vamos começar pela pergunta mais fundamental. Raciocinar é exatamente isso: partir de informações que já possuímos e extrair informações novas. Por exemplo: "Sei que todos os arquivos corrompidos geram erro. Sei que este arquivo gerou erro. Posso concluir que este arquivo está corrompido?" — essa cadeia de pensamento é raciocínio formal. Perceba que nem sempre essa operação é trivial ou intuitiva. Em dados reais, as premissas são muitas, estão espalhadas em documentos e bases diferentes, e as conclusões podem ser sutis. A lógica nos dá uma linguagem precisa para descrever, verificar e automatizar esse processo. Importante ressaltar: raciocinar formalmente não significa necessariamente raciocinar corretamente sobre o mundo — depende da qualidade das premissas. "Lixo entra, lixo sai" (GIGO) vale tanto para modelos de ML quanto para provas lógicas.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Uma sentença lógica — também chamada de proposição — é qualquer afirmação que pode receber um valor de verdade: verdadeiro (1) ou falso (0). Isso parece simples, mas é fundamental distinguir o que é e o que não é uma sentença lógica. "O aluno acertou a questão" é uma sentença — podemos avaliá-la. "Quantas questões o aluno acertou?" não é uma sentença — é uma pergunta. "Estude mais!" não é uma sentença — é uma ordem. Por que isso importa para Ciência de Dados? Porque toda operação de filtro, toda regra de validação, todo critério de decisão automática precisa ser expresso como sentenças avaliáveis. Quando escrevemos `WHERE aprovado = TRUE AND nota &gt;= 7`, estamos usando sentenças lógicas. Quando definimos regras de negócio em um sistema especialista, usamos sentenças. A lógica começa aqui.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As sentenças têm três níveis de complexidade, e cada um nos dá mais poder expressivo. Sentenças atômicas são as unidades mínimas: não têm estrutura interna perceptível à lógica. Elas simplesmente afirmam algo sobre o mundo, como "chove" ou "o cliente é inadimplente". Sentenças compostas conectam átomos com operadores como "e", "ou", "não": "chove e está frio", "o cliente é inadimplente ou tem restrição no CPF". Sentenças quantificadas dão um salto qualitativo: "todo cliente com renda acima de R$5000 e histórico limpo é elegível ao crédito". Essa última não fala de um cliente específico — fala de todos que satisfazem a condição. Os capítulos 1 e 2 tratam de atômicas e compostas. O capítulo 4 mergulha nas quantificadas. Cada nível adiciona expressividade mas também complexidade computacional.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Com apenas cinco símbolos podemos representar qualquer condição lógica imaginável. Vamos fazer um mapa mental: negação (¬) inverte — "não está chovendo"; conjunção (∧) exige ambos — "chovendo E ventando"; disjunção (∨) aceita pelo menos um — "chovendo OU ventando"; implicação (⇒) conecta causa e efeito — "SE chove, ENTÃO o chão fica molhado"; bicondicional (⇔) exige equivalência — "chove SE E SOMENTE SE o céu está nublado". Em Python você já usa esses operadores: `not`, `and`, `or`. A implicação não tem operador direto em Python, mas é equivalente a `not a or b`. A bicondicional é `a == b`. O que a lógica formal adiciona é precisão semântica: cada símbolo tem uma definição exata por tabela-verdade, sem ambiguidade.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Esta notação, Δ ⊨ ψ, é o coração de toda a lógica formal. Lemos: "ψ é consequência lógica de Δ". O que isso significa precisamente? Que não existe nenhuma situação, nenhum cenário, nenhuma atribuição de valores que torne todas as sentenças de Δ verdadeiras e ao mesmo tempo torne ψ falsa. É uma garantia universal. Isso é muito mais forte do que dizer "na maioria dos casos, se Δ vale então ψ vale" ou "empiricamente, sempre que vimos Δ verdadeiro, ψ também foi". Não — é em absolutamente todos os casos possíveis. Por isso consequência lógica é diferente de correlação estatística ou causalidade empírica. Quando uma regra de negócio é uma consequência lógica das premissas do sistema, ela nunca vai falhar — por construção.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Modus Ponens é a regra de inferência mais antiga e mais usada na história humana, provavelmente. Ela diz: se você sabe que "p implica q" e também sabe que "p é verdadeiro", então você pode concluir "q". Olhando a tabela: analisamos cada linha. Queremos as linhas onde AMBAS as premissas são verdadeiras — ou seja, onde tanto p quanto p⇒q valem. Isso só acontece na primeira linha (p=1, q=1). E nessa linha, a conclusão q também é 1. Portanto, a conclusão nunca falha quando as premissas são satisfeitas. Exemplos práticos: "Se o arquivo tem extensão .exe e foi baixado de fonte desconhecida, então é suspeito" mais "este arquivo tem extensão .exe e foi baixado de fonte desconhecida" nos dá "este arquivo é suspeito". Modus Ponens é a regra que faz todo sistema especialista funcionar.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Uma demonstração formal tem um objetivo muito específico: tornar o raciocínio auditável, linha a linha, por qualquer pessoa — ou por um computador. Cada passo em uma prova precisa de uma justificativa: "usei Modus Ponens nas linhas 3 e 5" ou "isso é a premissa 2". Não se aceita "é óbvio" ou "claramente". Essa rigidez pode parecer pedante, mas é exatamente o que permite automatizar verificação de provas. Softwares como Coq, Lean e Isabelle verificam provas matemáticas completas com centenas de passos. O Lean já foi usado para verificar partes do núcleo do Linux e teoremas de nível olímpico. No contexto de Ciência de Dados: quando você escreve um teste unitário, está fazendo algo análogo — certificando que cada operação é correta de forma verificável.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Por que dar ao trabalho de usar símbolos estranhos como ∧, ∨, ⇒ em vez de escrever em português? Três razões fundamentais. Precisão: "Se o cliente tem renda alta ou score bom e não está inadimplente" é ambígua — a vírgula antes de "não" inclui os dois ou só o segundo? Em lógica, (renda_alta ∨ score_bom) ∧ ¬inadimplente não admite interpretação dupla. Concisão: uma regra de negócio que ocuparia um parágrafo vira uma linha de fórmula. Mecanização: computadores não processam prosa, mas processam estruturas simbólicas com eficiência brutal — daí existirem SAT solvers que resolvem instâncias com um milhão de variáveis em segundos. Cada vez que você escreve uma expressão em qualquer linguagem de programação, você está usando lógica simbólica sem perceber.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 automação do raciocínio lógico é uma das conquistas mais impressionantes da computação teórica aplicada. SAT solvers modernos como MiniSat e Z3 resolvem problemas combinatórios gigantescos que seriam impossíveis por força bruta. Eles são usados em verificação de hardware (a Intel usa formalmente para verificar circuitos após o famoso bug do Pentium FDIV em 1994), em bioinformática (dobramento de proteínas), em logística (planejamento de rotas), em compiladores (otimização). Bases de conhecimento como o Cyc tentaram codificar o senso comum humano em lógica de primeira ordem — mais de 1,5 milhão de regras. O Watson da IBM (vencedor do Jeopardy!) usa inferência simbólica combinada com ML. A mensagem: lógica computacional não é teoria acadêmica — é infraestrutura de sistemas reais.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Este slide faz a conexão mais importante do capítulo: mostra que você já usa lógica formal na prática, provavelmente sem ter consciência disso. Vamos percorrer linha a linha. Um filtro SQL `WHERE (nota &gt;= 7 OR frequencia &gt;= 0.75) AND NOT (faltas &gt; 10)` é literalmente uma fórmula proposicional com três átomos: nota_ok, freq_ok, muitas_faltas. Uma regra de negócio do tipo "clientes premium com histórico limpo e renda acima de X recebem limite estendido" é uma implicação: condições ⇒ ação. Uma árvore de decisão é uma cascata de implicações aninhadas. Um schema de banco com constraints é um conjunto de sentenças que o banco verifica a cada operação. Um sistema especialista médico que diz "paciente com sintoma A e B provavelmente tem doença D" opera por regras de inferência. A Ciência de Dados é lógica aplicada a dados.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 livro tem uma arquitetura pedagógica deliberada: cada capítulo constrói sobre os anteriores. Capítulos 2 e 3 estabelecem a base: a lógica proposicional é a linguagem mais simples, onde proposições são atômicas ou combinadas com ∧, ∨, ¬, ⇒. Capítulos 4 e 5 ampliam para primeira ordem: adicionamos variáveis, predicados, quantificadores — a linguagem natural do SQL e do raciocínio sobre coleções. Capítulo 6 apresenta resolução: a técnica que torna provas automáticas possíveis, base de Prolog e SAT solvers. Capítulos 7 a 9 são aplicações: IA simbólica, raciocínio probabilístico, e lógicas especializadas para tempo, necessidade e normas. Ao final, o estudante terá vocabulário e ferramentas para entender qualquer sistema baseado em regras.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Vamos executar mentalmente este exemplo. A query SQL faz exatamente o que sua estrutura sugere: seleciona alunos onde uma condição composta é verdadeira. Traduzindo para lógica: defina nota_ok como "nota &gt;= 7", freq_ok como "frequencia &gt;= 0.75", muitas_faltas como "faltas &gt; 10". A cláusula WHERE vira (nota_ok ∨ freq_ok) ∧ ¬muitas_faltas. Você pode agora aplicar todas as ferramentas da lógica proposicional: construir uma tabela-verdade para ver quando a condição é satisfeita, aplicar De Morgan para simplificar, verificar se uma restrição é redundante. De fato, um otimizador SQL faz exatamente isso: analisa a expressão lógica da query, aplica equivalências para encontrar o plano de execução mais eficiente. SQL é lógica com açúcar sintático.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Encerremos o capítulo 1 com a mensagem principal bem fixada. Lógica não é uma disciplina isolada que matemáticos estudam por prazer abstrato — ela é a estrutura invisível que sustenta toda automação de raciocínio. Cada vez que um sistema toma uma decisão baseada em regras — aprovar crédito, classificar um e-mail como spam, detectar uma anomalia em logs —, existe um mecanismo lógico operando nos bastidores. Compreender esse mecanismo nos dá três vantagens práticas: capacidade de depurar regras incorretas de forma sistemática; capacidade de verificar formalmente que um conjunto de regras é consistente; e capacidade de comunicar com precisão o comportamento esperado de um sistema. O próximo capítulo começa a formalização.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Iniciamos o capítulo mais denso do livro, e o mais fundamental. A lógica proposicional é onde tudo começa. Ela pode parecer simples — são "apenas" fórmulas com 0s e 1s — mas sobre ela se constroem todas as outras lógicas e todos os sistemas de prova. Neste capítulo vamos definir: a linguagem (sintaxe), o significado (semântica via tabelas-verdade e mundos possíveis), e as relações fundamentais entre fórmulas — equivalência, consequência e consistência. Ao final você terá as ferramentas para analisar qualquer condição booleana de qualquer sistema computacional. Uma dica de estudo: cada conceito novo tem um análogo em programação que você provavelmente já conhece. Vou fazer essas conexões ao longo do capítulo.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 proposição é o átomo semântico da lógica. Ela pode ser simples como "a temperatura está acima de 37°C" ou complexa como "o cliente não realizou nenhuma transação nos últimos 90 dias e o score de crédito caiu mais de 50 pontos". Em ambos os casos, o que caracteriza uma proposição é que ela pode ser avaliada como verdadeira ou falsa — independentemente de sabermos a resposta agora. Importante: na lógica formal, não nos importa qual é o valor de verdade de uma proposição — apenas que ele existe. A frase "o décimo dígito de π depois do ponto é 5" é uma proposição válida mesmo que você não saiba a resposta de cabeça (é 9, por acidente histórico). Proposições são os blocos de construção; os conectivos são a argamassa.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 sintaxe define o que é uma fórmula bem formada — quais sequências de símbolos são "palavras" da linguagem. Em lógica proposicional, a definição é recursiva: caso base são as variáveis atômicas (p, q, erro, ajuda, etc.); casos recursivos são formados aplicando conectivos a fórmulas menores. Isso cria uma árvore sintática, exatamente como em linguagens de programação. O compilador de uma linguagem faz parsing — reconhece se o código é sintaticamente correto — antes de fazer qualquer coisa. Um avaliador lógico faz o mesmo: primeiro analisa a estrutura da fórmula, depois a avalia. A distinção entre sintaxe (forma) e semântica (significado) é um dos conceitos mais importantes da ciência da computação teórica.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Cinco conectivos, cinco operadores. Vamos fazer uma revisão rápida antes de entrar nas tabelas. Negação (¬p): equivale ao `not p` do Python. Conjunção (p ∧ q): equivale ao `p and q`. Disjunção (p ∨ q): equivale ao `p or q`. Implicação (p ⇒ q): não tem operador direto em Python, mas é `not p or q`. Bicondicional (p ⇔ q): é `p == q` para booleanos. Uma observação importante: na teoria, bastam negação e conjunção para expressar qualquer função booleana — os outros são definíveis em termos desses dois (por exemplo, p ∨ q ≡ ¬(¬p ∧ ¬q), pela lei de De Morgan). Os outros quatro são convenções para facilitar escrita e leitura. Mas na prática, usar todos os cinco torna fórmulas muito mais compreensíveis.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Precedência em lógica funciona como em matemática: algumas operações "se ligam mais forte" que outras. Da mais forte para a mais fraca: negação (¬), conjunção (∧), disjunção (∨), implicação (⇒), bicondicional (⇔). Então ¬p ∧ q é (¬p) ∧ q — a negação se aplica só ao p. E p ∧ q ∨ r é (p ∧ q) ∨ r — a conjunção vai primeiro. Uma dica pragmática: na dúvida, use parênteses. Clareza de intenção é mais importante do que elegância simbólica. Bugs em lógica de filtros muitas vezes ocorrem exatamente por confusão de precedência: o programador quis (A OR B) AND C mas escreveu A OR B AND C, que o interpretador lê como A OR (B AND C). Em SQL isso é um erro frequente com AND/OR misturados sem parênteses.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 negação é o conectivo mais simples: inverte o valor de verdade. Se φ é verdadeira, ¬φ é falsa; se φ é falsa, ¬φ é verdadeira. Parece trivial, mas há sutilezas importantes na prática. Primeiro: negação distribui de forma não-óbvia sobre conjunções e disjunções (leis de De Morgan). ¬(p ∧ q) não é ¬p ∧ ¬q — é ¬p ∨ ¬q. Esse é um dos erros mais comuns em código de filtro. Segundo: negação dupla cancela — ¬(¬p) ≡ p. Isso parece óbvio, mas é a base de provas por contradição: assumimos ¬p, derivamos ¬p ∧ ¬φ para algum φ, concluímos que ¬p ≡ ¬p é impossível... mas isso é a próxima seção. Por ora, fixe a tabela: dois casos, dois valores, tudo invertido.</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Conjunção é o "e" lógico. Para que p ∧ q seja verdadeira, ambos p e q precisam ser verdadeiros simultaneamente. Uma única parte falsa torna tudo falso. Em SQL você usa AND o tempo todo: `WHERE nota &gt;= 7 AND frequencia &gt;= 0.75 AND NOT inadimplente`. Cada AND adiciona uma restrição. Quanto mais ANDs, menos registros passam — é um filtro cada vez mais restritivo. Uma propriedade importante: conjunção é comutativa (p ∧ q ≡ q ∧ p) e associativa ((p ∧ q) ∧ r ≡ p ∧ (q ∧ r)). Isso significa que a ordem das condições não afeta o resultado lógico — embora possa afetar a performance da query, pois o banco pode usar índices de forma diferente. O banco avalia da esquerda para a direita com short-circuit: se p já é falso, q nem é avaliado.</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Disjunção é o "ou" lógico — mas cuidado: é o OU inclusivo. P ∨ q é verdadeira se pelo menos uma das partes for verdadeira, incluindo o caso em que ambas são verdadeiras. Isso é diferente do "ou" exclusivo da linguagem comum ("café ou chá?" implica que você vai escolher um, não os dois). Em lógica proposicional clássica, ∨ é sempre inclusivo. Se quiser o OU exclusivo, escreve-se explicitamente: (p ∨ q) ∧ ¬(p ∧ q). A disjunção em SQL é o OR: `WHERE status = 'ativo' OR score &gt; 700`. Qualquer registro que satisfaça ao menos uma das condições passa. OR é menos restritivo que AND: adicionar um OR sempre inclui mais ou o mesmo número de registros. Uma disjunção de muitos termos pode ser lenta em queries porque o otimizador tem menos oportunidades de usar índices.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 implicação é o conectivo mais mal compreendido da lógica clássica, e vale dedicar tempo a ele. A fórmula p ⇒ q (lê-se "p implica q" ou "se p então q") é falsa em apenas um caso: quando p é verdadeiro e q é falso. Em todos os outros casos — inclusive quando p é falso — a implicação é verdadeira. Por quê? Porque a implicação é uma promessa: "sempre que p acontecer, q também acontecerá". Se p nunca acontece (p é falso), a promessa nunca é testada — logo, não é violada, logo a implicação é verdadeira. Isso é chamado de vacuidade. Na prática: "se a temperatura ultrapassar 100°C, o sistema desliga" — se a temperatura nunca ultrapassou 100°C, a promessa não foi violada. O único caso de problema é a temperatura ultrapassar E o sistema não desligar. Esse é o único cenário que falsifica a implicação.</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 bicondicional é o "se e somente se" — a forma mais forte de conexão entre duas proposições. Diz que as duas têm o mesmo valor de verdade, sempre: ou ambas são verdadeiras, ou ambas são falsas. Nunca uma verdadeira e a outra falsa. É exatamente o operador de igualdade para booleanos. Na prática: "a consulta retorna resultado SE E SOMENTE SE o usuário tem permissão de leitura E o banco está disponível" — isso é um bicondicional. Na matemática, bicondicional é comum em definições: "x é primo se e somente se x &gt; 1 e os únicos divisores de x são 1 e x". Qualquer definição rigorosa tem a forma de um bicondicional. Em equivalência lógica de fórmulas, vamos usar bastante este conectivo.</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Avaliar uma fórmula proposicional é um processo mecânico e bem definido: partimos das subexpressões mais internas e trabalhamos de fora para dentro. Mais precisamente, de dentro para fora — primeiro os átomos, depois as subexpressões menores, depois as maiores. É exatamente como você avalia uma expressão aritmética: em `(2 + 3) * (4 - 1)`, primeiro soma os parênteses internos, depois multiplica. A avaliação lógica segue a mesma lógica de prioridade de parênteses. A diferença é que em vez de números, trabalhamos com 0s e 1s, e em vez de +/*, usamos ∧/∨/¬. O processo é chamado de avaliação bottom-up na árvore sintática. Quando há variáveis (átomos), precisamos de uma atribuição — uma função que mapeia cada átomo para um valor de verdade.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Este exemplo concreto mostra os quatro passos da avaliação com p=1, q=0, r=1. Passo 1: substitua os átomos pelos seus valores. Passo 2: resolva as negações (operadores unários, precedência mais alta). Passo 3: resolva as disjunções dentro dos parênteses. Passo 4: resolva a conjunção que une as duas partes. Cada passo é justificado pela tabela-verdade do conectivo. Observe que o processo é completamente determinístico: dada uma atribuição de valores, existe uma única resposta. Isso é a semântica da lógica clássica — também chamada de semântica bivalente: cada fórmula, em cada atribuição, é exatamente 1 ou 0, sem meio-termo. Pratique com outros valores: troque q=0 para q=1 e recalcule — o resultado muda?</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 conceito de mundo possível é uma das contribuições mais elegantes da lógica para a filosofia e a ciência da computação. Um mundo possível é simplesmente uma atribuição completa de valores de verdade a todos os átomos — uma "fotografia" de como as coisas poderiam ser. Com n átomos, há exatamente 2ⁿ mundos possíveis (um para cada combinação). Cada linha de uma tabela-verdade é um mundo possível. A intuição central: raciocinar é restringir o espaço de mundos. Quando aprendemos uma nova premissa, eliminamos os mundos onde ela é falsa. Quando concluímos algo, estamos dizendo que em todos os mundos restantes, a conclusão vale. Esta framagem é elegante porque unifica sintaxe e semântica: provas sintáticas correspondem a restrições semânticas de mundos.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Com dois átomos — c (chove) e g (levo guarda-chuva) — existem exatamente quatro mundos possíveis, como mostra a tabela. Antes de qualquer informação adicional, todos os quatro são igualmente plausíveis. Não sabemos se chove, não sabemos se levo guarda-chuva. O mundo pode estar em qualquer um dos quatro estados. A tabela é exaustiva: cobre todas as combinações. Isso é importante: quando queremos verificar uma propriedade lógica, basta checar se ela vale em todos os mundos (ou em algum mundo, dependendo do que queremos verificar). A vantagem desta abordagem sobre tentar raciocinar "em geral" é que ela é finita e mecânica — um computador pode enumerar todos os mundos.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Agora adicionamos informação: a premissa "c ⇒ g" (se chove, então levo guarda-chuva). Construímos uma nova coluna na tabela e identificamos quais mundos satisfazem essa premissa. O mundo w₂ — onde c=1 e g=0, ou seja, chove mas não levo guarda-chuva — torna c⇒g falsa. Ele viola a premissa. Então w₂ é eliminado do espaço de possibilidades. Os três mundos restantes (w₁, w₃, w₄) são todos compatíveis com a premissa. Isso é a semântica de uma premissa: ela elimina mundos. Quanto mais premissas adicionamos, menos mundos sobram. Uma contradição — conjunto inconsistente de premissas — elimina todos os mundos, deixando o espaço vazio.</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Agora adicionamos a segunda premissa: "c" (chove). Quais mundos sobrevivem? Apenas os onde c=1. Cruzando com os sobreviventes do slide anterior, resta apenas w₁. E em w₁, g=1 — ou seja, levo guarda-chuva. Conclusão: a partir de {c⇒g, c}, podemos concluir g. Isso é Modus Ponens, visualizado como eliminação progressiva de mundos. A beleza desta abordagem: não fizemos nenhuma manipulação simbólica, não aplicamos nenhuma regra de dedução. Apenas filtramos mundos. E chegamos à mesma conclusão que a tabela-verdade do slide 7. Esta equivalência entre semântica (mundos) e sintaxe (regras de inferência) é o teorema de correção e completude, que veremos no capítulo 3.</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Toda fórmula proposicional se enquadra em uma de três categorias, sem exceção. Fórmulas válidas (tautologias) são verdadeiras em todo mundo possível — em toda linha da tabela. Exemplos: p ∨ ¬p (lei do terceiro excluído), p ⇒ p. São universalmente verdadeiras, mas por isso não informam nada novo sobre o mundo. Fórmulas insatisfatíveis (contradições) são falsas em todo mundo possível. Exemplos: p ∧ ¬p. São impossíveis logicamente. Se um conjunto de premissas leva a uma contradição, ele é inconsistente — problema grave. Fórmulas contingentes são o caso normal: verdadeiras em alguns mundos, falsas em outros. Exemplos: p ∧ q, p ∨ q. São informativas porque discriminam entre mundos. A verificação de qual categoria uma fórmula pertence é exatamente o problema SAT.</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As leis de De Morgan são fundamentais e aparecem em todo lugar: em SQL ao simplificar NOT (A OR B), em programação ao refatorar condicionais, em circuitos lógicos. Vamos verificar. ¬(p ∨ q) é "não é verdade que p ou q" — ou seja, nem p nem q é verdadeiro. ¬p ∧ ¬q é "p é falso E q é falso". São a mesma coisa! A tabela confirma: colunas idênticas. A outra lei de De Morgan (¬(p ∧ q) ≡ ¬p ∨ ¬q) tem verificação análoga. Mnemônico prático: para negar uma conjunção/disjunção, entre para dentro da negação, inverta o operador (∧↔∨) e distribua a negação para cada parte. Em código Python: `not (a or b)` é equivalente a `not a and not b`. Isso é útil ao simplificar condições complexas em filtros.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Revisitamos a definição formal de consequência lógica, agora com o vocabulário completo dos mundos possíveis. Δ ⊨ ψ significa: em todo mundo possível onde todas as sentenças de Δ são verdadeiras, ψ também é verdadeira. Não existe nenhuma exceção, nenhum mundo onde Δ vale mas ψ falha. Esta é a definição semântica. Observação importante: consequência lógica não é sobre o que acreditamos ou sobre o que é provável. É sobre o que é impossível que seja diferente, dadas as premissas. Isso é diferente de implicação probabilística: "em 95% dos casos em que chove, o chão fica molhado" não é consequência lógica de "chove" — porque há o 5% excepcional. Consequência lógica é 100%, sem exceção.</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Examinemos este exemplo com atenção. A afirmação é que p ⊨ (p ∨ q). Isso diz: qualquer mundo onde p vale também é um mundo onde p ∨ q vale. A verificação é direta: olhe a tabela e encontre as linhas onde a premissa (p) é 1. São as duas primeiras linhas (p=1, q=1) e (p=1, q=0). Em ambas, p ∨ q = 1. Não há linha com premissa verdadeira e conclusão falsa. Logo p ⊨ (p ∨ q). Intuitivamente: se p é verdadeiro, então certamente "p ou qualquer outra coisa" também é verdadeiro. Isso é chamado de enfraquecimento ou adição — sempre podemos enfraquecer uma premissa adicionando uma disjunção. Em programação: se `x &gt; 0` é verdadeiro, então `x &gt; 0 or y &gt; 0` também é verdadeiro, independentemente de y.</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Consistência é a propriedade de saúde mínima de qualquer sistema de regras. Um conjunto de sentenças é consistente se existe pelo menos um mundo possível que as satisfaz todas. Intuitivamente: as regras são "compatíveis" entre si. Um conjunto inconsistente não tem nenhum modelo — é impossível que todas sejam verdadeiras ao mesmo tempo. Por que isso é um problema grave? Porque de um conjunto inconsistente, qualquer conclusão segue. Se suas premissas se contradizem, você pode "provar" qualquer coisa — inclusive conclusões absurdas. Isso é o princípio da explosão (ex contradictione quodlibet). Em sistemas de banco de dados: constraints inconsistentes tornam o banco incapaz de ter qualquer estado válido. Em sistemas especialistas: regras inconsistentes produzem diagnósticos aleatórios.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Este slide lista as equivalências fundamentais da lógica proposicional — as ferramentas de reescrita que permitem transformar fórmulas em formas equivalentes. A dupla negação (¬¬φ ≡ φ) elimina negações redundantes. De Morgan (duas leis) distribui negações para dentro de conjunções e disjunções. A definição de implicação (φ⇒ψ ≡ ¬φ ∨ ψ) permite eliminar o conectivo ⇒ em termos de ¬ e ∨. A definição de bicondicional (φ⇔ψ ≡ (φ⇒ψ) ∧ (ψ⇒φ)) decompõe o bicondicional em dois condicionais. Estas equivalências são usadas para normalizar fórmulas: qualquer fórmula proposicional pode ser convertida para CNF (Forma Normal Conjuntiva — conjunção de disjunções) usando apenas estas regras. CNF é o formato de entrada de SAT solvers.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Aqui está a implementação completa do avaliador de fórmulas proposicionais em Python. Repare na elegância da solução recursiva: a função `evaluate` tem exatamente a mesma estrutura que a gramática da lógica proposicional. Caso base: se a expressão é uma string, é um átomo — busca o valor no dicionário `world`. Caso recursivo: aplica o operador ao resultado de chamadas recursivas sobre as subexpressões. A implicação não tem operador Python direto: reescrevemos como `(not a) or b`, que é a equivalência (φ⇒ψ ≡ ¬φ ∨ ψ) do slide anterior. O bicondicional usa `a == b` para booleanos. A representação em tuplas é simples mas funcional. SAT solvers reais usam representações mais eficientes (arrays com codificação Tseitin), mas o princípio é idêntico.</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 aqui está a verificação de consequência lógica por força bruta: enumeramos todos os mundos possíveis (todas as combinações de True/False para os átomos), e para cada mundo onde todas as premissas são verdadeiras, verificamos se a conclusão também é. Se encontrarmos qualquer mundo onde as premissas valem mas a conclusão falha, retornamos False (contraexemplo encontrado). Se percorrermos todos sem encontrar contraexemplo, retornamos True. O custo computacional é 2ⁿ, onde n é o número de átomos — exponencial. Para 20 átomos: um milhão de mundos. Para 30: um bilhão. Para 100: inviável. Por isso SAT solvers usam algoritmos muito mais inteligentes (DPLL, CDCL) que evitam enumerar todos os mundos. Mas o princípio conceitual é exatamente este código.</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Encerramos o capítulo 2. Revendo o que aprendemos: a linguagem da lógica proposicional (sintaxe), o significado via tabelas-verdade (semântica), o conceito de mundo possível como unidade de avaliação, as três categorias de fórmulas (tautologia, contradição, contingência), e as relações de equivalência, consequência e consistência. Temos agora todas as ferramentas conceituais. No próximo capítulo daremos um passo diferente: em vez de verificar consequência enumerando mundos, aprenderemos a derivar conclusões passo a passo por meio de regras de inferência formais. Isso é mais eficiente para fórmulas complexas e é o que torna provas automatizáveis.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Iniciamos o capítulo 3, que trata de sistemas de prova. Até agora usamos a semântica — mundos possíveis e tabelas-verdade — para verificar consequência lógica. Esse método é correto, mas custoso: cresce exponencialmente com o número de átomos. Sistemas de prova oferecem uma alternativa sintática: em vez de enumerar mundos, manipulamos fórmulas com regras mecânicas, produzindo novas fórmulas até chegar à conclusão desejada. A analogia com programação: compiladores fazem transformações sintáticas no código sem "executar" o programa. Sistemas de prova fazem transformações sintáticas em fórmulas sem "avaliar" a semântica. O resultado é o mesmo, mas o caminho é diferente. Vamos ver dois sistemas: Hilbert (elegante para teoria) e Fitch (prático para humanos).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Há três abordagens distintas para verificar que Δ ⊨ ψ, e cada uma tem vantagens. A abordagem semântica, via tabela-verdade, é conceitual e completa, mas 2ⁿ em custo. A abordagem por refutação (prova indireta) nega a conclusão, adiciona ¬ψ às premissas, e mostra que o conjunto resultante é insatisfatível — impossível de ter qualquer modelo. É a base da resolução (cap. 6) e dos SAT solvers. A abordagem sintática deriva ψ diretamente a partir de Δ, linha por linha, usando regras de inferência. É mais fácil de ler por humanos e é o que Coq, Lean e Isabelle fazem. Todas as três são equivalentes para a lógica clássica — um fato profundo garantido pelos teoremas de correção e completude. Na prática, cada situação favorece uma abordagem diferente.</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Um sistema de prova formal tem dois componentes: axiomas (fórmulas que aceitamos como verdadeiras sem prova) e regras de inferência (esquemas que permitem derivar novas fórmulas a partir de já derivadas). A ideia central é que tudo o que é derivável — tudo o que pode ser escrito em uma prova válida — é consequência lógica dos axiomas. Não existe mágica: cada passo é justificado por um axioma ou por uma regra. Um sistema de prova é como um jogo de xadrez: o tabuleiro inicial são as premissas e os axiomas; as regras de inferência são os movimentos legais; o objetivo é alcançar a conclusão desejada. A beleza é que um computador pode verificar se uma prova é válida simplesmente conferindo cada passo.</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Dois símbolos cruciais que parecem similares mas são radicalmente diferentes: ⊢ (turnstile, "sintaticamente derivável") e ⊨ (double-turnstile, "semanticamente válido"). Δ ⊢ ψ significa: existe uma sequência finita de passos, usando axiomas e regras do sistema, que parte de Δ e chega a ψ. É uma afirmação sobre provas — sobre a existência de um objeto sintático. Δ ⊨ ψ significa: em todo modelo de Δ, ψ também é verdadeiro. É uma afirmação sobre semântica — sobre como as fórmulas se comportam em mundos possíveis. A correção diz: se ⊢ então ⊨ (o sistema não prova falsidades). A completude diz: se ⊨ então ⊢ (o sistema prova tudo que é logicamente válido). Esta equivalência, provada por Gödel para a lógica clássica, é um resultado profundo.</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Esquemas de axioma são meta-regras: em vez de listar infinitas instâncias específicas, capturamos padrões. Um esquema usa "meta-variáveis" (geralmente φ, ψ, χ) que representam qualquer fórmula. A1: φ ⇒ (ψ ⇒ φ) é um esquema. Instâncias concretas incluem: p ⇒ (q ⇒ p), (p ∧ q) ⇒ (r ⇒ (p ∧ q)), e infinitas outras. Uma única regra esquemática representa infinitos axiomas concretos. Isso é análogo a polimorfismo em linguagens de programação: uma função `identidade(x) = x` funciona para qualquer tipo de x. Esquemas de axioma são o polimorfismo da lógica. Quando estudamos Hilbert, trabalhamos com esquemas — e isso é o que torna o sistema compacto.</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 sistema de Hilbert tem apenas três esquemas de axioma e uma regra de inferência (Modus Ponens). Esse minimalismo é sua principal virtude: demonstrar que um sistema é correto ou completo fica mais simples quando há menos peças. Contudo, isso tem um custo: provas em Hilbert tendem a ser muito longas e pouco intuitivas. Um simples resultado como p ⇒ p pode exigir vários passos usando os axiomas. A comparação com Fitch (que vemos a seguir) ilustra bem o trade-off: Hilbert é mínimo mas difícil de usar; Fitch é mais complexo em termos de regras mas muito mais natural. Em lógica teórica, Hilbert é preferido. Em cursos de lógica para computação e matemática aplicada, Fitch domina.</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Os três axiomas de Hilbert são suficientes (junto com Modus Ponens) para provar toda tautologia da lógica proposicional clássica. Isso foi demonstrado formalmente. Vamos entendê-los intuitivamente. A1 (φ ⇒ (ψ ⇒ φ)) diz: se você sabe φ, então você sabe φ independentemente de qualquer ψ adicional — uma premissa verdadeira permanece verdadeira em qualquer contexto. A2 é o axioma de distributividade da implicação — permite "passar" implicações por dentro de outras implicações. A3 é a lei da contraposição — se a negação da conclusão implica a negação da premissa, então a premissa implica a conclusão. Juntos, são completos para a lógica clássica. É impressionante que três esquemas bastem para toda a dedução clássica.</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Modus Ponens (MP) é a única regra de inferência do sistema de Hilbert, e é o motor de toda dedução clássica dentro deste sistema. A forma é simples: se você já derivou φ, e também já derivou φ ⇒ ψ, então você pode escrever ψ na próxima linha, justificando "por Modus Ponens nas linhas L1 e L2". Cada aplicação de MP avança a prova: consumimos duas fórmulas já estabelecidas e produzimos uma nova. É interessante notar que MP é a única operação disponível — não há outra forma de introduzir novas fórmulas que não sejam instâncias de axiomas. Esse minimalismo radical é o que torna Hilbert elegante para provas meta-teóricas, onde precisamos raciocinar sobre o sistema de prova em si.</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 sistema de Fitch (dedução natural) foi desenvolvido com um objetivo diferente do de Hilbert: ser intuitivo para humanos. Em vez de poucos axiomas e uma regra, Fitch tem muitas regras mas nenhum axioma — cada conectivo tem regras próprias de introdução e eliminação. A inovação crucial do Fitch são as subprovas: é possível assumir temporariamente uma hipótese, trabalhar dentro desse contexto, e depois "descarregar" a hipótese, concluindo algo sobre ela. As barras verticais no lado esquerdo marcam o escopo de cada hipótese. Isso espelha o raciocínio hipotético humano: "suponha que chova... então... portanto, se chover, então...". O Fitch é o padrão em ensino de lógica para computação, filosofia e matemática.</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 padrão de introdução/eliminação é a chave para entender o sistema de Fitch. Para cada conectivo, há uma regra de introdução (ensina quando e como você pode "criar" uma fórmula com aquele conectivo) e uma regra de eliminação (ensina o que você pode extrair quando tem uma fórmula com aquele conectivo). Conjunção: introdução exige ter φ e ψ separadamente; eliminação permite extrair φ sozinha ou ψ sozinha de φ∧ψ. Disjunção: introdução exige só um dos lados; eliminação é a prova por casos. Implicação: introdução é a subprova; eliminação é Modus Ponens. Negação: introdução é reductio ad absurdum; eliminação é dupla negação. Este padrão simétrico torna o sistema previsível e fácil de aprender.</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Esta é a prova mais simples possível em Fitch: demonstrar que p ⇒ p (qualquer proposição implica a si mesma). Linha 1: abrimos uma subprova com hipótese p (a barra vertical indica que estamos dentro da subprova). Linha 2: dentro da subprova, copiamos p por reiteração (uma regra que permite repetir algo já disponível). Linha 3: fechamos a subprova e aplicamos a regra ⇒I (introdução de implicação): como assumimos p e chegamos a p dentro da subprova, concluímos p ⇒ p. A regra ⇒I sempre tem esta forma: subprova que assume φ e chega a ψ, gera φ ⇒ ψ fora da subprova. Para provar "se P então Q", o método é: abra uma subprova assumindo P e derive Q. Isso é o template padrão para implicações.</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Modus Tollens é uma das regras derivadas mais usadas na prática lógica. Diz: de p ⇒ q e ¬q, concluímos ¬p. É a contrapositiva de Modus Ponens. A prova em Fitch usa reductio: assumimos p (para criar contradição), derivamos q por MP (linhas 1 e 3), batemos q com ¬q (premissa 2) gerando ⊥ (contradição, símbolo de falsidade), e concluímos ¬p por ¬I (negação-introdução: se assumir φ leva a ⊥, então ¬φ). Exemplo prático: "Se o servidor está ativo, o log mostra conexões. O log não mostra conexões. Logo o servidor não está ativo." Isso é Modus Tollens — uma forma de diagnóstico por descarte. Em sistemas de monitoramento, é o padrão de "se não observo X, então Y não está ocorrendo".</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Prova por casos é a forma de usar eliminação de disjunção (∨E): quando sabemos que "p ou q" é verdadeiro, mas não sabemos qual, exploramos ambos os casos separadamente e mostramos que em ambos chegamos à mesma conclusão r. A estrutura: premissa p∨q; subprova 1 assume p, deriva r; subprova 2 assume q, deriva r; por ∨E, concluímos r incondicionalmente. Este padrão é ubíquo em matemática ("dividindo em casos") e em programação (blocos if-else que chegam à mesma conclusão em ambos os ramos). Um exemplo computacional: "O input é string ou número. Se for string, normalizamos e salvamos. Se for número, convertemos e salvamos. Logo, em todo caso, salvamos." Isso é exatamente ∨E.</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Os dois sistemas — Hilbert e Fitch — são expressivamente equivalentes: provam exatamente as mesmas fórmulas. Qualquer prova de Hilbert pode ser traduzida para Fitch e vice-versa, embora as traduções possam ser longas. A equivalência é garantida pelos teoremas de correção e completude que valem para ambos. A diferença é puramente pragmática. Hilbert: compacto, três axiomas, uma regra. Ideal para raciocinar sobre o sistema de prova em si, para provas de meta-propriedades (como correção e completude). Fitch: muitas regras, subprovas explícitas. Ideal para provar teoremas concretos de forma intuitiva, para ensinar dedução natural a estudantes. Em cursos de lógica computacional, Fitch domina. Em lógica matemática pura, Hilbert frequentemente aparece.</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Construir provas parece difícil no começo, mas há uma estratégia geral que funciona muito bem. Primeiro: olhe a conclusão e pergunte "qual regra produziria esta fórmula?". Se a conclusão é φ ∧ ψ, você precisa de φ e ψ separadamente (∧I). Se é φ ⇒ ψ, abra uma subprova assumindo φ e tente derivar ψ (⇒I). Se é ¬φ, abra uma subprova assumindo φ e derive ⊥ (¬I). Segundo: se travar, olhe as premissas e aplique eliminações para extrair mais informação. Eliminar ∧ dá as partes. Modus Ponens elimina ⇒. Prova por casos elimina ∨. Terceiro: se ainda não avançar, pense em que lemmas intermediários facilitariam o caminho. Esta estratégia backwards (de trás para frente) é a mais eficiente para humanos.</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Três padrões que resolvem a maioria das provas em cursos introdutórios. Padrão 1 — Provar φ ⇒ ψ: abra uma subprova assumindo φ, derive ψ dentro da subprova, feche com ⇒I. Sempre. Sem exceção. Padrão 2 — Provar ¬φ: abra uma subprova assumindo φ, derive ⊥ (qualquer contradição: ψ e ¬ψ para algum ψ), feche com ¬I (reductio). Padrão 3 — Provar φ ∨ ψ: simplesmente prove φ ou prove ψ separadamente, e aplique ∨I. Não precisa provar os dois — qualquer um basta. Decorar estes três padrões é o atalho mais eficaz. A estratégia retroativa (slide anterior) basicamente se reduz a identificar qual destes padrões aplicar, dependendo da forma da conclusão.</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Correção e completude são as duas garantias que fazem um sistema de prova ter valor. Correção (soundness): se conseguimos derivar ψ a partir de Δ (Δ ⊢ ψ), então ψ é realmente consequência lógica de Δ (Δ ⊨ ψ). O sistema não produz conclusões falsas a partir de premissas verdadeiras. Completude: o inverso — se ψ é consequência lógica de Δ (Δ ⊨ ψ), então existe uma prova de ψ a partir de Δ (Δ ⊢ ψ). O sistema não "perde" nenhuma verdade lógica. Juntas, significam que ⊢ e ⊨ coincidem perfeitamente para a lógica proposicional. Isso não é óbvio nem trivial — é um resultado matemático que precisou ser demonstrado. Para lógica de primeira ordem, veremos que a completude (Teorema de Gödel de 1929) é surpreendente porque decidibilidade falha.</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Verificadores de prova automatizados são mais simples do que parecem: para cada linha de uma prova, eles conferem se a justificativa apontada (como "MP nas linhas 3 e 5") é aplicável. A função `check_modus_ponens` ilustra isso: dado o que queremos concluir (a fórmula da linha atual) e o conjunto de fórmulas anteriores disponíveis, procura se existe algum par (a, a⇒resultado) entre as fórmulas disponíveis. Se encontrar, o passo é válido. Na prática, assistentes de prova como Coq e Lean fazem exatamente isso, mas para sistemas muito mais ricos (teoria dos tipos, lógica de ordem superior). A diferença é escala — não princípio. Lean já foi usado para verificar o teorema de Feit-Thompson (prova original: 255 páginas de matemática densa).</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Encerramos o capítulo 3. Temos agora duas perspectivas complementares sobre raciocínio formal: a semântica dos mundos possíveis (cap. 2) e a sintaxe dos sistemas de prova (cap. 3). No próximo capítulo, damos um salto de expressividade: a lógica proposicional só fala de fatos monolíticos como "chove" ou "o aluno está aprovado". A lógica relacional — ou de primeira ordem — permite falar de objetos, propriedades e relações entre eles: "todo aluno com nota acima de 7 e frequência acima de 75% está aprovado". Essa generalização é a que torna SQL, Prolog e a teoria dos bancos de dados possíveis.</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Iniciamos o capítulo 4, que representa o maior salto de expressividade do livro. Até agora, cada proposição era monolítica: "o aluno está aprovado" não nos diz nada sobre quem é o aluno, quais critérios foram usados, ou se outros alunos também estão aprovados. A lógica relacional — também chamada de lógica de primeira ordem ou cálculo de predicados — resolve isso. Adicionamos três elementos: constantes (nomes de objetos específicos), variáveis (placeholders para objetos quaisquer) e predicados (propriedades e relações). Com isso, podemos expressar: ∀x (Aluno(x) ∧ Nota(x) ≥ 7 ∧ Frequencia(x) ≥ 0.75 ⇒ Aprovado(x)). Isso é uma regra geral — uma fórmula que fala de todos os alunos ao mesmo tempo. É exatamente o que precisamos para modelar dados reais.</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 vocabulário da lógica relacional tem três categorias de símbolos novos. Constantes denotam objetos específicos do mundo: ana, bob, o número 7, o IP "192.168.1.1". São os "nomes próprios" da lógica. Variáveis são placeholders: x, y, z. Não têm valor fixo — podem ser instanciadas com qualquer objeto do domínio. Predicados descrevem propriedades (unários: Aprovado(x) — o aluno x está aprovado) ou relações (binários: Pai(x,y) — x é pai de y; ternários e além também existem). A diferença fundamental para a lógica proposicional: agora podemos expressar regularidades — coisas que valem para todo x ou para algum x. Isso é o que torna a lógica relacional a linguagem natural de bancos de dados e sistemas de informação.</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Com os novos elementos do vocabulário, surgem três formas de sentenças. Sentenças atômicas aplicam um predicado a constantes: Aprovado(ana), Pai(joao, maria). São os fatos básicos do mundo — análogos às linhas de uma tabela no banco. Sentenças compostas conectam átomos com os mesmos cinco conectivos da lógica proposicional: Aprovado(ana) ∧ Matriculado(ana, "Lógica"). Sentenças quantificadas são a novidade: ∀x P(x) diz que P é válido para todo objeto x do domínio; ∃x P(x) diz que existe pelo menos um objeto x que satisfaz P. É aqui que a lógica relacional supera a proposicional: podemos expressar padrões sobre coleções inteiras de objetos, não apenas fatos pontuais.</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Os dois quantificadores — universal (∀) e existencial (∃) — são duals entre si. ∀x P(x) equivale a "P é verdadeiro para todos os x do domínio, sem exceção". Pense como um AND sobre todos os objetos: P(a) ∧ P(b) ∧ P(c) ∧ ... para cada elemento do domínio. ∃x P(x) equivale a "existe pelo menos um x para o qual P é verdadeiro". Pense como um OR sobre todos os objetos: P(a) ∨ P(b) ∨ P(c) ∨ ... Esta analogia com AND/OR é exata para domínios finitos — é como avaliadores de lógica de primeira ordem funcionam em software. Para domínios infinitos (os números naturais, por exemplo), a analogia é intuitiva mas a avaliação não é diretamente computável. Em Ciência de Dados, os domínios são sempre finitos (as linhas de uma tabela), então a analogia é diretamente implementável.</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 padrão de tradução do português para lógica relacional é uma habilidade central. Observe a tabela: sentenças universais (todo, cada, qualquer, nenhum) geralmente se traduzem com ∀ e implicação (⇒). A implicação restringe o domínio: ∀x (Aluno(x) ⇒ Humano(x)) diz "para todo x, se x é aluno, então x é humano" — não afirma nada sobre não-alunos. Sentenças existenciais (existe, algum, pelo menos um) geralmente se traduzem com ∃ e conjunção (∧). A conjunção garante que o objeto satisfaz ambas as condições: ∃x (Aluno(x) ∧ Aprovado(x)) diz "existe um x que é aluno E que está aprovado" — não basta existir um aluno qualquer, tem que ser aprovado. O erro mais comum: usar ∀ com ∧ ou ∃ com ⇒. Ambos levam a fórmulas semanticamente incorretas para o enunciado original.</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 distinção entre variáveis livres e ligadas é crucial para entender quando uma fórmula tem valor de verdade definido. Uma variável é livre quando não aparece sob o escopo de um quantificador. A fórmula P(x) depende de qual objeto x denota — sem uma atribuição para x, não podemos avaliá-la. É como uma função em programação: `def f(x): return x &gt; 7` — o valor de `f` depende de x. Uma variável é ligada quando aparece sob um quantificador (∀x ou ∃x). Em ∀x P(x), o x está ligado — a fórmula não depende de nenhuma atribuição externa para x. É como `all(x &gt; 7 for x in lista)` — x é uma variável interna, invisível fora. Sentenças — fórmulas sem variáveis livres — têm valor de verdade absoluto em um dado modelo. Fórmulas abertas (com variáveis livres) são predicados — funções do objeto para valor de verdade.</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 base de Herbrand é uma construção técnica importante para automação: dado um vocabulário com constantes (e possivelmente funções), a base de Herbrand é o conjunto de todos os termos fechados — todas as "expressões" que podemos formar sem variáveis. Para um vocabulário com constantes {ana, bob} e sem funções, a base é {ana, bob}. Se houvesse uma função binária f, teríamos também f(ana,ana), f(ana,bob), f(bob,ana), f(bob,bob), f(f(ana,ana),bob), etc. — infinitamente muitos termos. O teorema de Herbrand diz que, para verificar satisfatibilidade, podemos nos restringir a modelos cujo domínio é a própria base de Herbrand. Isso é a base dos provadores automáticos de primeira ordem: eles não precisam considerar todos os domínios possíveis, apenas o de Herbrand.</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Em lógica proposicional, um "modelo" é simplesmente uma atribuição de 0 ou 1 para cada variável proposicional. Em lógica relacional, o conceito de modelo é mais rico: precisa especificar (1) o domínio D — o conjunto de todos os objetos que existem neste mundo; (2) a interpretação das constantes — a qual objeto cada nome se refere; e (3) a extensão de cada predicado — quais objetos (ou tuplas de objetos) satisfazem o predicado. Exemplo: domínio D = {João, Maria, Pedro}; constante "prof" refere ao objeto João; predicado Aprovado = {Maria, Pedro} (só Maria e Pedro estão aprovados). Com isso, podemos avaliar qualquer sentença. ∀x Aprovado(x) é falsa (João não está em {Maria, Pedro}). ∃x Aprovado(x) é verdadeira (Maria e Pedro estão).</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Este exemplo concreto mostra como avaliar sentenças relacionais em um modelo. Dado: domínio {ana, bob, cris}; predicados Aluno, Aprovado, Reprovado com suas extensões. Para verificar ∀x (Aluno(x) ⇒ Aprovado(x) ∨ Reprovado(x)), percorremos cada elemento do domínio: ana é aluna e está em Aprovado — ✓; bob é aluno e está em Reprovado — ✓; cris é aluna e está em Aprovado — ✓. Como vale para todos, a sentença é verdadeira neste modelo. Este é o algoritmo `eval_fol` que veremos mais adiante: ∀ vira um `all()` sobre o domínio, ∃ vira um `any()`. O código Python do slide de implementação captura exatamente esse processo de avaliação recursiva.</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As três categorias de fórmulas (válida, insatisfatível, contingente) se estendem naturalmente para a lógica relacional, mas agora "todo modelo" significa "toda interpretação possível" — o que inclui infinitos modelos com diferentes domínios e extensões de predicados. Uma fórmula relacional válida é verdadeira em absolutamente todo modelo: qualquer domínio, qualquer extensão de predicados. Por exemplo, ∀x (P(x) ∨ ¬P(x)) é válida — qualquer objeto satisfaz P ou não satisfaz P. Uma contradição é falsa em todo modelo: ∃x (P(x) ∧ ¬P(x)) exigiria um objeto que simultaneamente satisfaz e não satisfaz P — impossível. Verificar validade em lógica relacional é muito mais difícil que no proposicional: não há uma tabela finita para checar — daí a semi-decidibilidade.</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As equivalências de quantificadores com negação são análogas às leis de De Morgan para conectivos. ¬∀x P(x) ≡ ∃x ¬P(x): "Não é verdade que todos P" equivale a "Existe alguém que não P". Se nem todos os alunos estão aprovados, então existe pelo menos um reprovado. ¬∃x P(x) ≡ ∀x ¬P(x): "Não existe nenhum P" equivale a "Todos são não-P". Se não existe nenhum aluno reprovado, então todos os alunos não estão reprovados. ∀x ∀y ≡ ∀y ∀x: quantificadores do mesmo tipo comutam — a ordem não importa. Mas ∀x ∃y ≠ ∃y ∀x — quantificadores de tipos diferentes NÃO comutam, como veremos no próximo slide. Estas equivalências são usadas constantemente ao normalizar fórmulas para forma prenex (todos os quantificadores à frente) ou para refutação.</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Este é o exemplo mais importante do capítulo, e o erro mais comum. ∀x ∃y Ama(x,y) diz: para cada x (pessoa), existe algum y (possivelmente diferente para cada x) que x ama. Cada pessoa tem ao menos uma pessoa que ama — mas podem ser pessoas diferentes. ∃y ∀x Ama(x,y) diz: existe um único y específico tal que todo x ama esse y. É a pessoa universalmente amada — a que todos amam. Claramente, a segunda é muito mais forte (e improvável!). A ordem dos quantificadores quando são de tipos diferentes é essencial. Em SQL isso aparece o tempo todo: "cada departamento tem um gerente" é ∀dep ∃gerente(gerencia(gerente, dep)) — diferente de "existe um gerente que gerencia todos os departamentos" (ditador!).</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 analogia entre lógica relacional e bancos de dados é direta e não-acidental. Edgar Codd, ao propor o modelo relacional em 1970, se baseou explicitamente no cálculo de predicados de primeira ordem. Cada tabela é um predicado. Cada linha é uma tupla na extensão do predicado. Uma query SQL é uma fórmula lógica que descreve as tuplas que queremos selecionar. O cálculo relacional de tuplas (TRC) é literalmente lógica de primeira ordem aplicada a bancos de dados. A álgebra relacional (JOIN, SELECT, PROJECT, etc.) é equivalente ao TRC — provado por Codd. Quando você estuda SQL, está essencialmente trabalhando com um fragment decidível da lógica de primeira ordem. As regras de otimização do query planner são equivalências lógicas aplicadas automaticamente.</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Vamos dissecar a equivalência SQL-lógica. A query seleciona o nome dos alunos com matrícula no curso de Lógica. O JOIN é uma conjunção: o aluno a e a matrícula m devem estar relacionados (m.aluno_id = a.id). Isso é um quantificador existencial: ∃y (Aluno(x, y) ∧ Matricula(y, 'Lógica')). A variável y representa a id — a "testemunha" da matrícula. O WHERE adiciona uma conjunção. O SELECT projeta — esconde as variáveis não desejadas. Todo JOIN é um existencial. Todo WHERE é uma conjunção. Todo SELECT é uma projeção lógica. Essa correspondência é a base teórica que garante que SQL é expressivamente completo para consultas relacionais — pode expressar qualquer consulta do cálculo relacional de tuplas.</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 lógica de primeira ordem paga um preço pela sua expressividade: não é decidível. O teorema de Church-Turing (1936) prova que não existe nenhum algoritmo que, dado qualquer conjunto de premissas Δ e conclusão ψ, sempre responda em tempo finito se Δ ⊨ ψ. A situação é assimétrica: se Δ ⊨ ψ, existe um procedimento (resolução, cap. 6) que eventualmente encontra uma prova e para. Se Δ ⊭ ψ, não há garantia — o procedimento pode rodar para sempre sem encontrar um contraexemplo. É semi-decidível. Consequência prática: verificadores de teoremas para lógica de primeira ordem podem não terminar. Na prática, usamos timeout, fragmentos restritos (cláusulas Horn do Prolog, descrição lógica do OWL) ou heurísticas que funcionam bem em casos típicos mas não garantem terminação.</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Encerramos o capítulo 4. Adicionamos variáveis, predicados e quantificadores ao nosso arsenal, o que nos permite expressar generalizações sobre coleções de objetos — o que a lógica proposicional não conseguia. Estabelecemos a correspondência direta com bancos de dados relacionais: tabelas são predicados, linhas são fatos, queries são fórmulas. No próximo capítulo, vemos como verificar e provar afirmações neste sistema mais rico: as regras de Fitch se estendem com quatro regras para os quantificadores, e os algoritmos de verificação por modelos ganham domínios e extensões de predicados.</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Iniciamos o capítulo 5, que estende o capítulo 3 ao contexto relacional. Temos agora dois problemas análogos: verificar se uma sentença é verdadeira em um modelo específico (verificação por modelos), e derivar sentenças a partir de premissas por regras formais (provas formais de primeira ordem). A diferença para o proposicional: modelos agora têm domínios e predicados, não apenas atribuições de 0/1; as regras de Fitch ganham quatro novas regras para os quantificadores. A completude (teorema de Gödel, 1929) garante que tudo que é logicamente válido pode ser provado — um resultado surpreendente dado que validade em primeira ordem é indecidível.</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 dicotomia modelo-prova é fundamental em lógica computacional. Verificação por modelos (model checking) é local: dado um modelo específico M, responde "M ⊨ φ?". É computável para domínios finitos. Útil quando temos um estado concreto do sistema e queremos verificar uma propriedade. Prova formal é global: sem mencionar modelos, deriva φ a partir de premissas por regras sintáticas. É universal — a conclusão vale em todo modelo de Δ. Ambas são necessárias na prática. Verificação de software (como o SPIN para sistemas concorrentes) usa model checking. Assistentes de prova como Coq e Isabelle/HOL usam provas formais. Às vezes as duas abordagens são combinadas (bounded model checking usa SAT solvers para verificar propriedades em modelos de tamanho limitado).</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 notação M ⊨ φ (lê-se "M satisfaz φ" ou "φ é verdadeira em M") é a pedra angular da semântica relacional. Para cada forma de fórmula, a definição é recursiva. Para átomos: M ⊨ P(c₁,...,cₙ) se a tupla (c₁,...,cₙ) pertence à extensão de P no modelo M. Para conectivos: M ⊨ φ ∧ ψ se M ⊨ φ e M ⊨ ψ (e assim por diante para ∨, ¬, ⇒, ⇔). Para quantificadores: M ⊨ ∀x φ(x) se para todo objeto d do domínio, M[x↦d] ⊨ φ(x). M ⊨ ∃x φ(x) se existe algum objeto d tal que M[x↦d] ⊨ φ(x). A notação M[x↦d] significa "o modelo M com x fixado em d". Esta definição é recursiva, espelhando a estrutura recursiva das fórmulas.</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 algoritmo `eval_fol` implementa diretamente a definição semântica. Para predicados: verifica se os argumentos instanciados pertencem à extensão do predicado. Para ∀: usa `all()` — se qualquer elemento do domínio falhar, retorna False. Para ∃: usa `any()` — basta um que satisfaça. A elegância do código reflete a elegância da semântica: ∀ é literalmente "para todos os objetos do domínio" e ∃ é "existe algum". Para domínios finitos (bancos de dados, modelos de verificação), este algoritmo termina sempre. Para domínios infinitos, as coisas ficam mais complicadas — um ∀ sobre os naturais exigiria testar infinitos casos. Ferramentas como Z3 (Microsoft Research) usam técnicas mais sofisticadas para lidar com domínios infinitos (teoria dos inteiros, aritmética linear, etc.).</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Consequência lógica em primeira ordem tem a mesma definição semântica do caso proposicional, mas o espaço de modelos é agora muito maior — de fato infinito. Δ ⊨ ψ em primeira ordem: em todo modelo M (todo domínio possível, toda extensão possível dos predicados) onde todas as sentenças de Δ são verdadeiras, ψ também é verdadeira. O espaço de modelos inclui modelos com domínios finitos de qualquer tamanho e modelos com domínios infinitos (como os naturais ou os reais). Isso torna verificar consequência muito mais difícil que no caso proposicional — não existe um conjunto finito de casos a checar. Daí a semi-decidibilidade: se ψ é consequência, o procedimento de resolução eventualmente para; se não é, pode rodar para sempre.</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 caminho sintático em primeira ordem usa o mesmo sistema de Fitch do capítulo 3, estendido com quatro novas regras para os quantificadores. As regras proposicionais (∧I, ∧E, ∨I, ∨E, ⇒I, ⇒E, ¬I, ¬E) continuam valendo. As novas regras (∀I, ∀E, ∃I, ∃E) gerenciam a introdução e eliminação de quantificadores. A notação Δ ⊢ ψ significa que existe uma prova formal — uma sequência de linhas justificadas — que parte das premissas Δ e chega a ψ usando todas as regras disponíveis. O teorema de Gödel garante que, para a lógica clássica de primeira ordem, ⊢ e ⊨ coincidem: toda consequência semântica é provávelmente sintática.</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As quatro novas regras de Fitch para quantificadores têm restrições cruciais. ∀E (eliminação universal): de ∀x P(x), posso derivar P(t) para qualquer termo t — inclusive constantes como "ana" ou termos complexos como "f(bob)". Sempre permitido. ∀I (introdução universal): para provar ∀x P(x), assumo uma constante c "arbitrária" (que não aparece em nenhuma premissa ou hipótese ativa) e demonstro P(c). O fato de c ser arbitrária garante que a prova vale para qualquer objeto. ∃I (introdução existencial): de P(t), posso concluir ∃x P(x). Sempre permitido. ∃E (eliminação existencial): de ∃x P(x), assumo que "existe um c (nome fresco) tal que P(c)" e trabalho com isso. A "frescura" de c evita falácias como confundir a testemunha existencial com constantes já mencionadas.</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Esta prova mostra como renomear variáveis funciona formalmente. ∀x P(x) e ∀y P(y) são logicamente idênticas — a escolha da letra da variável não importa (alpha-equivalência). A prova usa ∀E para especializar x em uma constante arbitrária c, e depois ∀I para generalizar c de volta para y. A chave é que c é arbitrária (não mencionada nas premissas) — então o que provar sobre c vale para qualquer objeto. Este padrão ∀E seguido de ∀I aparece frequentemente em provas que precisam "trabalhar" com um objeto genérico antes de generalizar. Em programação, é análogo a escrever uma função para um tipo genérico T — o que funciona para T genérico funciona para qualquer tipo específico.</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Esta é uma das provas mais instrutivas do capítulo. Premises: ∃x P(x) (existe alguém com P) e ∀x (P(x) ⇒ Q(x)) (todo P tem Q). Conclusão: ∃x Q(x) (existe alguém com Q). A prova usa ∃E de forma cuidadosa: de ∃x P(x), assumimos que existe uma testemunha c com P(c) — c é um nome fresco, não mencionado antes. Dentro da subprova de ∃E: aplicamos ∀E para obter P(c) ⇒ Q(c); aplicamos ⇒E (Modus Ponens) para obter Q(c); aplicamos ∃I para concluir ∃x Q(x). Saímos da subprova: ∃x Q(x) vale fora também. A constante c era "fresca" — ela é apenas o nome que demos à testemunha existencial. Ela não sai do escopo da subprova de ∃E.</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 Teorema de Completude de Gödel (1929) é um dos resultados mais profundos e belos da lógica matemática. Ele diz: para a lógica clássica de primeira ordem, tudo que é semanticamente válido (verdadeiro em todo modelo) é sintaticamente derivável (pode ser provado em um sistema de prova completo como Fitch estendido). Ou seja: ⊢ e ⊨ coincidem perfeitamente. Isso não é óbvio — poderíamos imaginar verdades semânticas que "escapam" da sintaxe. Gödel provou que isso não acontece para a lógica de primeira ordem. Note: este resultado (completude) é diferente do famoso Teorema da Incompletude de Gödel (1931), que mostra que sistemas formais suficientemente poderosos para aritmética têm verdades não-prováveis. Esses resultados parecem contraditórios mas se referem a sistemas diferentes.</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 situação de decidibilidade em primeira ordem é delicada. Embora a lógica seja completa (tudo que é válido pode ser provado), não é decidível: não existe algoritmo que, dado Δ e ψ, sempre responda em tempo finito se Δ ⊨ ψ. O que existe é: um procedimento semi-decidível para a parte "sim" — se Δ ⊨ ψ, resolução (cap. 6) eventualmente encontra a prova. Mas para a parte "não" — se Δ ⊭ ψ — não há garantia de término. O procedimento pode rodar indefinidamente. Na prática: provadores reais (Vampire, E, SPASS) usam heurísticas sofisticadas para terminar em tempo razoável na maioria dos casos encontrados na prática. Quando não terminam, o usuário define um timeout. Fragmentos restritos (como cláusulas Horn do Prolog ou description logics do OWL) são decidíveis.</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Esta aplicação prática mostra como formalizar e verificar restrições de integridade em bancos de dados. A restrição "todo aluno tem matrícula em pelo menos um curso" é exatamente a fórmula: ∀x (Aluno(x) ⇒ ∃y Matricula(x, y)). Quando `eval_fol` retorna False para esta fórmula, significa que há pelo menos um aluno no banco sem nenhuma matrícula — uma violação de integridade referencial. Isso é exatamente o que FOREIGN KEY constraints do SQL verificam automaticamente. Ferramentas formais como Alloy vão além: permitem especificar restrições complexas em lógica relacional e verificar automaticamente se são satisfeitas ou violadas, inclusive encontrando contraexemplos (o aluno sem matrícula, por exemplo). Essa abordagem torna erros de modelagem detectáveis antes de chegar a produção.</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Encerramos o capítulo 5 com a tríade completa: semântica relacional via modelos, provas formais com as quatro regras de quantificadores, e a ponte teórica garantida pelo teorema de Gödel. No próximo capítulo, o capítulo 6, veremos a técnica que tornou provas automáticas viáveis em escala industrial: a resolução de Robinson. É uma única regra de inferência que, quando aplicada sistematicamente à forma clausal das fórmulas, é completa para refutação — o motor de Prolog, dos SAT solvers, e de muitos verificadores formais.</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Iniciamos o capítulo 6, que apresenta a técnica mais importante para automação de raciocínio lógico: a resolução. Desenvolvida por J.A. Robinson em 1965, a resolução é notável pela sua simplicidade: uma única regra de inferência que, quando aplicada ao conjunto de cláusulas na Forma Normal Conjuntiva (CNF), é completa para refutação. A ideia central é elegante: em vez de provar diretamente que Δ ⊨ ψ, negamos ψ, adicionamos ¬ψ às premissas, convertemos tudo para CNF, e aplicamos a regra de resolução repetidamente. Se conseguirmos derivar a cláusula vazia (⊥), então o conjunto Δ ∪ {¬ψ} é insatisfatível — o que prova que ψ era consequência de Δ. Esse é o método da refutação, e é o que torna Prolog e SAT solvers possíveis.</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 lógica de refutação é uma inversão elegante do problema. Em vez de tentar construir uma prova positiva de ψ a partir de Δ, fazemos o oposto: assumimos que ψ é falsa (adicionamos ¬ψ) e tentamos derivar uma contradição. Se o conjunto Δ ∪ {¬ψ} é insatisfatível — não tem nenhum modelo onde todas as fórmulas sejam verdadeiras — então é impossível que Δ seja verdadeiro e ψ seja falso ao mesmo tempo. Logo, ψ é consequência de Δ. Analogia do cotidiano: para provar que "nenhum número inteiro é ao mesmo tempo par e ímpar", assuma que existe tal número n, derive n=2k e n=2j+1 para algum k,j, subtraia e obtenha 0=1 (contradição). Refutação é prova por absurdo generalizada e automatizável.</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Antes de aplicar resolução, toda fórmula precisa ser convertida para CNF (Forma Normal Conjuntiva). CNF é uma conjunção de cláusulas, onde cada cláusula é uma disjunção de literais. Um literal é um átomo (p) ou a negação de um átomo (¬p). Qualquer fórmula proposicional pode ser convertida para CNF — esse é um resultado clássico. O processo usa as equivalências do capítulo 2: eliminar ⇒ e ⇔ usando as definições; empurrar negações para dentro usando De Morgan e dupla negação; distribuir ∧ sobre ∨. Para fórmulas grandes, a CNF pode ter um número exponencialmente maior de cláusulas. Na prática, SAT solvers usam a transformação de Tseitin, que introduz variáveis auxiliares para manter a CNF de tamanho linear.</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 regra de resolução é elegantemente simples. Dadas duas cláusulas que contêm literais opostos — p em uma e ¬p na outra — podemos derivar uma nova cláusula que é a disjunção de todos os outros literais das duas cláusulas originais, sem o par cancelado. Formalmente: de (C₁ ∨ p) e (C₂ ∨ ¬p), derivamos (C₁ ∨ C₂). O literal p é o "pivô" — o que cancela. Os resíduos C₁ e C₂ se juntam. Caso especial: se C₁ e C₂ são ambas vazias, derivamos ⊥ (a cláusula vazia — a contradição). Esta simplicidade tem um preço: a resolução gera muitas cláusulas intermediárias, e a escolha de quais resolver em qual ordem importa muito para eficiência. SAT solvers modernos usam heurísticas sofisticadas de seleção de pivô.</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Vamos seguir o exemplo passo a passo. Temos três cláusulas: C1: {p}, C2: {¬p, q}, C3: {¬q}. Passo 1: resolvemos C1 e C2 sobre o pivô p. C1 contém p, C2 contém ¬p. O resíduo de C1 (sem p) é vazio. O resíduo de C2 (sem ¬p) é {q}. A resolução produz C4 = {} ∪ {q} = {q}. Passo 2: resolvemos C4 e C3 sobre o pivô q. C4 contém q, C3 contém ¬q. O resíduo de C4 é vazio. O resíduo de C3 é vazio. A resolução produz C5 = {} ∪ {} = {} = ⊥. Derivamos a cláusula vazia! Portanto {p, ¬p∨q, ¬q} é insatisfatível, o que prova que {p, ¬p∨q} ⊨ q. Isto é exatamente Modus Ponens em forma clausal.</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Em lógica de primeira ordem, as cláusulas podem conter variáveis. Antes de aplicar a regra de resolução, precisamos unificar literais — encontrar uma substituição de variáveis que torne os dois literais literalmente idênticos (um com o outro, o positivo com o negativo). Sem unificação, literais como P(x) e P(ana) não seriam reconhecidos como "opostos" porque x é uma variável, não a constante "ana". O unificador mais geral (mgu) é a substituição mais simples que faz os termos coincidir. "Mais geral" significa que qualquer outra unificação é uma instância do mgu. Robinson provou que, quando um unificador existe, o mgu é único (a menos de renomeação de variáveis). O algoritmo de unificação tem complexidade quase linear — é eficiente na prática.</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 tabela de unificação ilustra os casos. P(x) e P(ana): o unificador é {x ↦ ana} — substituímos a variável x pela constante. P(x,y) e P(ana,bob): {x ↦ ana, y ↦ bob} — cada variável mapeia para a constante correspondente. P(x,x) e P(ana,bob): não há unificador — exigiria x=ana e x=bob simultaneamente, impossível. P(f(x)) e P(f(g(y))): o unificador é {x ↦ g(y)} — fazemos x coincidir com o argumento de f no outro termo. O resultado P(f(g(y))) é o termo unificado. No Prolog, cada vez que uma meta é resolvida, o interpretador unifica a meta com a cabeça de alguma cláusula — se o mgu existe, a execução continua com as substituições aplicadas. A unificação é o coração do motor do Prolog.</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 exemplo clássico "Sócrates é mortal" mostra a resolução com unificação em ação. Convertemos a premissa ∀x (Humano(x) ⇒ Mortal(x)) para forma clausal: eliminando ⇒, vira ¬Humano(x) ∨ Mortal(x). Negamos a conclusão: ¬Mortal(socrates). Agora aplicamos resolução: C1 = {¬Humano(x), Mortal(x)} e C_neg = {¬Mortal(socrates)}. Unificamos Mortal(x) com Mortal(socrates): mgu = {x ↦ socrates}. Aplicando o mgu, C1 vira {¬Humano(socrates), Mortal(socrates)}. Resolvemos com C_neg sobre o pivô Mortal(socrates): resulta em {¬Humano(socrates)}. Temos também C2 = {Humano(socrates)}. Resolvemos {¬Humano(socrates)} e {Humano(socrates)}: ⊥. Refutação completa — Mortal(socrates) é consequência lógica.</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 resolução não é apenas teoria acadêmica — é a base de tecnologias críticas em uso industrial hoje. SAT solvers modernos como MiniSat, Glucose e CaDiCaL usam variantes de resolução com aprendizado de cláusulas conflitantes (CDCL — Conflict-Driven Clause Learning). Eles resolvem instâncias industriais com milhões de variáveis e dezenas de milhões de cláusulas. Aplicações: verificação de circuitos eletrônicos (Intel, AMD usam para verificar CPUs), planejamento automático, bioinformática (haplotyping, proteínas). SMT solvers (Satisfiability Modulo Theories) combinam resolução com teorias (aritmética linear, arrays, strings) e são usados para verificação de software. O Z3 da Microsoft é usado no verificador Boogie do C# e no Dafny. Prolog usa resolução SLD — uma variante eficiente para cláusulas Horn.</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Encerramos o capítulo 6. A resolução de Robinson é um dos resultados mais elegantes da computação teórica: uma única regra, aplicada sistematicamente, é suficiente para decidir (ou semi-decidir) qualquer questão de lógica proposicional ou de primeira ordem. Esta simplicidade é o que torna a implementação viável e a análise teórica possível. Os próximos capítulos são aplicações: no capítulo 7 vemos como bases de conhecimento e sistemas especialistas usam inferência lógica para IA simbólica; no capítulo 8 estendemos para raciocínio sob incerteza; no capítulo 9 exploramos lógicas alternativas para domínios específicos.</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Iniciamos o capítulo 7, que conecta a teoria dos capítulos anteriores com aplicações reais de Inteligência Artificial simbólica. IA simbólica é a abordagem "clássica" da IA — anterior ao aprendizado de máquina — que representa conhecimento explicitamente como fatos e regras lógicas, e usa inferência formal para responder perguntas. Sistemas especialistas foram a principal tecnologia de IA nos anos 80, com aplicações comerciais reais (MYCIN para diagnóstico médico, XCON para configuração de computadores DEC, DENDRAL para química). Hoje IA simbólica ressurge na forma de IA explicável e IA híbrida (neuro-simbólico), onde se combina a capacidade de aprendizado das redes neurais com a garantia lógica dos sistemas de regras.</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Todo sistema de IA simbólica tem três componentes bem separados. A Base de Conhecimento (KB) armazena o que o sistema "sabe": fatos (João é professor, a temperatura é 38°C) e regras (se temperatura &gt; 37.5°C e sintoma é tosse, então possível infecção respiratória). A separação declarativo/procedural é crucial: a KB descreve o conhecimento, não o processo de usá-lo. O Motor de Inferência é o "cérebro" que usa as regras para responder perguntas — pode ser encadeamento para frente, encadeamento para trás, resolução, etc. A Interface processa as consultas do usuário e apresenta as respostas com justificativas. Esta arquitetura tem uma vantagem enorme: pode-se atualizar o conhecimento (modificar a KB) sem mudar o motor. A separação de responsabilidades é análoga ao padrão MVC do desenvolvimento de software.</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Encadeamento para frente (forward chaining) e para trás (backward chaining) são duas estratégias para usar um conjunto de regras de inferência. Forward: começa pelos fatos conhecidos e aplica regras cujas premissas estão satisfeitas, gerando novas conclusões. Continua até não haver mais regras aplicáveis. É bom para "dado o que sei, o que posso concluir?" — monitoramento de alertas, raciocínio baseado em dados. Backward: começa pela pergunta (objetivo) e busca regras que poderiam provar esse objetivo. Para cada premissa dessas regras, torna-se o novo objetivo (recursivamente). É bom para "dado o que quero provar, que fatos precisaria saber?" — diagnóstico, perguntas pontuais. O Prolog usa backward chaining. Sistemas de monitoramento de infraestrutura tipicamente usam forward chaining.</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Prolog é literalmente lógica executável. Um programa Prolog é uma base de conhecimento: fatos são cláusulas unitárias (pai(joao, maria).), regras têm cabeça e corpo separados por :- (avo(X,Z) :- pai(X,Y), pai(Y,Z).). Uma consulta ?- avo(joao, ana). dispara backward chaining: o motor tenta unificar o objetivo com a cabeça de alguma regra ou fato. Unificando avo(joao, ana) com avo(X,Z):-pai(X,Y),pai(Y,Z), obtemos X=joao, Z=ana. Agora precisamos provar pai(joao,Y) e pai(Y,ana). Prolog verifica os fatos: pai(joao, maria) — Y=maria. Depois verifica pai(maria, ana) — sim, está nos fatos. Responde: true. Para consultas com variável livre: ?- avo(joao, Q). — Prolog instancia Q e responde Q=ana. Isso é resolução SLD com unificação.</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Os sistemas especialistas dos anos 80 foram a primeira onda de IA comercial bem-sucedida. MYCIN (Stanford, 1972-1980) diagnosticava infecções bacterianas com acurácia comparável a especialistas humanos — usando cerca de 600 regras de produção (se... então...) com fatores de certeza. XCON (DEC, 1980) configurava pedidos de computadores, economizando cerca de $40 milhões por ano. CYC (Lenat, 1984-hoje) tentou codificar todo o senso comum humano em lógica — com mais de 1 milhão de conceitos e 25 milhões de asserções. O declínio veio nos anos 90: custo de aquisição de conhecimento (bottle neck do especialista), fragilidade fora do domínio treinado, dificuldade de aprender com novos dados. Isso abriu espaço para aprendizado de máquina.</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 estado da arte atual em IA combina o melhor dos dois mundos. Redes neurais são excelentes em percepção (reconhecer imagens, entender texto), em aprendizado de padrões com dados ruidosos, em generalização. Sistemas simbólicos são excelentes em garantir consistência lógica, em explicar raciocínio passo a passo (auditabilidade), em aplicar regras de negócio com precisão absoluta, em raciocinar com poucos exemplos (one-shot). IA híbrida ou neuro-simbólica combina os dois: a rede neural faz percepção e extrai conceitos; o sistema simbólico garante que as conclusões são logicamente consistentes com as regras de negócio. AlphaGo e seu sucessor AlphaZero são exemplos: aprendizado profundo para avaliação de posições, busca em árvore (simbólico) para planejamento. IBM Watson mistura retrieval, ML e inferência simbólica.</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Encerramos o capítulo 7. IA simbólica estabeleceu os princípios da representação e do raciocínio computacional que ainda fundamentam sistemas modernos, especialmente em domínios onde explicabilidade e garantias são essenciais (medicina, direito, finanças, sistemas de segurança). O próximo capítulo estende o raciocínio para além da lógica clássica: o mundo real é ruidoso e incerto. Aprendemos dados de distribuições probabilísticas, não de verdades absolutas. O capítulo 8 conecta lógica com probabilidade — mostrando que o teorema de Bayes é, de certa forma, a generalização probabilística do Modus Ponens.</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Iniciamos o capítulo 8, que lida com uma limitação fundamental da lógica clássica: ela é binária. Ou uma afirmação é verdadeira (1) ou é falsa (0). Mas o mundo real raramente é assim. "Esta tomografia indica tumor?" — talvez, com 73% de probabilidade. "Esta transação é fraudulenta?" — é suspeita, baseada em padrões históricos. "Este e-mail é spam?" — provavelmente, com base nas palavras que contém. A lógica clássica não tem como representar essa incerteza. Precisamos de extensões: raciocínio probabilístico (Bayes, redes bayesianas) e lógica fuzzy. Ambos generalizam a lógica clássica — quando as probabilidades são 0 ou 1, ou os graus de pertinência são 0 ou 1, voltamos à lógica clássica usual.</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 distinção dedução-indução é fundamental para entender a diferença entre lógica clássica e aprendizado de máquina. Dedução parte de regras gerais e chega a conclusões específicas — com garantia. Se as premissas são verdadeiras, a conclusão é necessariamente verdadeira. Zero possibilidade de erro (dado que as premissas sejam corretas). Indução parte de casos específicos e chega a regras gerais — sem garantia. Um modelo de ML observa milhares de casos e generaliza um padrão. Esse padrão pode estar errado quando visto um novo caso — isso é o problema de overfitting, ou de distribuição diferente entre treino e teste. A ciência funciona por indução: observamos fenômenos, propomos leis, testamos mais casos. Nunca temos certeza absoluta — apenas evidência acumulada. Bayes é o framework formal para raciocinar sobre essa evidência.</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 teorema de Bayes é possivelmente a equação mais importante da Ciência de Dados. Ele descreve como atualizar uma crença (P(H)) à luz de nova evidência (D). P(H|D): probabilidade posterior — o que creio após ver a evidência D. P(D|H): verossimilhança — quão provável seria ver D se H fosse verdade. P(H): probabilidade prior — o que eu acreditava antes de ver D. P(D): evidência marginal — quão provável é ver D em geral. O processo bayesiano: começo com um prior, observo evidência, calculo o posterior. O posterior de hoje é o prior de amanhã — aprendizado incremental. Spam filter: H = "é spam", D = palavras do e-mail. Diagnóstico médico: H = "tem doença X", D = resultado do exame. Reconhecimento de fala: H = "a palavra dita era 'olá'", D = o sinal de áudio.</a:t>
            </a:r>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Este exemplo é um dos resultados mais contra-intuitivos da probabilidade, e tem enorme importância clínica. Para uma doença com prevalência 1% (P(D)=0.01) e um teste com sensibilidade e especificidade ambos de 99%: o cálculo mostra que um teste positivo implica apenas 50% de chance de ter a doença! Por quê? Porque a doença é rara — há muito mais pessoas saudáveis do que doentes. Mesmo com falso-positivo de 1%, em uma população grande há muitos falso-positivos no total, porque há muitas mais pessoas saudáveis. Este fenômeno — a falácia do base rate — é responsável por diagnósticos incorretos quando médicos ignoram a prevalência da doença. O cálculo bayesiano força a considerar o prior. Isso é por que testes de triagem em populações de baixo risco produzem muitos falsos positivos.</a:t>
            </a:r>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Redes bayesianas são uma estrutura gráfica que representa dependências probabilísticas entre variáveis. Cada nó é uma variável aleatória. Cada aresta direcionada representa que o nó pai influencia o nó filho — uma dependência causal ou estatística. Cada nó tem uma tabela de probabilidade condicional (CPT) que especifica P(nó|pais do nó). A beleza da estrutura: independência condicional. Sabendo o estado dos pais, o filho é independente dos avós. Isso torna a inferência eficiente — não precisamos considerar todas as combinações de todas as variáveis. Judea Pearl ganhou o prêmio Turing em 2011 por desenvolver os fundamentos teóricos das redes bayesianas e introduzir o conceito de causalidade em IA. Aplicações: diagnóstico médico, detecção de falhas em equipamentos, filtros de spam, modelos de linguagem.</a:t>
            </a:r>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Lógica fuzzy, proposta por Lotfi Zadeh em 1965, generaliza a lógica clássica permitindo graus de verdade entre 0 e 1 em vez de apenas {0, 1}. O conceito central é o conjunto fuzzy: um elemento pode pertencer a um conjunto com grau parcial. "João é alto" pode ter grau 0.8 se João tem 1.85m, em vez de verdadeiro ou falso. As operações lógicas se generalizam: a conjunção usa o mínimo (ou produto), a disjunção usa o máximo (ou soma probabilística), a negação inverte (1 - grau). Aplicações clássicas: controle de máquinas de lavar (fuzzy decide a intensidade da lavagem baseado em quão suja a roupa parece), freios ABS, termostatos, câmeras (ajuste automático de foco). O ponto forte: evita fronteiras artificiais onde a classificação binária seria arbitrária. Fraqueza: definir as funções de pertinência requer especialistas ou dados.</a:t>
            </a:r>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Encerramos o capítulo 8. Expandimos nossa visão além da lógica binária para incluir graus de crença (probabilidade) e graus de pertinência (fuzzy). O teorema de Bayes nos dá uma linguagem formal para atualizar crenças com evidências — a base do filtro bayesiano de spam, de classificadores probabilísticos como Naive Bayes, e de toda inferência estatística bayesiana. Redes bayesianas estruturam as dependências. Lógica fuzzy lida com conceitos vagos. Todas estas extensões mantêm a estrutura de raciocínio formal, apenas relaxando a bivalência. No próximo e último capítulo, veremos lógicas que adicionam novos operadores: necessidade e possibilidade (modal), passado e futuro (temporal), e obrigação (deôntica).</a:t>
            </a:r>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Iniciamos o capítulo 9, o capítulo final, que explora a diversidade de lógicas além da clássica. A lógica clássica é potente mas limitada: ela não tem como falar de "é necessariamente verdadeiro" versus "é possivelmente verdadeiro", nem de "sempre foi verdade" versus "às vezes foi verdade", nem de "é obrigatório" versus "é permitido". Cada uma dessas distinções requer um sistema lógico especializado. Modal: raciocina sobre possibilidade e necessidade. Temporal: raciocina sobre propriedades ao longo do tempo — essencial para verificação de sistemas concorrentes. Deôntica: raciocina sobre normas e obrigações — crescentemente importante em ética de IA e contratos inteligentes. A mensagem final do livro: não existe uma única lógica. Existe uma família de sistemas formais, cada um adequado a um tipo específico de raciocínio.</a:t>
            </a:r>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 lógica modal adiciona dois operadores novos à lógica proposicional. □φ (box, necessariamente φ): φ é verdadeira em todos os mundos possíveis acessíveis. ◇φ (diamond, possivelmente φ): φ é verdadeira em pelo menos um mundo possível acessível. Os dois são duals: ◇φ ≡ ¬□¬φ (é possível φ se e somente se não é necessário que não-φ). Exemplos de uso: □(p ⇒ q) diz "é necessariamente verdade que se p então q" — uma lei, não apenas uma correlação observada. ◇p diz "é possível que p" — p não é impossível, mesmo que não saibamos se é verdade. Aplicações em ciência da computação: lógica epistêmica (□φ = "o agente sabe que φ") modela sistemas multi-agente e protocolos de comunicação. Lógica dinâmica modela execução de programas.</a:t>
            </a:r>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 semântica de Kripke, desenvolvida por Saul Kripke nos anos 1960, dá base formal à lógica modal. Um modelo de Kripke é uma tripla (W, R, V): W é um conjunto de "mundos" — situações possíveis; R é uma relação de acessibilidade — wRv significa "de w, v é acessível ou alcançável"; V é uma valoração — para cada mundo e átomo, diz se o átomo é verdadeiro naquele mundo. A semântica: □φ é verdadeira no mundo w se φ é verdadeira em todos os mundos v tais que wRv. ◇φ é verdadeira no mundo w se φ é verdadeira em algum mundo v tal que wRv. Diferentes propriedades da relação R (reflexiva, transitiva, simétrica, etc.) geram diferentes lógicas modais: T (reflexiva), S4 (reflexiva e transitiva), S5 (relação de equivalência). S5 modela conhecimento; S4 modela demonstrabilidade.</a:t>
            </a:r>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LTL (Linear Temporal Logic) é a lógica de verificação formal de software. É uma lógica modal onde os "mundos possíveis" são instantes de tempo em uma sequência linear. Os operadores temporais adicionam poder expressivo: X φ (next): φ vale no próximo instante de tempo. F φ (finally/eventually): φ vale em algum instante futuro. G φ (globally/always): φ vale em todos os instantes futuros. φ U ψ (until): φ vale continuamente até que ψ valha. Com LTL, podemos especificar propriedades de sistemas reativos: "sempre que um pedido é feito, ele eventualmente é atendido" (G(pedido ⇒ F atendido)); "o sistema nunca entra em deadlock" (G ¬deadlock); "o mutex garante que os dois processos não entram na seção crítica ao mesmo tempo" (G ¬(secao_critica_1 ∧ secao_critica_2)).</a:t>
            </a:r>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Estas três especificações LTL ilustram propriedades típicas de sistemas reativos. G(req ⇒ F grant): é uma propriedade de vivacidade (liveness) — algo bom eventualmente acontece. Todo pedido é eventualmente atendido. Sem isso, o sistema poderia ignorar pedidos indefinidamente (starvation). G ¬(grant ∧ ¬req): é uma propriedade de segurança (safety) — algo ruim nunca acontece. Nunca concedemos sem pedido. Impede concessões espúrias. G(grant ⇒ X ¬grant): é uma propriedade de exclusão temporal — uma concessão dura exatamente um instante. Ferramentas como SPIN (para sistemas em C), NuSMV (para circuitos), e PRISM (para sistemas probabilísticos) verificam estas propriedades automaticamente via model checking — exploram todos os estados alcançáveis do sistema e verificam se a fórmula LTL vale em todos eles.</a:t>
            </a:r>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 lógica deôntica (do grego deon = dever) formaliza o raciocínio normativo: sobre o que é obrigatório, permitido ou proibido. O (Obligation): Oφ diz que φ é obrigatório. P (Permission): Pφ diz que φ é permitido. F (Forbidden): Fφ diz que φ é proibido. Os operadores se relacionam: Fφ ≡ O¬φ (proibido = obrigatório não fazer) e Pφ ≡ ¬O¬φ (permitido = não é obrigatório não fazer). Aplicações crescentemente importantes: GDPR em forma computável (O(não compartilhar dados sem consentimento)); contratos inteligentes na blockchain que verificam automaticamente se as partes cumpriram obrigações; ética em IA (O(informar usuário sobre decisão automatizada)); compliance bancário. Paradoxos famosos (como o paradoxo de Chisholm) mostram que a lógica deôntica é mais sutil do que parece.</a:t>
            </a:r>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Chegamos ao final do livro. A jornada foi longa: de proposição (slide 3) a lógicas não-clássicas (cap. 9), passando por prova formal, lógica relacional, resolução automática, IA simbólica, probabilidade. A mensagem central que espero que fique: lógica é a estrutura do raciocínio formal. Não importa o domínio — SQL, redes neurais, contratos inteligentes, sistemas de monitoramento — existe sempre uma estrutura lógica subjacente que determina o comportamento do sistema. Entender essa estrutura nos dá poder: depurar erros por análise sistemática, verificar propriedades por método formal, comunicar intenções com precisão. E a segunda mensagem: não existe "a" lógica. Existe uma família de ferramentas — clássica, modal, temporal, probabilística, fuzzy — e a arte do cientista de dados (e do engenheiro, e do filósofo) é escolher a ferramenta certa para o problema certo. Boa continuidade nos estudos.</a:t>
            </a:r>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23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A3550"/>
          </a:solidFill>
          <a:ln w="12700">
            <a:solidFill>
              <a:srgbClr val="2A3550"/>
            </a:solidFill>
            <a:prstDash val="solid"/>
          </a:ln>
        </p:spPr>
      </p:sp>
      <p:sp>
        <p:nvSpPr>
          <p:cNvPr id="3" name="Shape 1"/>
          <p:cNvSpPr/>
          <p:nvPr/>
        </p:nvSpPr>
        <p:spPr>
          <a:xfrm>
            <a:off x="0" y="0"/>
            <a:ext cx="164592" cy="6858000"/>
          </a:xfrm>
          <a:prstGeom prst="rect">
            <a:avLst/>
          </a:prstGeom>
          <a:solidFill>
            <a:srgbClr val="E07A1F"/>
          </a:solidFill>
          <a:ln w="12700">
            <a:solidFill>
              <a:srgbClr val="E07A1F"/>
            </a:solidFill>
            <a:prstDash val="solid"/>
          </a:ln>
        </p:spPr>
      </p:sp>
      <p:sp>
        <p:nvSpPr>
          <p:cNvPr id="4" name="Text 2"/>
          <p:cNvSpPr/>
          <p:nvPr/>
        </p:nvSpPr>
        <p:spPr>
          <a:xfrm>
            <a:off x="9905695" y="228600"/>
            <a:ext cx="2011680" cy="274320"/>
          </a:xfrm>
          <a:prstGeom prst="rect">
            <a:avLst/>
          </a:prstGeom>
          <a:noFill/>
          <a:ln/>
        </p:spPr>
        <p:txBody>
          <a:bodyPr wrap="square" rtlCol="0" anchor="ctr"/>
          <a:lstStyle/>
          <a:p>
            <a:pPr marL="0" indent="0" algn="r">
              <a:buNone/>
            </a:pPr>
            <a:r>
              <a:rPr lang="en-US" sz="1100" b="1" kern="0" spc="400" dirty="0">
                <a:solidFill>
                  <a:srgbClr val="F3A96B"/>
                </a:solidFill>
                <a:latin typeface="Playfair Display" pitchFamily="34" charset="0"/>
                <a:ea typeface="Playfair Display" pitchFamily="34" charset="-122"/>
                <a:cs typeface="Playfair Display" pitchFamily="34" charset="-120"/>
              </a:rPr>
              <a:t>CAP. 01 · 01/14</a:t>
            </a:r>
            <a:endParaRPr lang="en-US" sz="1100" dirty="0"/>
          </a:p>
        </p:txBody>
      </p:sp>
      <p:sp>
        <p:nvSpPr>
          <p:cNvPr id="5" name="Text 3"/>
          <p:cNvSpPr/>
          <p:nvPr/>
        </p:nvSpPr>
        <p:spPr>
          <a:xfrm>
            <a:off x="502920" y="1371600"/>
            <a:ext cx="11185855" cy="365760"/>
          </a:xfrm>
          <a:prstGeom prst="rect">
            <a:avLst/>
          </a:prstGeom>
          <a:noFill/>
          <a:ln/>
        </p:spPr>
        <p:txBody>
          <a:bodyPr wrap="square" rtlCol="0" anchor="ctr"/>
          <a:lstStyle/>
          <a:p>
            <a:pPr marL="0" indent="0">
              <a:buNone/>
            </a:pPr>
            <a:r>
              <a:rPr lang="en-US" sz="1100" b="1" kern="0" spc="600" dirty="0">
                <a:solidFill>
                  <a:srgbClr val="F3A96B"/>
                </a:solidFill>
                <a:latin typeface="Source Sans 3" pitchFamily="34" charset="0"/>
                <a:ea typeface="Source Sans 3" pitchFamily="34" charset="-122"/>
                <a:cs typeface="Source Sans 3" pitchFamily="34" charset="-120"/>
              </a:rPr>
              <a:t>FUNDAMENTOS DE LÓGICA APLICADA À CIÊNCIA DE DADOS</a:t>
            </a:r>
            <a:endParaRPr lang="en-US" sz="1100" dirty="0"/>
          </a:p>
        </p:txBody>
      </p:sp>
      <p:sp>
        <p:nvSpPr>
          <p:cNvPr id="6" name="Text 4"/>
          <p:cNvSpPr/>
          <p:nvPr/>
        </p:nvSpPr>
        <p:spPr>
          <a:xfrm>
            <a:off x="502920" y="1828800"/>
            <a:ext cx="11185855" cy="2286000"/>
          </a:xfrm>
          <a:prstGeom prst="rect">
            <a:avLst/>
          </a:prstGeom>
          <a:noFill/>
          <a:ln/>
        </p:spPr>
        <p:txBody>
          <a:bodyPr wrap="square" rtlCol="0" anchor="ctr"/>
          <a:lstStyle/>
          <a:p>
            <a:pPr marL="0" indent="0">
              <a:buNone/>
            </a:pPr>
            <a:r>
              <a:rPr lang="en-US" sz="6000" b="1" dirty="0">
                <a:solidFill>
                  <a:srgbClr val="F7F2E8"/>
                </a:solidFill>
                <a:latin typeface="Playfair Display" pitchFamily="34" charset="0"/>
                <a:ea typeface="Playfair Display" pitchFamily="34" charset="-122"/>
                <a:cs typeface="Playfair Display" pitchFamily="34" charset="-120"/>
              </a:rPr>
              <a:t>Introdução</a:t>
            </a:r>
            <a:endParaRPr lang="en-US" sz="6000" dirty="0"/>
          </a:p>
        </p:txBody>
      </p:sp>
      <p:sp>
        <p:nvSpPr>
          <p:cNvPr id="7" name="Text 5"/>
          <p:cNvSpPr/>
          <p:nvPr/>
        </p:nvSpPr>
        <p:spPr>
          <a:xfrm>
            <a:off x="502920" y="4297680"/>
            <a:ext cx="11185855" cy="914400"/>
          </a:xfrm>
          <a:prstGeom prst="rect">
            <a:avLst/>
          </a:prstGeom>
          <a:noFill/>
          <a:ln/>
        </p:spPr>
        <p:txBody>
          <a:bodyPr wrap="square" rtlCol="0" anchor="ctr"/>
          <a:lstStyle/>
          <a:p>
            <a:pPr marL="0" indent="0">
              <a:buNone/>
            </a:pPr>
            <a:r>
              <a:rPr lang="en-US" sz="1800" i="1" dirty="0">
                <a:solidFill>
                  <a:srgbClr val="CBBFA3"/>
                </a:solidFill>
                <a:latin typeface="Merriweather" pitchFamily="34" charset="0"/>
                <a:ea typeface="Merriweather" pitchFamily="34" charset="-122"/>
                <a:cs typeface="Merriweather" pitchFamily="34" charset="-120"/>
              </a:rPr>
              <a:t>Por que a lógica é a base oculta da Ciência de Dados</a:t>
            </a:r>
            <a:endParaRPr lang="en-US" sz="1800" dirty="0"/>
          </a:p>
        </p:txBody>
      </p:sp>
      <p:sp>
        <p:nvSpPr>
          <p:cNvPr id="8" name="Shape 6"/>
          <p:cNvSpPr/>
          <p:nvPr/>
        </p:nvSpPr>
        <p:spPr>
          <a:xfrm>
            <a:off x="502920" y="6446520"/>
            <a:ext cx="11185855" cy="0"/>
          </a:xfrm>
          <a:prstGeom prst="line">
            <a:avLst/>
          </a:prstGeom>
          <a:noFill/>
          <a:ln w="6350">
            <a:solidFill>
              <a:srgbClr val="4B5563"/>
            </a:solidFill>
            <a:prstDash val="solid"/>
          </a:ln>
        </p:spPr>
      </p:sp>
      <p:sp>
        <p:nvSpPr>
          <p:cNvPr id="9" name="Text 7"/>
          <p:cNvSpPr/>
          <p:nvPr/>
        </p:nvSpPr>
        <p:spPr>
          <a:xfrm>
            <a:off x="502920" y="6492240"/>
            <a:ext cx="11185855" cy="274320"/>
          </a:xfrm>
          <a:prstGeom prst="rect">
            <a:avLst/>
          </a:prstGeom>
          <a:noFill/>
          <a:ln/>
        </p:spPr>
        <p:txBody>
          <a:bodyPr wrap="square" rtlCol="0" anchor="ctr"/>
          <a:lstStyle/>
          <a:p>
            <a:pPr marL="0" indent="0" algn="l">
              <a:buNone/>
            </a:pPr>
            <a:r>
              <a:rPr lang="en-US" sz="900" b="1" kern="0" spc="300" dirty="0">
                <a:solidFill>
                  <a:srgbClr val="9CA3AF"/>
                </a:solidFill>
                <a:latin typeface="Source Sans 3" pitchFamily="34" charset="0"/>
                <a:ea typeface="Source Sans 3" pitchFamily="34" charset="-122"/>
                <a:cs typeface="Source Sans 3" pitchFamily="34" charset="-120"/>
              </a:rPr>
              <a:t>ALICCE · Helena Reis &amp; Anderson Marcolino</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a:extLst>
            <a:ext uri="{FF2B5EF4-FFF2-40B4-BE49-F238E27FC236}">
              <a16:creationId xmlns:a16="http://schemas.microsoft.com/office/drawing/2014/main" id="{3E738292-B4EF-9C85-9744-7A7F834A462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F1A7005-6797-4EC9-258C-45C768598A99}"/>
              </a:ext>
            </a:extLst>
          </p:cNvPr>
          <p:cNvSpPr/>
          <p:nvPr/>
        </p:nvSpPr>
        <p:spPr>
          <a:xfrm>
            <a:off x="0" y="0"/>
            <a:ext cx="164592" cy="6858000"/>
          </a:xfrm>
          <a:prstGeom prst="rect">
            <a:avLst/>
          </a:prstGeom>
          <a:solidFill>
            <a:srgbClr val="E07A1F"/>
          </a:solidFill>
          <a:ln w="12700">
            <a:solidFill>
              <a:srgbClr val="E07A1F"/>
            </a:solidFill>
            <a:prstDash val="solid"/>
          </a:ln>
        </p:spPr>
      </p:sp>
      <p:sp>
        <p:nvSpPr>
          <p:cNvPr id="5" name="Shape 3">
            <a:extLst>
              <a:ext uri="{FF2B5EF4-FFF2-40B4-BE49-F238E27FC236}">
                <a16:creationId xmlns:a16="http://schemas.microsoft.com/office/drawing/2014/main" id="{BFB36EDC-C301-3FB6-700E-578D4D86BA37}"/>
              </a:ext>
            </a:extLst>
          </p:cNvPr>
          <p:cNvSpPr/>
          <p:nvPr/>
        </p:nvSpPr>
        <p:spPr>
          <a:xfrm>
            <a:off x="502920" y="6446520"/>
            <a:ext cx="11185855" cy="0"/>
          </a:xfrm>
          <a:prstGeom prst="line">
            <a:avLst/>
          </a:prstGeom>
          <a:noFill/>
          <a:ln w="6350">
            <a:solidFill>
              <a:srgbClr val="CBBFA3"/>
            </a:solidFill>
            <a:prstDash val="solid"/>
          </a:ln>
        </p:spPr>
      </p:sp>
      <p:sp>
        <p:nvSpPr>
          <p:cNvPr id="6" name="Text 4">
            <a:extLst>
              <a:ext uri="{FF2B5EF4-FFF2-40B4-BE49-F238E27FC236}">
                <a16:creationId xmlns:a16="http://schemas.microsoft.com/office/drawing/2014/main" id="{A561BE89-DE18-37D6-095F-EE0380200B1B}"/>
              </a:ext>
            </a:extLst>
          </p:cNvPr>
          <p:cNvSpPr/>
          <p:nvPr/>
        </p:nvSpPr>
        <p:spPr>
          <a:xfrm>
            <a:off x="502920" y="6492240"/>
            <a:ext cx="5486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300" normalizeH="0" baseline="0" noProof="0" dirty="0">
                <a:ln>
                  <a:noFill/>
                </a:ln>
                <a:solidFill>
                  <a:srgbClr val="6B6452"/>
                </a:solidFill>
                <a:effectLst/>
                <a:uLnTx/>
                <a:uFillTx/>
                <a:latin typeface="Source Sans 3" pitchFamily="34" charset="0"/>
                <a:ea typeface="Source Sans 3" pitchFamily="34" charset="-122"/>
                <a:cs typeface="Source Sans 3" pitchFamily="34" charset="-120"/>
              </a:rPr>
              <a:t>Capítulo 1 · Introdução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a:extLst>
              <a:ext uri="{FF2B5EF4-FFF2-40B4-BE49-F238E27FC236}">
                <a16:creationId xmlns:a16="http://schemas.microsoft.com/office/drawing/2014/main" id="{C1B44504-A64E-3559-A685-E19F5DEDFEFC}"/>
              </a:ext>
            </a:extLst>
          </p:cNvPr>
          <p:cNvSpPr/>
          <p:nvPr/>
        </p:nvSpPr>
        <p:spPr>
          <a:xfrm>
            <a:off x="6202375" y="6492240"/>
            <a:ext cx="548640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300" normalizeH="0" baseline="0" noProof="0" dirty="0">
                <a:ln>
                  <a:noFill/>
                </a:ln>
                <a:solidFill>
                  <a:srgbClr val="6B6452"/>
                </a:solidFill>
                <a:effectLst/>
                <a:uLnTx/>
                <a:uFillTx/>
                <a:latin typeface="Source Sans 3" pitchFamily="34" charset="0"/>
                <a:ea typeface="Source Sans 3" pitchFamily="34" charset="-122"/>
                <a:cs typeface="Source Sans 3" pitchFamily="34" charset="-120"/>
              </a:rPr>
              <a:t>ALICCE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a:extLst>
              <a:ext uri="{FF2B5EF4-FFF2-40B4-BE49-F238E27FC236}">
                <a16:creationId xmlns:a16="http://schemas.microsoft.com/office/drawing/2014/main" id="{7DFEC53A-1A01-FDF3-4C89-831D075BB4D5}"/>
              </a:ext>
            </a:extLst>
          </p:cNvPr>
          <p:cNvSpPr/>
          <p:nvPr/>
        </p:nvSpPr>
        <p:spPr>
          <a:xfrm>
            <a:off x="502920" y="685800"/>
            <a:ext cx="11185855" cy="914400"/>
          </a:xfrm>
          <a:prstGeom prst="rect">
            <a:avLst/>
          </a:prstGeom>
          <a:noFill/>
          <a:ln/>
        </p:spPr>
        <p:txBody>
          <a:bodyPr wrap="square" rtlCol="0" anchor="t"/>
          <a:lstStyle/>
          <a:p>
            <a:pPr lvl="0"/>
            <a:r>
              <a:rPr lang="pt-BR" sz="3200" b="1" dirty="0">
                <a:solidFill>
                  <a:srgbClr val="1A2238"/>
                </a:solidFill>
                <a:latin typeface="Playfair Display" pitchFamily="34" charset="0"/>
                <a:ea typeface="Playfair Display" pitchFamily="34" charset="-122"/>
                <a:cs typeface="Playfair Display" pitchFamily="34" charset="-120"/>
              </a:rPr>
              <a:t>Fundamentos de Lógica Aplicada à Ciência de Dados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a:extLst>
              <a:ext uri="{FF2B5EF4-FFF2-40B4-BE49-F238E27FC236}">
                <a16:creationId xmlns:a16="http://schemas.microsoft.com/office/drawing/2014/main" id="{F9EE8948-A671-D5FC-6C09-D0137CAADCF1}"/>
              </a:ext>
            </a:extLst>
          </p:cNvPr>
          <p:cNvSpPr/>
          <p:nvPr/>
        </p:nvSpPr>
        <p:spPr>
          <a:xfrm>
            <a:off x="502920" y="1554479"/>
            <a:ext cx="7599680" cy="4732020"/>
          </a:xfrm>
          <a:prstGeom prst="rect">
            <a:avLst/>
          </a:prstGeom>
          <a:noFill/>
          <a:ln/>
        </p:spPr>
        <p:txBody>
          <a:bodyPr wrap="square" rtlCol="0" anchor="ctr"/>
          <a:lstStyle/>
          <a:p>
            <a:pPr marL="285750" indent="-285750">
              <a:lnSpc>
                <a:spcPct val="150000"/>
              </a:lnSpc>
              <a:buFont typeface="Arial" panose="020B0604020202020204" pitchFamily="34" charset="0"/>
              <a:buChar char="•"/>
            </a:pPr>
            <a:r>
              <a:rPr lang="pt-BR" sz="2000" dirty="0"/>
              <a:t>Livro digital baseado em notas didáticas Helena Reis e Anderson Marcolino (2026)</a:t>
            </a:r>
          </a:p>
          <a:p>
            <a:pPr marL="285750" indent="-285750">
              <a:lnSpc>
                <a:spcPct val="150000"/>
              </a:lnSpc>
              <a:buFont typeface="Arial" panose="020B0604020202020204" pitchFamily="34" charset="0"/>
              <a:buChar char="•"/>
            </a:pPr>
            <a:r>
              <a:rPr lang="pt-BR" sz="2000" dirty="0"/>
              <a:t>Livro voltado à lógica com foco em Ciência de Dados e IA</a:t>
            </a:r>
          </a:p>
          <a:p>
            <a:pPr marL="285750" indent="-285750">
              <a:lnSpc>
                <a:spcPct val="150000"/>
              </a:lnSpc>
              <a:buFont typeface="Arial" panose="020B0604020202020204" pitchFamily="34" charset="0"/>
              <a:buChar char="•"/>
            </a:pPr>
            <a:r>
              <a:rPr lang="pt-BR" sz="2000" dirty="0"/>
              <a:t>Lógica como ferramenta para estruturar pensamento e resolver problemas</a:t>
            </a:r>
          </a:p>
          <a:p>
            <a:pPr marL="285750" indent="-285750">
              <a:lnSpc>
                <a:spcPct val="150000"/>
              </a:lnSpc>
              <a:buFont typeface="Arial" panose="020B0604020202020204" pitchFamily="34" charset="0"/>
              <a:buChar char="•"/>
            </a:pPr>
            <a:r>
              <a:rPr lang="pt-BR" sz="2000" dirty="0"/>
              <a:t>Integra fundamentos teóricos com exemplos práticos</a:t>
            </a:r>
          </a:p>
          <a:p>
            <a:pPr marL="285750" indent="-285750">
              <a:lnSpc>
                <a:spcPct val="150000"/>
              </a:lnSpc>
              <a:buFont typeface="Arial" panose="020B0604020202020204" pitchFamily="34" charset="0"/>
              <a:buChar char="•"/>
            </a:pPr>
            <a:r>
              <a:rPr lang="pt-BR" sz="2000" dirty="0"/>
              <a:t>Abordagem acessível, do básico ao avançado</a:t>
            </a:r>
          </a:p>
          <a:p>
            <a:pPr marL="285750" indent="-285750">
              <a:lnSpc>
                <a:spcPct val="150000"/>
              </a:lnSpc>
              <a:buFont typeface="Arial" panose="020B0604020202020204" pitchFamily="34" charset="0"/>
              <a:buChar char="•"/>
            </a:pPr>
            <a:r>
              <a:rPr lang="pt-BR" sz="2000" dirty="0"/>
              <a:t>Aplicações em validação, modelagem e interpretação de dados</a:t>
            </a:r>
          </a:p>
        </p:txBody>
      </p:sp>
      <p:pic>
        <p:nvPicPr>
          <p:cNvPr id="11" name="Imagem 10">
            <a:extLst>
              <a:ext uri="{FF2B5EF4-FFF2-40B4-BE49-F238E27FC236}">
                <a16:creationId xmlns:a16="http://schemas.microsoft.com/office/drawing/2014/main" id="{F71DCE0D-D059-39AE-4471-7BD7B54B1303}"/>
              </a:ext>
            </a:extLst>
          </p:cNvPr>
          <p:cNvPicPr>
            <a:picLocks noChangeAspect="1"/>
          </p:cNvPicPr>
          <p:nvPr/>
        </p:nvPicPr>
        <p:blipFill>
          <a:blip r:embed="rId3"/>
          <a:srcRect l="25476" t="1333" r="26640" b="3890"/>
          <a:stretch>
            <a:fillRect/>
          </a:stretch>
        </p:blipFill>
        <p:spPr>
          <a:xfrm>
            <a:off x="8509000" y="1760220"/>
            <a:ext cx="3022599" cy="4259555"/>
          </a:xfrm>
          <a:prstGeom prst="rect">
            <a:avLst/>
          </a:prstGeom>
        </p:spPr>
      </p:pic>
    </p:spTree>
    <p:extLst>
      <p:ext uri="{BB962C8B-B14F-4D97-AF65-F5344CB8AC3E}">
        <p14:creationId xmlns:p14="http://schemas.microsoft.com/office/powerpoint/2010/main" val="13534124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02 / 14</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PERGUNTA</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1 · Introdução</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O que é raciocinar?</a:t>
            </a:r>
            <a:endParaRPr lang="en-US" sz="3600" dirty="0"/>
          </a:p>
        </p:txBody>
      </p:sp>
      <p:sp>
        <p:nvSpPr>
          <p:cNvPr id="9" name="Text 7"/>
          <p:cNvSpPr/>
          <p:nvPr/>
        </p:nvSpPr>
        <p:spPr>
          <a:xfrm>
            <a:off x="502920" y="1554480"/>
            <a:ext cx="11185855" cy="457200"/>
          </a:xfrm>
          <a:prstGeom prst="rect">
            <a:avLst/>
          </a:prstGeom>
          <a:noFill/>
          <a:ln/>
        </p:spPr>
        <p:txBody>
          <a:bodyPr wrap="square" rtlCol="0" anchor="ctr"/>
          <a:lstStyle/>
          <a:p>
            <a:pPr marL="0" indent="0">
              <a:buNone/>
            </a:pPr>
            <a:r>
              <a:rPr lang="en-US" sz="1600" i="1" dirty="0">
                <a:solidFill>
                  <a:srgbClr val="2A3550"/>
                </a:solidFill>
                <a:latin typeface="Merriweather" pitchFamily="34" charset="0"/>
                <a:ea typeface="Merriweather" pitchFamily="34" charset="-122"/>
                <a:cs typeface="Merriweather" pitchFamily="34" charset="-120"/>
              </a:rPr>
              <a:t>Tirar conclusões a partir do que já se sabe.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03 / 14</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SENTENÇAS LÓGICAS</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1 · Introdução</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O que é uma sentença lógica?</a:t>
            </a:r>
            <a:endParaRPr lang="en-US" sz="3600" dirty="0"/>
          </a:p>
        </p:txBody>
      </p:sp>
      <p:sp>
        <p:nvSpPr>
          <p:cNvPr id="9" name="Text 7"/>
          <p:cNvSpPr/>
          <p:nvPr/>
        </p:nvSpPr>
        <p:spPr>
          <a:xfrm>
            <a:off x="1097280" y="2286000"/>
            <a:ext cx="9997135" cy="3200400"/>
          </a:xfrm>
          <a:prstGeom prst="rect">
            <a:avLst/>
          </a:prstGeom>
          <a:noFill/>
          <a:ln/>
        </p:spPr>
        <p:txBody>
          <a:bodyPr wrap="square" rtlCol="0" anchor="t"/>
          <a:lstStyle/>
          <a:p>
            <a:pPr marL="342900" indent="-342900">
              <a:lnSpc>
                <a:spcPct val="130000"/>
              </a:lnSpc>
              <a:spcAft>
                <a:spcPts val="1000"/>
              </a:spcAft>
              <a:buSzPct val="100000"/>
              <a:buChar char="●"/>
            </a:pPr>
            <a:r>
              <a:rPr lang="en-US" sz="1800" dirty="0">
                <a:solidFill>
                  <a:srgbClr val="374151"/>
                </a:solidFill>
                <a:latin typeface="Merriweather" pitchFamily="34" charset="0"/>
                <a:ea typeface="Merriweather" pitchFamily="34" charset="-122"/>
                <a:cs typeface="Merriweather" pitchFamily="34" charset="-120"/>
              </a:rPr>
              <a:t>Afirma algo verdadeiro ou falso</a:t>
            </a:r>
            <a:endParaRPr lang="en-US" sz="1800" dirty="0"/>
          </a:p>
          <a:p>
            <a:pPr marL="342900" indent="-342900">
              <a:lnSpc>
                <a:spcPct val="130000"/>
              </a:lnSpc>
              <a:spcAft>
                <a:spcPts val="1000"/>
              </a:spcAft>
              <a:buSzPct val="100000"/>
              <a:buChar char="●"/>
            </a:pPr>
            <a:r>
              <a:rPr lang="en-US" sz="1800" dirty="0">
                <a:solidFill>
                  <a:srgbClr val="374151"/>
                </a:solidFill>
                <a:latin typeface="Merriweather" pitchFamily="34" charset="0"/>
                <a:ea typeface="Merriweather" pitchFamily="34" charset="-122"/>
                <a:cs typeface="Merriweather" pitchFamily="34" charset="-120"/>
              </a:rPr>
              <a:t>Não é pergunta nem ordem</a:t>
            </a:r>
            <a:endParaRPr lang="en-US" sz="1800" dirty="0"/>
          </a:p>
          <a:p>
            <a:pPr marL="342900" indent="-342900">
              <a:lnSpc>
                <a:spcPct val="130000"/>
              </a:lnSpc>
              <a:spcAft>
                <a:spcPts val="1000"/>
              </a:spcAft>
              <a:buSzPct val="100000"/>
              <a:buChar char="●"/>
            </a:pPr>
            <a:r>
              <a:rPr lang="en-US" sz="1800" dirty="0">
                <a:solidFill>
                  <a:srgbClr val="374151"/>
                </a:solidFill>
                <a:latin typeface="Merriweather" pitchFamily="34" charset="0"/>
                <a:ea typeface="Merriweather" pitchFamily="34" charset="-122"/>
                <a:cs typeface="Merriweather" pitchFamily="34" charset="-120"/>
              </a:rPr>
              <a:t>Unidade mínima do raciocínio formal</a:t>
            </a:r>
            <a:endParaRPr lang="en-US" sz="1800" dirty="0"/>
          </a:p>
          <a:p>
            <a:pPr marL="342900" indent="-342900">
              <a:lnSpc>
                <a:spcPct val="130000"/>
              </a:lnSpc>
              <a:spcAft>
                <a:spcPts val="1000"/>
              </a:spcAft>
              <a:buSzPct val="100000"/>
              <a:buChar char="●"/>
            </a:pPr>
            <a:r>
              <a:rPr lang="en-US" sz="1800" dirty="0">
                <a:solidFill>
                  <a:srgbClr val="374151"/>
                </a:solidFill>
                <a:latin typeface="Merriweather" pitchFamily="34" charset="0"/>
                <a:ea typeface="Merriweather" pitchFamily="34" charset="-122"/>
                <a:cs typeface="Merriweather" pitchFamily="34" charset="-120"/>
              </a:rPr>
              <a:t>Exemplo: "o aluno acertou a questão"</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04 / 14</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TIPOS DE SENTENÇA</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1 · Introdução</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Três níveis de complexidade</a:t>
            </a:r>
            <a:endParaRPr lang="en-US" sz="3600" dirty="0"/>
          </a:p>
        </p:txBody>
      </p:sp>
      <p:sp>
        <p:nvSpPr>
          <p:cNvPr id="9" name="Shape 7"/>
          <p:cNvSpPr/>
          <p:nvPr/>
        </p:nvSpPr>
        <p:spPr>
          <a:xfrm>
            <a:off x="502920" y="2194560"/>
            <a:ext cx="3576218" cy="2011680"/>
          </a:xfrm>
          <a:prstGeom prst="rect">
            <a:avLst/>
          </a:prstGeom>
          <a:solidFill>
            <a:srgbClr val="FFFFFF"/>
          </a:solidFill>
          <a:ln w="9525">
            <a:solidFill>
              <a:srgbClr val="CBBFA3"/>
            </a:solidFill>
            <a:prstDash val="solid"/>
          </a:ln>
        </p:spPr>
      </p:sp>
      <p:sp>
        <p:nvSpPr>
          <p:cNvPr id="10" name="Text 8"/>
          <p:cNvSpPr/>
          <p:nvPr/>
        </p:nvSpPr>
        <p:spPr>
          <a:xfrm>
            <a:off x="685800"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ATÔMICA</a:t>
            </a:r>
            <a:endParaRPr lang="en-US" sz="900" dirty="0"/>
          </a:p>
        </p:txBody>
      </p:sp>
      <p:sp>
        <p:nvSpPr>
          <p:cNvPr id="11" name="Text 9"/>
          <p:cNvSpPr/>
          <p:nvPr/>
        </p:nvSpPr>
        <p:spPr>
          <a:xfrm>
            <a:off x="685800"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chove</a:t>
            </a:r>
            <a:endParaRPr lang="en-US" sz="1800" dirty="0"/>
          </a:p>
        </p:txBody>
      </p:sp>
      <p:sp>
        <p:nvSpPr>
          <p:cNvPr id="12" name="Text 10"/>
          <p:cNvSpPr/>
          <p:nvPr/>
        </p:nvSpPr>
        <p:spPr>
          <a:xfrm>
            <a:off x="685800"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Proposição simples, indivisível.</a:t>
            </a:r>
            <a:endParaRPr lang="en-US" sz="1300" dirty="0"/>
          </a:p>
        </p:txBody>
      </p:sp>
      <p:sp>
        <p:nvSpPr>
          <p:cNvPr id="13" name="Shape 11"/>
          <p:cNvSpPr/>
          <p:nvPr/>
        </p:nvSpPr>
        <p:spPr>
          <a:xfrm>
            <a:off x="4307738" y="2194560"/>
            <a:ext cx="3576218" cy="2011680"/>
          </a:xfrm>
          <a:prstGeom prst="rect">
            <a:avLst/>
          </a:prstGeom>
          <a:solidFill>
            <a:srgbClr val="FFFFFF"/>
          </a:solidFill>
          <a:ln w="9525">
            <a:solidFill>
              <a:srgbClr val="CBBFA3"/>
            </a:solidFill>
            <a:prstDash val="solid"/>
          </a:ln>
        </p:spPr>
      </p:sp>
      <p:sp>
        <p:nvSpPr>
          <p:cNvPr id="14" name="Text 12"/>
          <p:cNvSpPr/>
          <p:nvPr/>
        </p:nvSpPr>
        <p:spPr>
          <a:xfrm>
            <a:off x="4490618"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COMPOSTA</a:t>
            </a:r>
            <a:endParaRPr lang="en-US" sz="900" dirty="0"/>
          </a:p>
        </p:txBody>
      </p:sp>
      <p:sp>
        <p:nvSpPr>
          <p:cNvPr id="15" name="Text 13"/>
          <p:cNvSpPr/>
          <p:nvPr/>
        </p:nvSpPr>
        <p:spPr>
          <a:xfrm>
            <a:off x="4490618"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chove ∧ frio</a:t>
            </a:r>
            <a:endParaRPr lang="en-US" sz="1800" dirty="0"/>
          </a:p>
        </p:txBody>
      </p:sp>
      <p:sp>
        <p:nvSpPr>
          <p:cNvPr id="16" name="Text 14"/>
          <p:cNvSpPr/>
          <p:nvPr/>
        </p:nvSpPr>
        <p:spPr>
          <a:xfrm>
            <a:off x="4490618"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Combina átomos com conectivos.</a:t>
            </a:r>
            <a:endParaRPr lang="en-US" sz="1300" dirty="0"/>
          </a:p>
        </p:txBody>
      </p:sp>
      <p:sp>
        <p:nvSpPr>
          <p:cNvPr id="17" name="Shape 15"/>
          <p:cNvSpPr/>
          <p:nvPr/>
        </p:nvSpPr>
        <p:spPr>
          <a:xfrm>
            <a:off x="8112557" y="2194560"/>
            <a:ext cx="3576218" cy="2011680"/>
          </a:xfrm>
          <a:prstGeom prst="rect">
            <a:avLst/>
          </a:prstGeom>
          <a:solidFill>
            <a:srgbClr val="FFFFFF"/>
          </a:solidFill>
          <a:ln w="9525">
            <a:solidFill>
              <a:srgbClr val="CBBFA3"/>
            </a:solidFill>
            <a:prstDash val="solid"/>
          </a:ln>
        </p:spPr>
      </p:sp>
      <p:sp>
        <p:nvSpPr>
          <p:cNvPr id="18" name="Text 16"/>
          <p:cNvSpPr/>
          <p:nvPr/>
        </p:nvSpPr>
        <p:spPr>
          <a:xfrm>
            <a:off x="8295437"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QUANTIFICADA</a:t>
            </a:r>
            <a:endParaRPr lang="en-US" sz="900" dirty="0"/>
          </a:p>
        </p:txBody>
      </p:sp>
      <p:sp>
        <p:nvSpPr>
          <p:cNvPr id="19" name="Text 17"/>
          <p:cNvSpPr/>
          <p:nvPr/>
        </p:nvSpPr>
        <p:spPr>
          <a:xfrm>
            <a:off x="8295437"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∀x P(x)</a:t>
            </a:r>
            <a:endParaRPr lang="en-US" sz="1800" dirty="0"/>
          </a:p>
        </p:txBody>
      </p:sp>
      <p:sp>
        <p:nvSpPr>
          <p:cNvPr id="20" name="Text 18"/>
          <p:cNvSpPr/>
          <p:nvPr/>
        </p:nvSpPr>
        <p:spPr>
          <a:xfrm>
            <a:off x="8295437"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Fala sobre todos ou alguns objetos.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05 / 14</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CONECTIVOS</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1 · Introdução</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Cinco operadores fundamentais</a:t>
            </a:r>
            <a:endParaRPr lang="en-US" sz="3600" dirty="0"/>
          </a:p>
        </p:txBody>
      </p:sp>
      <p:sp>
        <p:nvSpPr>
          <p:cNvPr id="9" name="Shape 7"/>
          <p:cNvSpPr/>
          <p:nvPr/>
        </p:nvSpPr>
        <p:spPr>
          <a:xfrm>
            <a:off x="1981048" y="2377440"/>
            <a:ext cx="8229600" cy="1371600"/>
          </a:xfrm>
          <a:prstGeom prst="rect">
            <a:avLst/>
          </a:prstGeom>
          <a:solidFill>
            <a:srgbClr val="FFFFFF"/>
          </a:solidFill>
          <a:ln w="12700">
            <a:solidFill>
              <a:srgbClr val="CBBFA3"/>
            </a:solidFill>
            <a:prstDash val="solid"/>
          </a:ln>
        </p:spPr>
      </p:sp>
      <p:sp>
        <p:nvSpPr>
          <p:cNvPr id="10" name="Shape 8"/>
          <p:cNvSpPr/>
          <p:nvPr/>
        </p:nvSpPr>
        <p:spPr>
          <a:xfrm>
            <a:off x="1981048" y="2377440"/>
            <a:ext cx="64008" cy="1371600"/>
          </a:xfrm>
          <a:prstGeom prst="rect">
            <a:avLst/>
          </a:prstGeom>
          <a:solidFill>
            <a:srgbClr val="E07A1F"/>
          </a:solidFill>
          <a:ln w="12700">
            <a:solidFill>
              <a:srgbClr val="E07A1F"/>
            </a:solidFill>
            <a:prstDash val="solid"/>
          </a:ln>
        </p:spPr>
      </p:sp>
      <p:sp>
        <p:nvSpPr>
          <p:cNvPr id="11" name="Text 9"/>
          <p:cNvSpPr/>
          <p:nvPr/>
        </p:nvSpPr>
        <p:spPr>
          <a:xfrm>
            <a:off x="2163928" y="2377440"/>
            <a:ext cx="7955280" cy="1371600"/>
          </a:xfrm>
          <a:prstGeom prst="rect">
            <a:avLst/>
          </a:prstGeom>
          <a:noFill/>
          <a:ln/>
        </p:spPr>
        <p:txBody>
          <a:bodyPr wrap="square" rtlCol="0" anchor="ctr"/>
          <a:lstStyle/>
          <a:p>
            <a:pPr marL="0" indent="0" algn="ctr">
              <a:buNone/>
            </a:pPr>
            <a:r>
              <a:rPr lang="en-US" sz="2800" dirty="0">
                <a:solidFill>
                  <a:srgbClr val="1A2238"/>
                </a:solidFill>
                <a:latin typeface="Cambria" pitchFamily="34" charset="0"/>
                <a:ea typeface="Cambria" pitchFamily="34" charset="-122"/>
                <a:cs typeface="Cambria" pitchFamily="34" charset="-120"/>
              </a:rPr>
              <a:t>¬   ∧   ∨   ⇒   ⇔</a:t>
            </a:r>
            <a:endParaRPr lang="en-US" sz="2800" dirty="0"/>
          </a:p>
        </p:txBody>
      </p:sp>
      <p:sp>
        <p:nvSpPr>
          <p:cNvPr id="12" name="Text 10"/>
          <p:cNvSpPr/>
          <p:nvPr/>
        </p:nvSpPr>
        <p:spPr>
          <a:xfrm>
            <a:off x="502920" y="3840480"/>
            <a:ext cx="11185855" cy="365760"/>
          </a:xfrm>
          <a:prstGeom prst="rect">
            <a:avLst/>
          </a:prstGeom>
          <a:noFill/>
          <a:ln/>
        </p:spPr>
        <p:txBody>
          <a:bodyPr wrap="square" rtlCol="0" anchor="ctr"/>
          <a:lstStyle/>
          <a:p>
            <a:pPr marL="0" indent="0" algn="ctr">
              <a:buNone/>
            </a:pPr>
            <a:r>
              <a:rPr lang="en-US" sz="1200" i="1" dirty="0">
                <a:solidFill>
                  <a:srgbClr val="6B6452"/>
                </a:solidFill>
                <a:latin typeface="Source Sans 3" pitchFamily="34" charset="0"/>
                <a:ea typeface="Source Sans 3" pitchFamily="34" charset="-122"/>
                <a:cs typeface="Source Sans 3" pitchFamily="34" charset="-120"/>
              </a:rPr>
              <a:t>negação · conjunção · disjunção · implicação · bicondicional</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06 / 14</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CONSEQUÊNCIA LÓGICA</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1 · Introdução</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A definição central</a:t>
            </a:r>
            <a:endParaRPr lang="en-US" sz="3600" dirty="0"/>
          </a:p>
        </p:txBody>
      </p:sp>
      <p:sp>
        <p:nvSpPr>
          <p:cNvPr id="9" name="Shape 7"/>
          <p:cNvSpPr/>
          <p:nvPr/>
        </p:nvSpPr>
        <p:spPr>
          <a:xfrm>
            <a:off x="1981048" y="2377440"/>
            <a:ext cx="8229600" cy="1371600"/>
          </a:xfrm>
          <a:prstGeom prst="rect">
            <a:avLst/>
          </a:prstGeom>
          <a:solidFill>
            <a:srgbClr val="FFFFFF"/>
          </a:solidFill>
          <a:ln w="12700">
            <a:solidFill>
              <a:srgbClr val="CBBFA3"/>
            </a:solidFill>
            <a:prstDash val="solid"/>
          </a:ln>
        </p:spPr>
      </p:sp>
      <p:sp>
        <p:nvSpPr>
          <p:cNvPr id="10" name="Shape 8"/>
          <p:cNvSpPr/>
          <p:nvPr/>
        </p:nvSpPr>
        <p:spPr>
          <a:xfrm>
            <a:off x="1981048" y="2377440"/>
            <a:ext cx="64008" cy="1371600"/>
          </a:xfrm>
          <a:prstGeom prst="rect">
            <a:avLst/>
          </a:prstGeom>
          <a:solidFill>
            <a:srgbClr val="E07A1F"/>
          </a:solidFill>
          <a:ln w="12700">
            <a:solidFill>
              <a:srgbClr val="E07A1F"/>
            </a:solidFill>
            <a:prstDash val="solid"/>
          </a:ln>
        </p:spPr>
      </p:sp>
      <p:sp>
        <p:nvSpPr>
          <p:cNvPr id="11" name="Text 9"/>
          <p:cNvSpPr/>
          <p:nvPr/>
        </p:nvSpPr>
        <p:spPr>
          <a:xfrm>
            <a:off x="2163928" y="2377440"/>
            <a:ext cx="7955280" cy="1371600"/>
          </a:xfrm>
          <a:prstGeom prst="rect">
            <a:avLst/>
          </a:prstGeom>
          <a:noFill/>
          <a:ln/>
        </p:spPr>
        <p:txBody>
          <a:bodyPr wrap="square" rtlCol="0" anchor="ctr"/>
          <a:lstStyle/>
          <a:p>
            <a:pPr marL="0" indent="0" algn="ctr">
              <a:buNone/>
            </a:pPr>
            <a:r>
              <a:rPr lang="en-US" sz="2800" dirty="0">
                <a:solidFill>
                  <a:srgbClr val="1A2238"/>
                </a:solidFill>
                <a:latin typeface="Cambria" pitchFamily="34" charset="0"/>
                <a:ea typeface="Cambria" pitchFamily="34" charset="-122"/>
                <a:cs typeface="Cambria" pitchFamily="34" charset="-120"/>
              </a:rPr>
              <a:t>Δ ⊨ ψ</a:t>
            </a:r>
            <a:endParaRPr lang="en-US" sz="2800" dirty="0"/>
          </a:p>
        </p:txBody>
      </p:sp>
      <p:sp>
        <p:nvSpPr>
          <p:cNvPr id="12" name="Text 10"/>
          <p:cNvSpPr/>
          <p:nvPr/>
        </p:nvSpPr>
        <p:spPr>
          <a:xfrm>
            <a:off x="502920" y="3840480"/>
            <a:ext cx="11185855" cy="365760"/>
          </a:xfrm>
          <a:prstGeom prst="rect">
            <a:avLst/>
          </a:prstGeom>
          <a:noFill/>
          <a:ln/>
        </p:spPr>
        <p:txBody>
          <a:bodyPr wrap="square" rtlCol="0" anchor="ctr"/>
          <a:lstStyle/>
          <a:p>
            <a:pPr marL="0" indent="0" algn="ctr">
              <a:buNone/>
            </a:pPr>
            <a:r>
              <a:rPr lang="en-US" sz="1200" i="1" dirty="0">
                <a:solidFill>
                  <a:srgbClr val="6B6452"/>
                </a:solidFill>
                <a:latin typeface="Source Sans 3" pitchFamily="34" charset="0"/>
                <a:ea typeface="Source Sans 3" pitchFamily="34" charset="-122"/>
                <a:cs typeface="Source Sans 3" pitchFamily="34" charset="-120"/>
              </a:rPr>
              <a:t>Toda situação que torna Δ verdadeiro também torna ψ verdadeiro</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07 / 14</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EXEMPLO CLÁSSICO</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1 · Introdução</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Modus Ponens</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895448" y="2103120"/>
          <a:ext cx="6400800" cy="1920240"/>
        </p:xfrm>
        <a:graphic>
          <a:graphicData uri="http://schemas.openxmlformats.org/drawingml/2006/table">
            <a:tbl>
              <a:tblPr/>
              <a:tblGrid>
                <a:gridCol w="1280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384048">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p</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q</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p ⇒ q</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p</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q</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extLst>
                  <a:ext uri="{0D108BD9-81ED-4DB2-BD59-A6C34878D82A}">
                    <a16:rowId xmlns:a16="http://schemas.microsoft.com/office/drawing/2014/main" val="10000"/>
                  </a:ext>
                </a:extLst>
              </a:tr>
              <a:tr h="384048">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extLst>
                  <a:ext uri="{0D108BD9-81ED-4DB2-BD59-A6C34878D82A}">
                    <a16:rowId xmlns:a16="http://schemas.microsoft.com/office/drawing/2014/main" val="10001"/>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0" name="Text 7"/>
          <p:cNvSpPr/>
          <p:nvPr/>
        </p:nvSpPr>
        <p:spPr>
          <a:xfrm>
            <a:off x="2895448" y="4069080"/>
            <a:ext cx="6400800" cy="274320"/>
          </a:xfrm>
          <a:prstGeom prst="rect">
            <a:avLst/>
          </a:prstGeom>
          <a:noFill/>
          <a:ln/>
        </p:spPr>
        <p:txBody>
          <a:bodyPr wrap="square" rtlCol="0" anchor="ctr"/>
          <a:lstStyle/>
          <a:p>
            <a:pPr marL="0" indent="0" algn="ctr">
              <a:buNone/>
            </a:pPr>
            <a:r>
              <a:rPr lang="en-US" sz="1000" i="1" dirty="0">
                <a:solidFill>
                  <a:srgbClr val="6B6452"/>
                </a:solidFill>
                <a:latin typeface="Source Sans 3" pitchFamily="34" charset="0"/>
                <a:ea typeface="Source Sans 3" pitchFamily="34" charset="-122"/>
                <a:cs typeface="Source Sans 3" pitchFamily="34" charset="-120"/>
              </a:rPr>
              <a:t>Linha verde: única em que ambas premissas valem — conclusão também vale.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08 / 14</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DEMONSTRAÇÕES</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1 · Introdução</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Provar = encadear regras</a:t>
            </a:r>
            <a:endParaRPr lang="en-US" sz="3600" dirty="0"/>
          </a:p>
        </p:txBody>
      </p:sp>
      <p:sp>
        <p:nvSpPr>
          <p:cNvPr id="9" name="Text 7"/>
          <p:cNvSpPr/>
          <p:nvPr/>
        </p:nvSpPr>
        <p:spPr>
          <a:xfrm>
            <a:off x="502920" y="1554480"/>
            <a:ext cx="11185855" cy="457200"/>
          </a:xfrm>
          <a:prstGeom prst="rect">
            <a:avLst/>
          </a:prstGeom>
          <a:noFill/>
          <a:ln/>
        </p:spPr>
        <p:txBody>
          <a:bodyPr wrap="square" rtlCol="0" anchor="ctr"/>
          <a:lstStyle/>
          <a:p>
            <a:pPr marL="0" indent="0">
              <a:buNone/>
            </a:pPr>
            <a:r>
              <a:rPr lang="en-US" sz="1600" i="1" dirty="0">
                <a:solidFill>
                  <a:srgbClr val="2A3550"/>
                </a:solidFill>
                <a:latin typeface="Merriweather" pitchFamily="34" charset="0"/>
                <a:ea typeface="Merriweather" pitchFamily="34" charset="-122"/>
                <a:cs typeface="Merriweather" pitchFamily="34" charset="-120"/>
              </a:rPr>
              <a:t>Cada passo é justificado por uma regra de inferência aceita</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09 / 14</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LÓGICA SIMBÓLICA</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1 · Introdução</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Por que usar símbolos?</a:t>
            </a:r>
            <a:endParaRPr lang="en-US" sz="3600" dirty="0"/>
          </a:p>
        </p:txBody>
      </p:sp>
      <p:sp>
        <p:nvSpPr>
          <p:cNvPr id="9" name="Shape 7"/>
          <p:cNvSpPr/>
          <p:nvPr/>
        </p:nvSpPr>
        <p:spPr>
          <a:xfrm>
            <a:off x="502920" y="2194560"/>
            <a:ext cx="3576218" cy="2011680"/>
          </a:xfrm>
          <a:prstGeom prst="rect">
            <a:avLst/>
          </a:prstGeom>
          <a:solidFill>
            <a:srgbClr val="FFFFFF"/>
          </a:solidFill>
          <a:ln w="9525">
            <a:solidFill>
              <a:srgbClr val="CBBFA3"/>
            </a:solidFill>
            <a:prstDash val="solid"/>
          </a:ln>
        </p:spPr>
      </p:sp>
      <p:sp>
        <p:nvSpPr>
          <p:cNvPr id="10" name="Text 8"/>
          <p:cNvSpPr/>
          <p:nvPr/>
        </p:nvSpPr>
        <p:spPr>
          <a:xfrm>
            <a:off x="685800"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PRECISÃO</a:t>
            </a:r>
            <a:endParaRPr lang="en-US" sz="900" dirty="0"/>
          </a:p>
        </p:txBody>
      </p:sp>
      <p:sp>
        <p:nvSpPr>
          <p:cNvPr id="11" name="Text 9"/>
          <p:cNvSpPr/>
          <p:nvPr/>
        </p:nvSpPr>
        <p:spPr>
          <a:xfrm>
            <a:off x="685800"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Sem ambiguidade</a:t>
            </a:r>
            <a:endParaRPr lang="en-US" sz="1800" dirty="0"/>
          </a:p>
        </p:txBody>
      </p:sp>
      <p:sp>
        <p:nvSpPr>
          <p:cNvPr id="12" name="Text 10"/>
          <p:cNvSpPr/>
          <p:nvPr/>
        </p:nvSpPr>
        <p:spPr>
          <a:xfrm>
            <a:off x="685800"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Linguagem natural confunde; símbolos não.</a:t>
            </a:r>
            <a:endParaRPr lang="en-US" sz="1300" dirty="0"/>
          </a:p>
        </p:txBody>
      </p:sp>
      <p:sp>
        <p:nvSpPr>
          <p:cNvPr id="13" name="Shape 11"/>
          <p:cNvSpPr/>
          <p:nvPr/>
        </p:nvSpPr>
        <p:spPr>
          <a:xfrm>
            <a:off x="4307738" y="2194560"/>
            <a:ext cx="3576218" cy="2011680"/>
          </a:xfrm>
          <a:prstGeom prst="rect">
            <a:avLst/>
          </a:prstGeom>
          <a:solidFill>
            <a:srgbClr val="FFFFFF"/>
          </a:solidFill>
          <a:ln w="9525">
            <a:solidFill>
              <a:srgbClr val="CBBFA3"/>
            </a:solidFill>
            <a:prstDash val="solid"/>
          </a:ln>
        </p:spPr>
      </p:sp>
      <p:sp>
        <p:nvSpPr>
          <p:cNvPr id="14" name="Text 12"/>
          <p:cNvSpPr/>
          <p:nvPr/>
        </p:nvSpPr>
        <p:spPr>
          <a:xfrm>
            <a:off x="4490618"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CONCISÃO</a:t>
            </a:r>
            <a:endParaRPr lang="en-US" sz="900" dirty="0"/>
          </a:p>
        </p:txBody>
      </p:sp>
      <p:sp>
        <p:nvSpPr>
          <p:cNvPr id="15" name="Text 13"/>
          <p:cNvSpPr/>
          <p:nvPr/>
        </p:nvSpPr>
        <p:spPr>
          <a:xfrm>
            <a:off x="4490618"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Mais com menos</a:t>
            </a:r>
            <a:endParaRPr lang="en-US" sz="1800" dirty="0"/>
          </a:p>
        </p:txBody>
      </p:sp>
      <p:sp>
        <p:nvSpPr>
          <p:cNvPr id="16" name="Text 14"/>
          <p:cNvSpPr/>
          <p:nvPr/>
        </p:nvSpPr>
        <p:spPr>
          <a:xfrm>
            <a:off x="4490618"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Uma fórmula resume parágrafos.</a:t>
            </a:r>
            <a:endParaRPr lang="en-US" sz="1300" dirty="0"/>
          </a:p>
        </p:txBody>
      </p:sp>
      <p:sp>
        <p:nvSpPr>
          <p:cNvPr id="17" name="Shape 15"/>
          <p:cNvSpPr/>
          <p:nvPr/>
        </p:nvSpPr>
        <p:spPr>
          <a:xfrm>
            <a:off x="8112557" y="2194560"/>
            <a:ext cx="3576218" cy="2011680"/>
          </a:xfrm>
          <a:prstGeom prst="rect">
            <a:avLst/>
          </a:prstGeom>
          <a:solidFill>
            <a:srgbClr val="FFFFFF"/>
          </a:solidFill>
          <a:ln w="9525">
            <a:solidFill>
              <a:srgbClr val="CBBFA3"/>
            </a:solidFill>
            <a:prstDash val="solid"/>
          </a:ln>
        </p:spPr>
      </p:sp>
      <p:sp>
        <p:nvSpPr>
          <p:cNvPr id="18" name="Text 16"/>
          <p:cNvSpPr/>
          <p:nvPr/>
        </p:nvSpPr>
        <p:spPr>
          <a:xfrm>
            <a:off x="8295437"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MECANIZAÇÃO</a:t>
            </a:r>
            <a:endParaRPr lang="en-US" sz="900" dirty="0"/>
          </a:p>
        </p:txBody>
      </p:sp>
      <p:sp>
        <p:nvSpPr>
          <p:cNvPr id="19" name="Text 17"/>
          <p:cNvSpPr/>
          <p:nvPr/>
        </p:nvSpPr>
        <p:spPr>
          <a:xfrm>
            <a:off x="8295437"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Máquinas leem</a:t>
            </a:r>
            <a:endParaRPr lang="en-US" sz="1800" dirty="0"/>
          </a:p>
        </p:txBody>
      </p:sp>
      <p:sp>
        <p:nvSpPr>
          <p:cNvPr id="20" name="Text 18"/>
          <p:cNvSpPr/>
          <p:nvPr/>
        </p:nvSpPr>
        <p:spPr>
          <a:xfrm>
            <a:off x="8295437"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Permite processamento automático.</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10 / 14</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AUTOMAÇÃO</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1 · Introdução</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Do raciocínio manual ao automático</a:t>
            </a:r>
            <a:endParaRPr lang="en-US" sz="3600" dirty="0"/>
          </a:p>
        </p:txBody>
      </p:sp>
      <p:sp>
        <p:nvSpPr>
          <p:cNvPr id="9" name="Text 7"/>
          <p:cNvSpPr/>
          <p:nvPr/>
        </p:nvSpPr>
        <p:spPr>
          <a:xfrm>
            <a:off x="502920" y="1554480"/>
            <a:ext cx="11185855" cy="457200"/>
          </a:xfrm>
          <a:prstGeom prst="rect">
            <a:avLst/>
          </a:prstGeom>
          <a:noFill/>
          <a:ln/>
        </p:spPr>
        <p:txBody>
          <a:bodyPr wrap="square" rtlCol="0" anchor="ctr"/>
          <a:lstStyle/>
          <a:p>
            <a:pPr marL="0" indent="0">
              <a:buNone/>
            </a:pPr>
            <a:r>
              <a:rPr lang="en-US" sz="1600" i="1" dirty="0">
                <a:solidFill>
                  <a:srgbClr val="2A3550"/>
                </a:solidFill>
                <a:latin typeface="Merriweather" pitchFamily="34" charset="0"/>
                <a:ea typeface="Merriweather" pitchFamily="34" charset="-122"/>
                <a:cs typeface="Merriweather" pitchFamily="34" charset="-120"/>
              </a:rPr>
              <a:t>SAT solvers, provadores e bases de conhecimento</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11 / 14</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ONDE APARECE?</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1 · Introdução</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Lógica × Ciência de Dados</a:t>
            </a:r>
            <a:endParaRPr lang="en-US" sz="3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1295248" y="2103120"/>
          <a:ext cx="9144000" cy="914400"/>
        </p:xfrm>
        <a:graphic>
          <a:graphicData uri="http://schemas.openxmlformats.org/drawingml/2006/table">
            <a:tbl>
              <a:tblPr/>
              <a:tblGrid>
                <a:gridCol w="45720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tblGrid>
              <a:tr h="384048">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Tarefa em CD</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Operação lógica subjacente</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extLst>
                  <a:ext uri="{0D108BD9-81ED-4DB2-BD59-A6C34878D82A}">
                    <a16:rowId xmlns:a16="http://schemas.microsoft.com/office/drawing/2014/main" val="10000"/>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Filtro SQL WHERE</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Conjunção e disjunção</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Regras de negócio</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Implicação e bicondicional</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Árvore de decisão</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Sequência de implicações</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Validação de dados</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Restrições satisfatíveis</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Sistemas especialistas</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Inferência por regras</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12 / 14</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GUIA DE LEITURA</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1 · Introdução</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O caminho do livro</a:t>
            </a:r>
            <a:endParaRPr lang="en-US" sz="3600" dirty="0"/>
          </a:p>
        </p:txBody>
      </p:sp>
      <p:sp>
        <p:nvSpPr>
          <p:cNvPr id="9" name="Shape 7"/>
          <p:cNvSpPr/>
          <p:nvPr/>
        </p:nvSpPr>
        <p:spPr>
          <a:xfrm>
            <a:off x="502920" y="2194560"/>
            <a:ext cx="3576218" cy="2011680"/>
          </a:xfrm>
          <a:prstGeom prst="rect">
            <a:avLst/>
          </a:prstGeom>
          <a:solidFill>
            <a:srgbClr val="FFFFFF"/>
          </a:solidFill>
          <a:ln w="9525">
            <a:solidFill>
              <a:srgbClr val="CBBFA3"/>
            </a:solidFill>
            <a:prstDash val="solid"/>
          </a:ln>
        </p:spPr>
      </p:sp>
      <p:sp>
        <p:nvSpPr>
          <p:cNvPr id="10" name="Text 8"/>
          <p:cNvSpPr/>
          <p:nvPr/>
        </p:nvSpPr>
        <p:spPr>
          <a:xfrm>
            <a:off x="685800"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CAPS. 2-3</a:t>
            </a:r>
            <a:endParaRPr lang="en-US" sz="900" dirty="0"/>
          </a:p>
        </p:txBody>
      </p:sp>
      <p:sp>
        <p:nvSpPr>
          <p:cNvPr id="11" name="Text 9"/>
          <p:cNvSpPr/>
          <p:nvPr/>
        </p:nvSpPr>
        <p:spPr>
          <a:xfrm>
            <a:off x="685800"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Proposicional</a:t>
            </a:r>
            <a:endParaRPr lang="en-US" sz="1800" dirty="0"/>
          </a:p>
        </p:txBody>
      </p:sp>
      <p:sp>
        <p:nvSpPr>
          <p:cNvPr id="12" name="Text 10"/>
          <p:cNvSpPr/>
          <p:nvPr/>
        </p:nvSpPr>
        <p:spPr>
          <a:xfrm>
            <a:off x="685800"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Sintaxe, semântica, prova.</a:t>
            </a:r>
            <a:endParaRPr lang="en-US" sz="1300" dirty="0"/>
          </a:p>
        </p:txBody>
      </p:sp>
      <p:sp>
        <p:nvSpPr>
          <p:cNvPr id="13" name="Shape 11"/>
          <p:cNvSpPr/>
          <p:nvPr/>
        </p:nvSpPr>
        <p:spPr>
          <a:xfrm>
            <a:off x="4307738" y="2194560"/>
            <a:ext cx="3576218" cy="2011680"/>
          </a:xfrm>
          <a:prstGeom prst="rect">
            <a:avLst/>
          </a:prstGeom>
          <a:solidFill>
            <a:srgbClr val="FFFFFF"/>
          </a:solidFill>
          <a:ln w="9525">
            <a:solidFill>
              <a:srgbClr val="CBBFA3"/>
            </a:solidFill>
            <a:prstDash val="solid"/>
          </a:ln>
        </p:spPr>
      </p:sp>
      <p:sp>
        <p:nvSpPr>
          <p:cNvPr id="14" name="Text 12"/>
          <p:cNvSpPr/>
          <p:nvPr/>
        </p:nvSpPr>
        <p:spPr>
          <a:xfrm>
            <a:off x="4490618"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CAPS. 4-5</a:t>
            </a:r>
            <a:endParaRPr lang="en-US" sz="900" dirty="0"/>
          </a:p>
        </p:txBody>
      </p:sp>
      <p:sp>
        <p:nvSpPr>
          <p:cNvPr id="15" name="Text 13"/>
          <p:cNvSpPr/>
          <p:nvPr/>
        </p:nvSpPr>
        <p:spPr>
          <a:xfrm>
            <a:off x="4490618"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Relacional</a:t>
            </a:r>
            <a:endParaRPr lang="en-US" sz="1800" dirty="0"/>
          </a:p>
        </p:txBody>
      </p:sp>
      <p:sp>
        <p:nvSpPr>
          <p:cNvPr id="16" name="Text 14"/>
          <p:cNvSpPr/>
          <p:nvPr/>
        </p:nvSpPr>
        <p:spPr>
          <a:xfrm>
            <a:off x="4490618"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Quantificadores e modelos.</a:t>
            </a:r>
            <a:endParaRPr lang="en-US" sz="1300" dirty="0"/>
          </a:p>
        </p:txBody>
      </p:sp>
      <p:sp>
        <p:nvSpPr>
          <p:cNvPr id="17" name="Shape 15"/>
          <p:cNvSpPr/>
          <p:nvPr/>
        </p:nvSpPr>
        <p:spPr>
          <a:xfrm>
            <a:off x="8112557" y="2194560"/>
            <a:ext cx="3576218" cy="2011680"/>
          </a:xfrm>
          <a:prstGeom prst="rect">
            <a:avLst/>
          </a:prstGeom>
          <a:solidFill>
            <a:srgbClr val="FFFFFF"/>
          </a:solidFill>
          <a:ln w="9525">
            <a:solidFill>
              <a:srgbClr val="CBBFA3"/>
            </a:solidFill>
            <a:prstDash val="solid"/>
          </a:ln>
        </p:spPr>
      </p:sp>
      <p:sp>
        <p:nvSpPr>
          <p:cNvPr id="18" name="Text 16"/>
          <p:cNvSpPr/>
          <p:nvPr/>
        </p:nvSpPr>
        <p:spPr>
          <a:xfrm>
            <a:off x="8295437"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CAP. 6</a:t>
            </a:r>
            <a:endParaRPr lang="en-US" sz="900" dirty="0"/>
          </a:p>
        </p:txBody>
      </p:sp>
      <p:sp>
        <p:nvSpPr>
          <p:cNvPr id="19" name="Text 17"/>
          <p:cNvSpPr/>
          <p:nvPr/>
        </p:nvSpPr>
        <p:spPr>
          <a:xfrm>
            <a:off x="8295437"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Resolução</a:t>
            </a:r>
            <a:endParaRPr lang="en-US" sz="1800" dirty="0"/>
          </a:p>
        </p:txBody>
      </p:sp>
      <p:sp>
        <p:nvSpPr>
          <p:cNvPr id="20" name="Text 18"/>
          <p:cNvSpPr/>
          <p:nvPr/>
        </p:nvSpPr>
        <p:spPr>
          <a:xfrm>
            <a:off x="8295437"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Refutação automática.</a:t>
            </a:r>
            <a:endParaRPr lang="en-US" sz="1300" dirty="0"/>
          </a:p>
        </p:txBody>
      </p:sp>
      <p:sp>
        <p:nvSpPr>
          <p:cNvPr id="21" name="Shape 19"/>
          <p:cNvSpPr/>
          <p:nvPr/>
        </p:nvSpPr>
        <p:spPr>
          <a:xfrm>
            <a:off x="502920" y="4434840"/>
            <a:ext cx="3576218" cy="2011680"/>
          </a:xfrm>
          <a:prstGeom prst="rect">
            <a:avLst/>
          </a:prstGeom>
          <a:solidFill>
            <a:srgbClr val="FFFFFF"/>
          </a:solidFill>
          <a:ln w="9525">
            <a:solidFill>
              <a:srgbClr val="CBBFA3"/>
            </a:solidFill>
            <a:prstDash val="solid"/>
          </a:ln>
        </p:spPr>
      </p:sp>
      <p:sp>
        <p:nvSpPr>
          <p:cNvPr id="22" name="Text 20"/>
          <p:cNvSpPr/>
          <p:nvPr/>
        </p:nvSpPr>
        <p:spPr>
          <a:xfrm>
            <a:off x="685800" y="457200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CAPS. 7-9</a:t>
            </a:r>
            <a:endParaRPr lang="en-US" sz="900" dirty="0"/>
          </a:p>
        </p:txBody>
      </p:sp>
      <p:sp>
        <p:nvSpPr>
          <p:cNvPr id="23" name="Text 21"/>
          <p:cNvSpPr/>
          <p:nvPr/>
        </p:nvSpPr>
        <p:spPr>
          <a:xfrm>
            <a:off x="685800" y="484632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Aplicações</a:t>
            </a:r>
            <a:endParaRPr lang="en-US" sz="1800" dirty="0"/>
          </a:p>
        </p:txBody>
      </p:sp>
      <p:sp>
        <p:nvSpPr>
          <p:cNvPr id="24" name="Text 22"/>
          <p:cNvSpPr/>
          <p:nvPr/>
        </p:nvSpPr>
        <p:spPr>
          <a:xfrm>
            <a:off x="685800" y="534924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IA simbólica, indução, lógicas modais.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13 / 14</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EXEMPLO PRÁTICO</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1 · Introdução</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Filtro SQL é lógica proposicional</a:t>
            </a:r>
            <a:endParaRPr lang="en-US" sz="3600" dirty="0"/>
          </a:p>
        </p:txBody>
      </p:sp>
      <p:sp>
        <p:nvSpPr>
          <p:cNvPr id="9" name="Shape 7"/>
          <p:cNvSpPr/>
          <p:nvPr/>
        </p:nvSpPr>
        <p:spPr>
          <a:xfrm>
            <a:off x="502920" y="1828800"/>
            <a:ext cx="11185855" cy="4206240"/>
          </a:xfrm>
          <a:prstGeom prst="rect">
            <a:avLst/>
          </a:prstGeom>
          <a:solidFill>
            <a:srgbClr val="1A2238"/>
          </a:solidFill>
          <a:ln w="12700">
            <a:solidFill>
              <a:srgbClr val="2A3550"/>
            </a:solidFill>
            <a:prstDash val="solid"/>
          </a:ln>
        </p:spPr>
      </p:sp>
      <p:sp>
        <p:nvSpPr>
          <p:cNvPr id="10" name="Shape 8"/>
          <p:cNvSpPr/>
          <p:nvPr/>
        </p:nvSpPr>
        <p:spPr>
          <a:xfrm>
            <a:off x="502920" y="1828800"/>
            <a:ext cx="64008" cy="4206240"/>
          </a:xfrm>
          <a:prstGeom prst="rect">
            <a:avLst/>
          </a:prstGeom>
          <a:solidFill>
            <a:srgbClr val="E07A1F"/>
          </a:solidFill>
          <a:ln w="12700">
            <a:solidFill>
              <a:srgbClr val="E07A1F"/>
            </a:solidFill>
            <a:prstDash val="solid"/>
          </a:ln>
        </p:spPr>
      </p:sp>
      <p:sp>
        <p:nvSpPr>
          <p:cNvPr id="11" name="Text 9"/>
          <p:cNvSpPr/>
          <p:nvPr/>
        </p:nvSpPr>
        <p:spPr>
          <a:xfrm>
            <a:off x="731520" y="1920240"/>
            <a:ext cx="10820095" cy="4023360"/>
          </a:xfrm>
          <a:prstGeom prst="rect">
            <a:avLst/>
          </a:prstGeom>
          <a:noFill/>
          <a:ln/>
        </p:spPr>
        <p:txBody>
          <a:bodyPr wrap="square" rtlCol="0" anchor="t"/>
          <a:lstStyle/>
          <a:p>
            <a:pPr marL="0" indent="0">
              <a:buNone/>
            </a:pPr>
            <a:r>
              <a:rPr lang="en-US" sz="1400" dirty="0">
                <a:solidFill>
                  <a:srgbClr val="F7F2E8"/>
                </a:solidFill>
                <a:latin typeface="Consolas" pitchFamily="34" charset="0"/>
                <a:ea typeface="Consolas" pitchFamily="34" charset="-122"/>
                <a:cs typeface="Consolas" pitchFamily="34" charset="-120"/>
              </a:rPr>
              <a:t>-- Em SQL, esta consulta...</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SELECT * FROM alunos</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WHERE (nota &gt;= 7 OR frequencia &gt;= 0.75)</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AND NOT (faltas &gt; 10);</a:t>
            </a:r>
            <a:endParaRPr lang="en-US" sz="1400" dirty="0"/>
          </a:p>
          <a:p>
            <a:pPr marL="0" indent="0">
              <a:buNone/>
            </a:pP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...corresponde à fórmula lógica:</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(nota_ok ∨ freq_ok) ∧ ¬muitas_faltas</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Onde cada átomo é uma condição:</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nota_ok        ≡ nota &gt;= 7</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freq_ok        ≡ frequencia &gt;= 0.75</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muitas_faltas  ≡ faltas &gt; 10</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1A223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Shape 1"/>
          <p:cNvSpPr/>
          <p:nvPr/>
        </p:nvSpPr>
        <p:spPr>
          <a:xfrm>
            <a:off x="4952848" y="1371600"/>
            <a:ext cx="2286000" cy="411480"/>
          </a:xfrm>
          <a:prstGeom prst="roundRect">
            <a:avLst>
              <a:gd name="adj" fmla="val 48889"/>
            </a:avLst>
          </a:prstGeom>
          <a:solidFill>
            <a:srgbClr val="E07A1F"/>
          </a:solidFill>
          <a:ln w="12700">
            <a:solidFill>
              <a:srgbClr val="E07A1F"/>
            </a:solidFill>
            <a:prstDash val="solid"/>
          </a:ln>
        </p:spPr>
      </p:sp>
      <p:sp>
        <p:nvSpPr>
          <p:cNvPr id="4" name="Text 2"/>
          <p:cNvSpPr/>
          <p:nvPr/>
        </p:nvSpPr>
        <p:spPr>
          <a:xfrm>
            <a:off x="4952848" y="1371600"/>
            <a:ext cx="2286000" cy="411480"/>
          </a:xfrm>
          <a:prstGeom prst="rect">
            <a:avLst/>
          </a:prstGeom>
          <a:noFill/>
          <a:ln/>
        </p:spPr>
        <p:txBody>
          <a:bodyPr wrap="square" rtlCol="0" anchor="ctr"/>
          <a:lstStyle/>
          <a:p>
            <a:pPr marL="0" indent="0" algn="ctr">
              <a:buNone/>
            </a:pPr>
            <a:r>
              <a:rPr lang="en-US" sz="1200" b="1" kern="0" spc="400" dirty="0">
                <a:solidFill>
                  <a:srgbClr val="FFFFFF"/>
                </a:solidFill>
                <a:latin typeface="Source Sans 3" pitchFamily="34" charset="0"/>
                <a:ea typeface="Source Sans 3" pitchFamily="34" charset="-122"/>
                <a:cs typeface="Source Sans 3" pitchFamily="34" charset="-120"/>
              </a:rPr>
              <a:t>FIM DO CAPÍTULO 1</a:t>
            </a:r>
            <a:endParaRPr lang="en-US" sz="1200" dirty="0"/>
          </a:p>
        </p:txBody>
      </p:sp>
      <p:sp>
        <p:nvSpPr>
          <p:cNvPr id="5" name="Text 3"/>
          <p:cNvSpPr/>
          <p:nvPr/>
        </p:nvSpPr>
        <p:spPr>
          <a:xfrm>
            <a:off x="502920" y="2103120"/>
            <a:ext cx="11185855" cy="1371600"/>
          </a:xfrm>
          <a:prstGeom prst="rect">
            <a:avLst/>
          </a:prstGeom>
          <a:noFill/>
          <a:ln/>
        </p:spPr>
        <p:txBody>
          <a:bodyPr wrap="square" rtlCol="0" anchor="ctr"/>
          <a:lstStyle/>
          <a:p>
            <a:pPr marL="0" indent="0" algn="ctr">
              <a:buNone/>
            </a:pPr>
            <a:r>
              <a:rPr lang="en-US" sz="4400" b="1" dirty="0">
                <a:solidFill>
                  <a:srgbClr val="F7F2E8"/>
                </a:solidFill>
                <a:latin typeface="Playfair Display" pitchFamily="34" charset="0"/>
                <a:ea typeface="Playfair Display" pitchFamily="34" charset="-122"/>
                <a:cs typeface="Playfair Display" pitchFamily="34" charset="-120"/>
              </a:rPr>
              <a:t>A lógica é o esqueleto invisível dos dados</a:t>
            </a:r>
            <a:endParaRPr lang="en-US" sz="4400" dirty="0"/>
          </a:p>
        </p:txBody>
      </p:sp>
      <p:sp>
        <p:nvSpPr>
          <p:cNvPr id="6" name="Text 4"/>
          <p:cNvSpPr/>
          <p:nvPr/>
        </p:nvSpPr>
        <p:spPr>
          <a:xfrm>
            <a:off x="1371600" y="3840480"/>
            <a:ext cx="9448495" cy="1371600"/>
          </a:xfrm>
          <a:prstGeom prst="rect">
            <a:avLst/>
          </a:prstGeom>
          <a:noFill/>
          <a:ln/>
        </p:spPr>
        <p:txBody>
          <a:bodyPr wrap="square" rtlCol="0" anchor="ctr"/>
          <a:lstStyle/>
          <a:p>
            <a:pPr marL="0" indent="0" algn="ctr">
              <a:buNone/>
            </a:pPr>
            <a:r>
              <a:rPr lang="en-US" sz="1800" i="1" dirty="0">
                <a:solidFill>
                  <a:srgbClr val="CBBFA3"/>
                </a:solidFill>
                <a:latin typeface="Merriweather" pitchFamily="34" charset="0"/>
                <a:ea typeface="Merriweather" pitchFamily="34" charset="-122"/>
                <a:cs typeface="Merriweather" pitchFamily="34" charset="-120"/>
              </a:rPr>
              <a:t>Toda regra, todo filtro, toda inferência automática repousa sobre as estruturas que estudaremos nos próximos capítulos.</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1A223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A3550"/>
          </a:solidFill>
          <a:ln w="12700">
            <a:solidFill>
              <a:srgbClr val="2A3550"/>
            </a:solidFill>
            <a:prstDash val="solid"/>
          </a:ln>
        </p:spPr>
      </p:sp>
      <p:sp>
        <p:nvSpPr>
          <p:cNvPr id="3" name="Shape 1"/>
          <p:cNvSpPr/>
          <p:nvPr/>
        </p:nvSpPr>
        <p:spPr>
          <a:xfrm>
            <a:off x="0" y="0"/>
            <a:ext cx="164592" cy="6858000"/>
          </a:xfrm>
          <a:prstGeom prst="rect">
            <a:avLst/>
          </a:prstGeom>
          <a:solidFill>
            <a:srgbClr val="E07A1F"/>
          </a:solidFill>
          <a:ln w="12700">
            <a:solidFill>
              <a:srgbClr val="E07A1F"/>
            </a:solidFill>
            <a:prstDash val="solid"/>
          </a:ln>
        </p:spPr>
      </p:sp>
      <p:sp>
        <p:nvSpPr>
          <p:cNvPr id="4" name="Text 2"/>
          <p:cNvSpPr/>
          <p:nvPr/>
        </p:nvSpPr>
        <p:spPr>
          <a:xfrm>
            <a:off x="9905695" y="228600"/>
            <a:ext cx="2011680" cy="274320"/>
          </a:xfrm>
          <a:prstGeom prst="rect">
            <a:avLst/>
          </a:prstGeom>
          <a:noFill/>
          <a:ln/>
        </p:spPr>
        <p:txBody>
          <a:bodyPr wrap="square" rtlCol="0" anchor="ctr"/>
          <a:lstStyle/>
          <a:p>
            <a:pPr marL="0" indent="0" algn="r">
              <a:buNone/>
            </a:pPr>
            <a:r>
              <a:rPr lang="en-US" sz="1100" b="1" kern="0" spc="400" dirty="0">
                <a:solidFill>
                  <a:srgbClr val="F3A96B"/>
                </a:solidFill>
                <a:latin typeface="Playfair Display" pitchFamily="34" charset="0"/>
                <a:ea typeface="Playfair Display" pitchFamily="34" charset="-122"/>
                <a:cs typeface="Playfair Display" pitchFamily="34" charset="-120"/>
              </a:rPr>
              <a:t>CAP. 02 · 01/25</a:t>
            </a:r>
            <a:endParaRPr lang="en-US" sz="1100" dirty="0"/>
          </a:p>
        </p:txBody>
      </p:sp>
      <p:sp>
        <p:nvSpPr>
          <p:cNvPr id="5" name="Text 3"/>
          <p:cNvSpPr/>
          <p:nvPr/>
        </p:nvSpPr>
        <p:spPr>
          <a:xfrm>
            <a:off x="502920" y="1371600"/>
            <a:ext cx="11185855" cy="365760"/>
          </a:xfrm>
          <a:prstGeom prst="rect">
            <a:avLst/>
          </a:prstGeom>
          <a:noFill/>
          <a:ln/>
        </p:spPr>
        <p:txBody>
          <a:bodyPr wrap="square" rtlCol="0" anchor="ctr"/>
          <a:lstStyle/>
          <a:p>
            <a:pPr marL="0" indent="0">
              <a:buNone/>
            </a:pPr>
            <a:r>
              <a:rPr lang="en-US" sz="1100" b="1" kern="0" spc="600" dirty="0">
                <a:solidFill>
                  <a:srgbClr val="F3A96B"/>
                </a:solidFill>
                <a:latin typeface="Source Sans 3" pitchFamily="34" charset="0"/>
                <a:ea typeface="Source Sans 3" pitchFamily="34" charset="-122"/>
                <a:cs typeface="Source Sans 3" pitchFamily="34" charset="-120"/>
              </a:rPr>
              <a:t>FUNDAMENTOS DE LÓGICA APLICADA À CIÊNCIA DE DADOS</a:t>
            </a:r>
            <a:endParaRPr lang="en-US" sz="1100" dirty="0"/>
          </a:p>
        </p:txBody>
      </p:sp>
      <p:sp>
        <p:nvSpPr>
          <p:cNvPr id="6" name="Text 4"/>
          <p:cNvSpPr/>
          <p:nvPr/>
        </p:nvSpPr>
        <p:spPr>
          <a:xfrm>
            <a:off x="502920" y="1828800"/>
            <a:ext cx="11185855" cy="2286000"/>
          </a:xfrm>
          <a:prstGeom prst="rect">
            <a:avLst/>
          </a:prstGeom>
          <a:noFill/>
          <a:ln/>
        </p:spPr>
        <p:txBody>
          <a:bodyPr wrap="square" rtlCol="0" anchor="ctr"/>
          <a:lstStyle/>
          <a:p>
            <a:pPr marL="0" indent="0">
              <a:buNone/>
            </a:pPr>
            <a:r>
              <a:rPr lang="en-US" sz="6000" b="1" dirty="0">
                <a:solidFill>
                  <a:srgbClr val="F7F2E8"/>
                </a:solidFill>
                <a:latin typeface="Playfair Display" pitchFamily="34" charset="0"/>
                <a:ea typeface="Playfair Display" pitchFamily="34" charset="-122"/>
                <a:cs typeface="Playfair Display" pitchFamily="34" charset="-120"/>
              </a:rPr>
              <a:t>Lógica</a:t>
            </a:r>
            <a:endParaRPr lang="en-US" sz="6000" dirty="0"/>
          </a:p>
          <a:p>
            <a:pPr marL="0" indent="0">
              <a:buNone/>
            </a:pPr>
            <a:r>
              <a:rPr lang="en-US" sz="6000" b="1" dirty="0">
                <a:solidFill>
                  <a:srgbClr val="F7F2E8"/>
                </a:solidFill>
                <a:latin typeface="Playfair Display" pitchFamily="34" charset="0"/>
                <a:ea typeface="Playfair Display" pitchFamily="34" charset="-122"/>
                <a:cs typeface="Playfair Display" pitchFamily="34" charset="-120"/>
              </a:rPr>
              <a:t>Proposicional</a:t>
            </a:r>
            <a:endParaRPr lang="en-US" sz="6000" dirty="0"/>
          </a:p>
        </p:txBody>
      </p:sp>
      <p:sp>
        <p:nvSpPr>
          <p:cNvPr id="7" name="Text 5"/>
          <p:cNvSpPr/>
          <p:nvPr/>
        </p:nvSpPr>
        <p:spPr>
          <a:xfrm>
            <a:off x="502920" y="4297680"/>
            <a:ext cx="11185855" cy="914400"/>
          </a:xfrm>
          <a:prstGeom prst="rect">
            <a:avLst/>
          </a:prstGeom>
          <a:noFill/>
          <a:ln/>
        </p:spPr>
        <p:txBody>
          <a:bodyPr wrap="square" rtlCol="0" anchor="ctr"/>
          <a:lstStyle/>
          <a:p>
            <a:pPr marL="0" indent="0">
              <a:buNone/>
            </a:pPr>
            <a:r>
              <a:rPr lang="en-US" sz="1800" i="1" dirty="0">
                <a:solidFill>
                  <a:srgbClr val="CBBFA3"/>
                </a:solidFill>
                <a:latin typeface="Merriweather" pitchFamily="34" charset="0"/>
                <a:ea typeface="Merriweather" pitchFamily="34" charset="-122"/>
                <a:cs typeface="Merriweather" pitchFamily="34" charset="-120"/>
              </a:rPr>
              <a:t>Sintaxe, semântica e as relações que tornam o raciocínio formal possível</a:t>
            </a:r>
            <a:endParaRPr lang="en-US" sz="1800" dirty="0"/>
          </a:p>
        </p:txBody>
      </p:sp>
      <p:sp>
        <p:nvSpPr>
          <p:cNvPr id="8" name="Shape 6"/>
          <p:cNvSpPr/>
          <p:nvPr/>
        </p:nvSpPr>
        <p:spPr>
          <a:xfrm>
            <a:off x="502920" y="6446520"/>
            <a:ext cx="11185855" cy="0"/>
          </a:xfrm>
          <a:prstGeom prst="line">
            <a:avLst/>
          </a:prstGeom>
          <a:noFill/>
          <a:ln w="6350">
            <a:solidFill>
              <a:srgbClr val="4B5563"/>
            </a:solidFill>
            <a:prstDash val="solid"/>
          </a:ln>
        </p:spPr>
      </p:sp>
      <p:sp>
        <p:nvSpPr>
          <p:cNvPr id="9" name="Text 7"/>
          <p:cNvSpPr/>
          <p:nvPr/>
        </p:nvSpPr>
        <p:spPr>
          <a:xfrm>
            <a:off x="502920" y="6492240"/>
            <a:ext cx="11185855" cy="274320"/>
          </a:xfrm>
          <a:prstGeom prst="rect">
            <a:avLst/>
          </a:prstGeom>
          <a:noFill/>
          <a:ln/>
        </p:spPr>
        <p:txBody>
          <a:bodyPr wrap="square" rtlCol="0" anchor="ctr"/>
          <a:lstStyle/>
          <a:p>
            <a:r>
              <a:rPr lang="en-US" sz="900" b="1" kern="0" spc="300" dirty="0">
                <a:solidFill>
                  <a:srgbClr val="9CA3AF"/>
                </a:solidFill>
                <a:latin typeface="Source Sans 3" pitchFamily="34" charset="0"/>
                <a:ea typeface="Source Sans 3" pitchFamily="34" charset="-122"/>
                <a:cs typeface="Source Sans 3" pitchFamily="34" charset="-120"/>
              </a:rPr>
              <a:t>ALICCE · Helena Reis &amp; Anderson Marcolino</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02 / 25</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PONTO DE PARTIDA</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2 · Lógica Proposicional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Proposição</a:t>
            </a:r>
            <a:endParaRPr lang="en-US" sz="3600" dirty="0"/>
          </a:p>
        </p:txBody>
      </p:sp>
      <p:sp>
        <p:nvSpPr>
          <p:cNvPr id="9" name="Text 7"/>
          <p:cNvSpPr/>
          <p:nvPr/>
        </p:nvSpPr>
        <p:spPr>
          <a:xfrm>
            <a:off x="502920" y="1554480"/>
            <a:ext cx="11185855" cy="457200"/>
          </a:xfrm>
          <a:prstGeom prst="rect">
            <a:avLst/>
          </a:prstGeom>
          <a:noFill/>
          <a:ln/>
        </p:spPr>
        <p:txBody>
          <a:bodyPr wrap="square" rtlCol="0" anchor="ctr"/>
          <a:lstStyle/>
          <a:p>
            <a:pPr marL="0" indent="0">
              <a:buNone/>
            </a:pPr>
            <a:r>
              <a:rPr lang="en-US" sz="1600" i="1" dirty="0">
                <a:solidFill>
                  <a:srgbClr val="2A3550"/>
                </a:solidFill>
                <a:latin typeface="Merriweather" pitchFamily="34" charset="0"/>
                <a:ea typeface="Merriweather" pitchFamily="34" charset="-122"/>
                <a:cs typeface="Merriweather" pitchFamily="34" charset="-120"/>
              </a:rPr>
              <a:t>Uma afirmação que pode ser verdadeira ou falsa</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03 / 25</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SINTAXE</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2 · Lógica Proposicional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Sentenças vêm em dois tipos</a:t>
            </a:r>
            <a:endParaRPr lang="en-US" sz="3600" dirty="0"/>
          </a:p>
        </p:txBody>
      </p:sp>
      <p:sp>
        <p:nvSpPr>
          <p:cNvPr id="9" name="Shape 7"/>
          <p:cNvSpPr/>
          <p:nvPr/>
        </p:nvSpPr>
        <p:spPr>
          <a:xfrm>
            <a:off x="502920" y="2194560"/>
            <a:ext cx="5478628" cy="2011680"/>
          </a:xfrm>
          <a:prstGeom prst="rect">
            <a:avLst/>
          </a:prstGeom>
          <a:solidFill>
            <a:srgbClr val="FFFFFF"/>
          </a:solidFill>
          <a:ln w="9525">
            <a:solidFill>
              <a:srgbClr val="CBBFA3"/>
            </a:solidFill>
            <a:prstDash val="solid"/>
          </a:ln>
        </p:spPr>
      </p:sp>
      <p:sp>
        <p:nvSpPr>
          <p:cNvPr id="10" name="Text 8"/>
          <p:cNvSpPr/>
          <p:nvPr/>
        </p:nvSpPr>
        <p:spPr>
          <a:xfrm>
            <a:off x="685800" y="2331720"/>
            <a:ext cx="511286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ATÔMICAS</a:t>
            </a:r>
            <a:endParaRPr lang="en-US" sz="900" dirty="0"/>
          </a:p>
        </p:txBody>
      </p:sp>
      <p:sp>
        <p:nvSpPr>
          <p:cNvPr id="11" name="Text 9"/>
          <p:cNvSpPr/>
          <p:nvPr/>
        </p:nvSpPr>
        <p:spPr>
          <a:xfrm>
            <a:off x="685800" y="2606040"/>
            <a:ext cx="511286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erro · ajuda · log</a:t>
            </a:r>
            <a:endParaRPr lang="en-US" sz="1800" dirty="0"/>
          </a:p>
        </p:txBody>
      </p:sp>
      <p:sp>
        <p:nvSpPr>
          <p:cNvPr id="12" name="Text 10"/>
          <p:cNvSpPr/>
          <p:nvPr/>
        </p:nvSpPr>
        <p:spPr>
          <a:xfrm>
            <a:off x="685800" y="3108960"/>
            <a:ext cx="511286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Indivisíveis. Identificadores simples.</a:t>
            </a:r>
            <a:endParaRPr lang="en-US" sz="1300" dirty="0"/>
          </a:p>
        </p:txBody>
      </p:sp>
      <p:sp>
        <p:nvSpPr>
          <p:cNvPr id="13" name="Shape 11"/>
          <p:cNvSpPr/>
          <p:nvPr/>
        </p:nvSpPr>
        <p:spPr>
          <a:xfrm>
            <a:off x="6210148" y="2194560"/>
            <a:ext cx="5478628" cy="2011680"/>
          </a:xfrm>
          <a:prstGeom prst="rect">
            <a:avLst/>
          </a:prstGeom>
          <a:solidFill>
            <a:srgbClr val="FFFFFF"/>
          </a:solidFill>
          <a:ln w="9525">
            <a:solidFill>
              <a:srgbClr val="CBBFA3"/>
            </a:solidFill>
            <a:prstDash val="solid"/>
          </a:ln>
        </p:spPr>
      </p:sp>
      <p:sp>
        <p:nvSpPr>
          <p:cNvPr id="14" name="Text 12"/>
          <p:cNvSpPr/>
          <p:nvPr/>
        </p:nvSpPr>
        <p:spPr>
          <a:xfrm>
            <a:off x="6393028" y="2331720"/>
            <a:ext cx="511286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COMPOSTAS</a:t>
            </a:r>
            <a:endParaRPr lang="en-US" sz="900" dirty="0"/>
          </a:p>
        </p:txBody>
      </p:sp>
      <p:sp>
        <p:nvSpPr>
          <p:cNvPr id="15" name="Text 13"/>
          <p:cNvSpPr/>
          <p:nvPr/>
        </p:nvSpPr>
        <p:spPr>
          <a:xfrm>
            <a:off x="6393028" y="2606040"/>
            <a:ext cx="511286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(erro ∧ ajuda)</a:t>
            </a:r>
            <a:endParaRPr lang="en-US" sz="1800" dirty="0"/>
          </a:p>
        </p:txBody>
      </p:sp>
      <p:sp>
        <p:nvSpPr>
          <p:cNvPr id="16" name="Text 14"/>
          <p:cNvSpPr/>
          <p:nvPr/>
        </p:nvSpPr>
        <p:spPr>
          <a:xfrm>
            <a:off x="6393028" y="3108960"/>
            <a:ext cx="511286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Combinam átomos via conectivos.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04 / 25</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CONECTIVOS</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2 · Lógica Proposicional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Os cinco operadores</a:t>
            </a:r>
            <a:endParaRPr lang="en-US" sz="3600" dirty="0"/>
          </a:p>
        </p:txBody>
      </p:sp>
      <p:sp>
        <p:nvSpPr>
          <p:cNvPr id="9" name="Shape 7"/>
          <p:cNvSpPr/>
          <p:nvPr/>
        </p:nvSpPr>
        <p:spPr>
          <a:xfrm>
            <a:off x="1981048" y="2377440"/>
            <a:ext cx="8229600" cy="1371600"/>
          </a:xfrm>
          <a:prstGeom prst="rect">
            <a:avLst/>
          </a:prstGeom>
          <a:solidFill>
            <a:srgbClr val="FFFFFF"/>
          </a:solidFill>
          <a:ln w="12700">
            <a:solidFill>
              <a:srgbClr val="CBBFA3"/>
            </a:solidFill>
            <a:prstDash val="solid"/>
          </a:ln>
        </p:spPr>
      </p:sp>
      <p:sp>
        <p:nvSpPr>
          <p:cNvPr id="10" name="Shape 8"/>
          <p:cNvSpPr/>
          <p:nvPr/>
        </p:nvSpPr>
        <p:spPr>
          <a:xfrm>
            <a:off x="1981048" y="2377440"/>
            <a:ext cx="64008" cy="1371600"/>
          </a:xfrm>
          <a:prstGeom prst="rect">
            <a:avLst/>
          </a:prstGeom>
          <a:solidFill>
            <a:srgbClr val="E07A1F"/>
          </a:solidFill>
          <a:ln w="12700">
            <a:solidFill>
              <a:srgbClr val="E07A1F"/>
            </a:solidFill>
            <a:prstDash val="solid"/>
          </a:ln>
        </p:spPr>
      </p:sp>
      <p:sp>
        <p:nvSpPr>
          <p:cNvPr id="11" name="Text 9"/>
          <p:cNvSpPr/>
          <p:nvPr/>
        </p:nvSpPr>
        <p:spPr>
          <a:xfrm>
            <a:off x="2163928" y="2377440"/>
            <a:ext cx="7955280" cy="1371600"/>
          </a:xfrm>
          <a:prstGeom prst="rect">
            <a:avLst/>
          </a:prstGeom>
          <a:noFill/>
          <a:ln/>
        </p:spPr>
        <p:txBody>
          <a:bodyPr wrap="square" rtlCol="0" anchor="ctr"/>
          <a:lstStyle/>
          <a:p>
            <a:pPr marL="0" indent="0" algn="ctr">
              <a:buNone/>
            </a:pPr>
            <a:r>
              <a:rPr lang="en-US" sz="2800" dirty="0">
                <a:solidFill>
                  <a:srgbClr val="1A2238"/>
                </a:solidFill>
                <a:latin typeface="Cambria" pitchFamily="34" charset="0"/>
                <a:ea typeface="Cambria" pitchFamily="34" charset="-122"/>
                <a:cs typeface="Cambria" pitchFamily="34" charset="-120"/>
              </a:rPr>
              <a:t>¬   ∧   ∨   ⇒   ⇔</a:t>
            </a:r>
            <a:endParaRPr lang="en-US" sz="2800" dirty="0"/>
          </a:p>
        </p:txBody>
      </p:sp>
      <p:sp>
        <p:nvSpPr>
          <p:cNvPr id="12" name="Text 10"/>
          <p:cNvSpPr/>
          <p:nvPr/>
        </p:nvSpPr>
        <p:spPr>
          <a:xfrm>
            <a:off x="502920" y="3840480"/>
            <a:ext cx="11185855" cy="365760"/>
          </a:xfrm>
          <a:prstGeom prst="rect">
            <a:avLst/>
          </a:prstGeom>
          <a:noFill/>
          <a:ln/>
        </p:spPr>
        <p:txBody>
          <a:bodyPr wrap="square" rtlCol="0" anchor="ctr"/>
          <a:lstStyle/>
          <a:p>
            <a:pPr marL="0" indent="0" algn="ctr">
              <a:buNone/>
            </a:pPr>
            <a:r>
              <a:rPr lang="en-US" sz="1200" i="1" dirty="0">
                <a:solidFill>
                  <a:srgbClr val="6B6452"/>
                </a:solidFill>
                <a:latin typeface="Source Sans 3" pitchFamily="34" charset="0"/>
                <a:ea typeface="Source Sans 3" pitchFamily="34" charset="-122"/>
                <a:cs typeface="Source Sans 3" pitchFamily="34" charset="-120"/>
              </a:rPr>
              <a:t>negação · conjunção · disjunção · implicação · bicondicional</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05 / 25</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PRECEDÊNCIA</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2 · Lógica Proposicional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Da mais forte à mais fraca</a:t>
            </a:r>
            <a:endParaRPr lang="en-US" sz="3600" dirty="0"/>
          </a:p>
        </p:txBody>
      </p:sp>
      <p:sp>
        <p:nvSpPr>
          <p:cNvPr id="9" name="Shape 7"/>
          <p:cNvSpPr/>
          <p:nvPr/>
        </p:nvSpPr>
        <p:spPr>
          <a:xfrm>
            <a:off x="1981048" y="2377440"/>
            <a:ext cx="8229600" cy="1371600"/>
          </a:xfrm>
          <a:prstGeom prst="rect">
            <a:avLst/>
          </a:prstGeom>
          <a:solidFill>
            <a:srgbClr val="FFFFFF"/>
          </a:solidFill>
          <a:ln w="12700">
            <a:solidFill>
              <a:srgbClr val="CBBFA3"/>
            </a:solidFill>
            <a:prstDash val="solid"/>
          </a:ln>
        </p:spPr>
      </p:sp>
      <p:sp>
        <p:nvSpPr>
          <p:cNvPr id="10" name="Shape 8"/>
          <p:cNvSpPr/>
          <p:nvPr/>
        </p:nvSpPr>
        <p:spPr>
          <a:xfrm>
            <a:off x="1981048" y="2377440"/>
            <a:ext cx="64008" cy="1371600"/>
          </a:xfrm>
          <a:prstGeom prst="rect">
            <a:avLst/>
          </a:prstGeom>
          <a:solidFill>
            <a:srgbClr val="E07A1F"/>
          </a:solidFill>
          <a:ln w="12700">
            <a:solidFill>
              <a:srgbClr val="E07A1F"/>
            </a:solidFill>
            <a:prstDash val="solid"/>
          </a:ln>
        </p:spPr>
      </p:sp>
      <p:sp>
        <p:nvSpPr>
          <p:cNvPr id="11" name="Text 9"/>
          <p:cNvSpPr/>
          <p:nvPr/>
        </p:nvSpPr>
        <p:spPr>
          <a:xfrm>
            <a:off x="2163928" y="2377440"/>
            <a:ext cx="7955280" cy="1371600"/>
          </a:xfrm>
          <a:prstGeom prst="rect">
            <a:avLst/>
          </a:prstGeom>
          <a:noFill/>
          <a:ln/>
        </p:spPr>
        <p:txBody>
          <a:bodyPr wrap="square" rtlCol="0" anchor="ctr"/>
          <a:lstStyle/>
          <a:p>
            <a:pPr marL="0" indent="0" algn="ctr">
              <a:buNone/>
            </a:pPr>
            <a:r>
              <a:rPr lang="en-US" sz="2800" dirty="0">
                <a:solidFill>
                  <a:srgbClr val="1A2238"/>
                </a:solidFill>
                <a:latin typeface="Cambria" pitchFamily="34" charset="0"/>
                <a:ea typeface="Cambria" pitchFamily="34" charset="-122"/>
                <a:cs typeface="Cambria" pitchFamily="34" charset="-120"/>
              </a:rPr>
              <a:t>¬  »  ∧  »  ∨  »  ⇒  »  ⇔</a:t>
            </a:r>
            <a:endParaRPr lang="en-US" sz="2800" dirty="0"/>
          </a:p>
        </p:txBody>
      </p:sp>
      <p:sp>
        <p:nvSpPr>
          <p:cNvPr id="12" name="Text 10"/>
          <p:cNvSpPr/>
          <p:nvPr/>
        </p:nvSpPr>
        <p:spPr>
          <a:xfrm>
            <a:off x="502920" y="3840480"/>
            <a:ext cx="11185855" cy="365760"/>
          </a:xfrm>
          <a:prstGeom prst="rect">
            <a:avLst/>
          </a:prstGeom>
          <a:noFill/>
          <a:ln/>
        </p:spPr>
        <p:txBody>
          <a:bodyPr wrap="square" rtlCol="0" anchor="ctr"/>
          <a:lstStyle/>
          <a:p>
            <a:pPr marL="0" indent="0" algn="ctr">
              <a:buNone/>
            </a:pPr>
            <a:r>
              <a:rPr lang="en-US" sz="1200" i="1" dirty="0">
                <a:solidFill>
                  <a:srgbClr val="6B6452"/>
                </a:solidFill>
                <a:latin typeface="Source Sans 3" pitchFamily="34" charset="0"/>
                <a:ea typeface="Source Sans 3" pitchFamily="34" charset="-122"/>
                <a:cs typeface="Source Sans 3" pitchFamily="34" charset="-120"/>
              </a:rPr>
              <a:t>¬p ∧ q significa (¬p) ∧ q — não ¬(p ∧ q)</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06 / 25</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SEMÂNTICA · NEGAÇÃO</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2 · Lógica Proposicional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 Negação</a:t>
            </a:r>
            <a:endParaRPr lang="en-US" sz="3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998568" y="2103120"/>
          <a:ext cx="2194560" cy="1152144"/>
        </p:xfrm>
        <a:graphic>
          <a:graphicData uri="http://schemas.openxmlformats.org/drawingml/2006/table">
            <a:tbl>
              <a:tblPr/>
              <a:tblGrid>
                <a:gridCol w="1097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tblGrid>
              <a:tr h="384048">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φ</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¬φ</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extLst>
                  <a:ext uri="{0D108BD9-81ED-4DB2-BD59-A6C34878D82A}">
                    <a16:rowId xmlns:a16="http://schemas.microsoft.com/office/drawing/2014/main" val="10000"/>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0" name="Text 7"/>
          <p:cNvSpPr/>
          <p:nvPr/>
        </p:nvSpPr>
        <p:spPr>
          <a:xfrm>
            <a:off x="4998568" y="3300984"/>
            <a:ext cx="2194560" cy="274320"/>
          </a:xfrm>
          <a:prstGeom prst="rect">
            <a:avLst/>
          </a:prstGeom>
          <a:noFill/>
          <a:ln/>
        </p:spPr>
        <p:txBody>
          <a:bodyPr wrap="square" rtlCol="0" anchor="ctr"/>
          <a:lstStyle/>
          <a:p>
            <a:pPr marL="0" indent="0" algn="ctr">
              <a:buNone/>
            </a:pPr>
            <a:r>
              <a:rPr lang="en-US" sz="1000" i="1" dirty="0">
                <a:solidFill>
                  <a:srgbClr val="6B6452"/>
                </a:solidFill>
                <a:latin typeface="Source Sans 3" pitchFamily="34" charset="0"/>
                <a:ea typeface="Source Sans 3" pitchFamily="34" charset="-122"/>
                <a:cs typeface="Source Sans 3" pitchFamily="34" charset="-120"/>
              </a:rPr>
              <a:t>Inverte o valor de verdade.</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07 / 25</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SEMÂNTICA · CONJUNÇÃO</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2 · Lógica Proposicional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 Conjunção</a:t>
            </a:r>
            <a:endParaRPr lang="en-US" sz="3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312768" y="2103120"/>
          <a:ext cx="3566160" cy="1920240"/>
        </p:xfrm>
        <a:graphic>
          <a:graphicData uri="http://schemas.openxmlformats.org/drawingml/2006/table">
            <a:tbl>
              <a:tblPr/>
              <a:tblGrid>
                <a:gridCol w="1097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84048">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φ</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ψ</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φ ∧ ψ</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extLst>
                  <a:ext uri="{0D108BD9-81ED-4DB2-BD59-A6C34878D82A}">
                    <a16:rowId xmlns:a16="http://schemas.microsoft.com/office/drawing/2014/main" val="10000"/>
                  </a:ext>
                </a:extLst>
              </a:tr>
              <a:tr h="384048">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extLst>
                  <a:ext uri="{0D108BD9-81ED-4DB2-BD59-A6C34878D82A}">
                    <a16:rowId xmlns:a16="http://schemas.microsoft.com/office/drawing/2014/main" val="10001"/>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0" name="Text 7"/>
          <p:cNvSpPr/>
          <p:nvPr/>
        </p:nvSpPr>
        <p:spPr>
          <a:xfrm>
            <a:off x="4312768" y="4069080"/>
            <a:ext cx="3566160" cy="274320"/>
          </a:xfrm>
          <a:prstGeom prst="rect">
            <a:avLst/>
          </a:prstGeom>
          <a:noFill/>
          <a:ln/>
        </p:spPr>
        <p:txBody>
          <a:bodyPr wrap="square" rtlCol="0" anchor="ctr"/>
          <a:lstStyle/>
          <a:p>
            <a:pPr marL="0" indent="0" algn="ctr">
              <a:buNone/>
            </a:pPr>
            <a:r>
              <a:rPr lang="en-US" sz="1000" i="1" dirty="0">
                <a:solidFill>
                  <a:srgbClr val="6B6452"/>
                </a:solidFill>
                <a:latin typeface="Source Sans 3" pitchFamily="34" charset="0"/>
                <a:ea typeface="Source Sans 3" pitchFamily="34" charset="-122"/>
                <a:cs typeface="Source Sans 3" pitchFamily="34" charset="-120"/>
              </a:rPr>
              <a:t>Verdadeira somente quando ambas valem.</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08 / 25</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SEMÂNTICA · DISJUNÇÃO</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2 · Lógica Proposicional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 Disjunção (inclusiva)</a:t>
            </a:r>
            <a:endParaRPr lang="en-US" sz="3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312768" y="2103120"/>
          <a:ext cx="3566160" cy="1920240"/>
        </p:xfrm>
        <a:graphic>
          <a:graphicData uri="http://schemas.openxmlformats.org/drawingml/2006/table">
            <a:tbl>
              <a:tblPr/>
              <a:tblGrid>
                <a:gridCol w="1097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84048">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φ</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ψ</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φ ∨ ψ</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extLst>
                  <a:ext uri="{0D108BD9-81ED-4DB2-BD59-A6C34878D82A}">
                    <a16:rowId xmlns:a16="http://schemas.microsoft.com/office/drawing/2014/main" val="10000"/>
                  </a:ext>
                </a:extLst>
              </a:tr>
              <a:tr h="384048">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extLst>
                  <a:ext uri="{0D108BD9-81ED-4DB2-BD59-A6C34878D82A}">
                    <a16:rowId xmlns:a16="http://schemas.microsoft.com/office/drawing/2014/main" val="10001"/>
                  </a:ext>
                </a:extLst>
              </a:tr>
              <a:tr h="384048">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extLst>
                  <a:ext uri="{0D108BD9-81ED-4DB2-BD59-A6C34878D82A}">
                    <a16:rowId xmlns:a16="http://schemas.microsoft.com/office/drawing/2014/main" val="10002"/>
                  </a:ext>
                </a:extLst>
              </a:tr>
              <a:tr h="384048">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extLst>
                  <a:ext uri="{0D108BD9-81ED-4DB2-BD59-A6C34878D82A}">
                    <a16:rowId xmlns:a16="http://schemas.microsoft.com/office/drawing/2014/main" val="10003"/>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0" name="Text 7"/>
          <p:cNvSpPr/>
          <p:nvPr/>
        </p:nvSpPr>
        <p:spPr>
          <a:xfrm>
            <a:off x="4312768" y="4069080"/>
            <a:ext cx="3566160" cy="274320"/>
          </a:xfrm>
          <a:prstGeom prst="rect">
            <a:avLst/>
          </a:prstGeom>
          <a:noFill/>
          <a:ln/>
        </p:spPr>
        <p:txBody>
          <a:bodyPr wrap="square" rtlCol="0" anchor="ctr"/>
          <a:lstStyle/>
          <a:p>
            <a:pPr marL="0" indent="0" algn="ctr">
              <a:buNone/>
            </a:pPr>
            <a:r>
              <a:rPr lang="en-US" sz="1000" i="1" dirty="0">
                <a:solidFill>
                  <a:srgbClr val="6B6452"/>
                </a:solidFill>
                <a:latin typeface="Source Sans 3" pitchFamily="34" charset="0"/>
                <a:ea typeface="Source Sans 3" pitchFamily="34" charset="-122"/>
                <a:cs typeface="Source Sans 3" pitchFamily="34" charset="-120"/>
              </a:rPr>
              <a:t>Falsa somente quando ambas falham.</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09 / 25</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SEMÂNTICA · IMPLICAÇÃO</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2 · Lógica Proposicional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 Implicação</a:t>
            </a:r>
            <a:endParaRPr lang="en-US" sz="3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312768" y="2103120"/>
          <a:ext cx="9144000" cy="914400"/>
        </p:xfrm>
        <a:graphic>
          <a:graphicData uri="http://schemas.openxmlformats.org/drawingml/2006/table">
            <a:tbl>
              <a:tblPr/>
              <a:tblGrid>
                <a:gridCol w="1097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84048">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φ</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ψ</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φ ⇒ ψ</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extLst>
                  <a:ext uri="{0D108BD9-81ED-4DB2-BD59-A6C34878D82A}">
                    <a16:rowId xmlns:a16="http://schemas.microsoft.com/office/drawing/2014/main" val="10000"/>
                  </a:ext>
                </a:extLst>
              </a:tr>
              <a:tr h="384048">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extLst>
                  <a:ext uri="{0D108BD9-81ED-4DB2-BD59-A6C34878D82A}">
                    <a16:rowId xmlns:a16="http://schemas.microsoft.com/office/drawing/2014/main" val="10001"/>
                  </a:ext>
                </a:extLst>
              </a:tr>
              <a:tr h="384048">
                <a:tc>
                  <a:txBody>
                    <a:bodyPr/>
                    <a:lstStyle/>
                    <a:p>
                      <a:pPr marL="0" indent="0" algn="ctr">
                        <a:buNone/>
                      </a:pPr>
                      <a:r>
                        <a:rPr lang="en-US" sz="1500" strike="sngStrike" dirty="0">
                          <a:solidFill>
                            <a:srgbClr val="9B1C1C"/>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DE2E2"/>
                    </a:solidFill>
                  </a:tcPr>
                </a:tc>
                <a:tc>
                  <a:txBody>
                    <a:bodyPr/>
                    <a:lstStyle/>
                    <a:p>
                      <a:pPr marL="0" indent="0" algn="ctr">
                        <a:buNone/>
                      </a:pPr>
                      <a:r>
                        <a:rPr lang="en-US" sz="1500" strike="sngStrike" dirty="0">
                          <a:solidFill>
                            <a:srgbClr val="9B1C1C"/>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DE2E2"/>
                    </a:solidFill>
                  </a:tcPr>
                </a:tc>
                <a:tc>
                  <a:txBody>
                    <a:bodyPr/>
                    <a:lstStyle/>
                    <a:p>
                      <a:pPr marL="0" indent="0" algn="ctr">
                        <a:buNone/>
                      </a:pPr>
                      <a:r>
                        <a:rPr lang="en-US" sz="1500" strike="sngStrike" dirty="0">
                          <a:solidFill>
                            <a:srgbClr val="9B1C1C"/>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DE2E2"/>
                    </a:solidFill>
                  </a:tcPr>
                </a:tc>
                <a:extLst>
                  <a:ext uri="{0D108BD9-81ED-4DB2-BD59-A6C34878D82A}">
                    <a16:rowId xmlns:a16="http://schemas.microsoft.com/office/drawing/2014/main" val="10002"/>
                  </a:ext>
                </a:extLst>
              </a:tr>
              <a:tr h="384048">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extLst>
                  <a:ext uri="{0D108BD9-81ED-4DB2-BD59-A6C34878D82A}">
                    <a16:rowId xmlns:a16="http://schemas.microsoft.com/office/drawing/2014/main" val="10003"/>
                  </a:ext>
                </a:extLst>
              </a:tr>
              <a:tr h="384048">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extLst>
                  <a:ext uri="{0D108BD9-81ED-4DB2-BD59-A6C34878D82A}">
                    <a16:rowId xmlns:a16="http://schemas.microsoft.com/office/drawing/2014/main" val="10004"/>
                  </a:ext>
                </a:extLst>
              </a:tr>
            </a:tbl>
          </a:graphicData>
        </a:graphic>
      </p:graphicFrame>
      <p:sp>
        <p:nvSpPr>
          <p:cNvPr id="10" name="Text 7"/>
          <p:cNvSpPr/>
          <p:nvPr/>
        </p:nvSpPr>
        <p:spPr>
          <a:xfrm>
            <a:off x="4312768" y="4069080"/>
            <a:ext cx="3566160" cy="274320"/>
          </a:xfrm>
          <a:prstGeom prst="rect">
            <a:avLst/>
          </a:prstGeom>
          <a:noFill/>
          <a:ln/>
        </p:spPr>
        <p:txBody>
          <a:bodyPr wrap="square" rtlCol="0" anchor="ctr"/>
          <a:lstStyle/>
          <a:p>
            <a:pPr marL="0" indent="0" algn="ctr">
              <a:buNone/>
            </a:pPr>
            <a:r>
              <a:rPr lang="en-US" sz="1000" i="1" dirty="0">
                <a:solidFill>
                  <a:srgbClr val="6B6452"/>
                </a:solidFill>
                <a:latin typeface="Source Sans 3" pitchFamily="34" charset="0"/>
                <a:ea typeface="Source Sans 3" pitchFamily="34" charset="-122"/>
                <a:cs typeface="Source Sans 3" pitchFamily="34" charset="-120"/>
              </a:rPr>
              <a:t>Falsa apenas quando a premissa vale e a conclusão falha.</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10 / 25</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SEMÂNTICA · BICONDICIONAL</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2 · Lógica Proposicional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 Bicondicional</a:t>
            </a:r>
            <a:endParaRPr lang="en-US" sz="3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312768" y="2103120"/>
          <a:ext cx="3566160" cy="1920240"/>
        </p:xfrm>
        <a:graphic>
          <a:graphicData uri="http://schemas.openxmlformats.org/drawingml/2006/table">
            <a:tbl>
              <a:tblPr/>
              <a:tblGrid>
                <a:gridCol w="1097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84048">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φ</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ψ</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φ ⇔ ψ</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extLst>
                  <a:ext uri="{0D108BD9-81ED-4DB2-BD59-A6C34878D82A}">
                    <a16:rowId xmlns:a16="http://schemas.microsoft.com/office/drawing/2014/main" val="10000"/>
                  </a:ext>
                </a:extLst>
              </a:tr>
              <a:tr h="384048">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extLst>
                  <a:ext uri="{0D108BD9-81ED-4DB2-BD59-A6C34878D82A}">
                    <a16:rowId xmlns:a16="http://schemas.microsoft.com/office/drawing/2014/main" val="10001"/>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extLst>
                  <a:ext uri="{0D108BD9-81ED-4DB2-BD59-A6C34878D82A}">
                    <a16:rowId xmlns:a16="http://schemas.microsoft.com/office/drawing/2014/main" val="10004"/>
                  </a:ext>
                </a:extLst>
              </a:tr>
            </a:tbl>
          </a:graphicData>
        </a:graphic>
      </p:graphicFrame>
      <p:sp>
        <p:nvSpPr>
          <p:cNvPr id="10" name="Text 7"/>
          <p:cNvSpPr/>
          <p:nvPr/>
        </p:nvSpPr>
        <p:spPr>
          <a:xfrm>
            <a:off x="4312768" y="4069080"/>
            <a:ext cx="3566160" cy="274320"/>
          </a:xfrm>
          <a:prstGeom prst="rect">
            <a:avLst/>
          </a:prstGeom>
          <a:noFill/>
          <a:ln/>
        </p:spPr>
        <p:txBody>
          <a:bodyPr wrap="square" rtlCol="0" anchor="ctr"/>
          <a:lstStyle/>
          <a:p>
            <a:pPr marL="0" indent="0" algn="ctr">
              <a:buNone/>
            </a:pPr>
            <a:r>
              <a:rPr lang="en-US" sz="1000" i="1" dirty="0">
                <a:solidFill>
                  <a:srgbClr val="6B6452"/>
                </a:solidFill>
                <a:latin typeface="Source Sans 3" pitchFamily="34" charset="0"/>
                <a:ea typeface="Source Sans 3" pitchFamily="34" charset="-122"/>
                <a:cs typeface="Source Sans 3" pitchFamily="34" charset="-120"/>
              </a:rPr>
              <a:t>Verdadeira quando ambas têm o mesmo valor.</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11 / 25</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AVALIAÇÃO</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2 · Lógica Proposicional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Do interior para o exterior</a:t>
            </a:r>
            <a:endParaRPr lang="en-US" sz="3600" dirty="0"/>
          </a:p>
        </p:txBody>
      </p:sp>
      <p:sp>
        <p:nvSpPr>
          <p:cNvPr id="9" name="Text 7"/>
          <p:cNvSpPr/>
          <p:nvPr/>
        </p:nvSpPr>
        <p:spPr>
          <a:xfrm>
            <a:off x="502920" y="1554480"/>
            <a:ext cx="11185855" cy="457200"/>
          </a:xfrm>
          <a:prstGeom prst="rect">
            <a:avLst/>
          </a:prstGeom>
          <a:noFill/>
          <a:ln/>
        </p:spPr>
        <p:txBody>
          <a:bodyPr wrap="square" rtlCol="0" anchor="ctr"/>
          <a:lstStyle/>
          <a:p>
            <a:pPr marL="0" indent="0">
              <a:buNone/>
            </a:pPr>
            <a:r>
              <a:rPr lang="en-US" sz="1600" i="1" dirty="0">
                <a:solidFill>
                  <a:srgbClr val="2A3550"/>
                </a:solidFill>
                <a:latin typeface="Merriweather" pitchFamily="34" charset="0"/>
                <a:ea typeface="Merriweather" pitchFamily="34" charset="-122"/>
                <a:cs typeface="Merriweather" pitchFamily="34" charset="-120"/>
              </a:rPr>
              <a:t>Substituir átomos · resolver subexpressões · obter um único valor</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12 / 25</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EXEMPLO DE AVALIAÇÃO</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2 · Lógica Proposicional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(p ∨ q) ∧ (¬q ∨ r) com p=1, q=0, r=1</a:t>
            </a:r>
            <a:endParaRPr lang="en-US" sz="3600" dirty="0"/>
          </a:p>
        </p:txBody>
      </p:sp>
      <p:sp>
        <p:nvSpPr>
          <p:cNvPr id="9" name="Shape 7"/>
          <p:cNvSpPr/>
          <p:nvPr/>
        </p:nvSpPr>
        <p:spPr>
          <a:xfrm>
            <a:off x="502920" y="1828800"/>
            <a:ext cx="11185855" cy="4206240"/>
          </a:xfrm>
          <a:prstGeom prst="rect">
            <a:avLst/>
          </a:prstGeom>
          <a:solidFill>
            <a:srgbClr val="1A2238"/>
          </a:solidFill>
          <a:ln w="12700">
            <a:solidFill>
              <a:srgbClr val="2A3550"/>
            </a:solidFill>
            <a:prstDash val="solid"/>
          </a:ln>
        </p:spPr>
      </p:sp>
      <p:sp>
        <p:nvSpPr>
          <p:cNvPr id="10" name="Shape 8"/>
          <p:cNvSpPr/>
          <p:nvPr/>
        </p:nvSpPr>
        <p:spPr>
          <a:xfrm>
            <a:off x="502920" y="1828800"/>
            <a:ext cx="64008" cy="4206240"/>
          </a:xfrm>
          <a:prstGeom prst="rect">
            <a:avLst/>
          </a:prstGeom>
          <a:solidFill>
            <a:srgbClr val="E07A1F"/>
          </a:solidFill>
          <a:ln w="12700">
            <a:solidFill>
              <a:srgbClr val="E07A1F"/>
            </a:solidFill>
            <a:prstDash val="solid"/>
          </a:ln>
        </p:spPr>
      </p:sp>
      <p:sp>
        <p:nvSpPr>
          <p:cNvPr id="11" name="Text 9"/>
          <p:cNvSpPr/>
          <p:nvPr/>
        </p:nvSpPr>
        <p:spPr>
          <a:xfrm>
            <a:off x="731520" y="1920240"/>
            <a:ext cx="10820095" cy="4023360"/>
          </a:xfrm>
          <a:prstGeom prst="rect">
            <a:avLst/>
          </a:prstGeom>
          <a:noFill/>
          <a:ln/>
        </p:spPr>
        <p:txBody>
          <a:bodyPr wrap="square" rtlCol="0" anchor="t"/>
          <a:lstStyle/>
          <a:p>
            <a:pPr marL="0" indent="0">
              <a:buNone/>
            </a:pPr>
            <a:r>
              <a:rPr lang="en-US" sz="1400" dirty="0">
                <a:solidFill>
                  <a:srgbClr val="F7F2E8"/>
                </a:solidFill>
                <a:latin typeface="Consolas" pitchFamily="34" charset="0"/>
                <a:ea typeface="Consolas" pitchFamily="34" charset="-122"/>
                <a:cs typeface="Consolas" pitchFamily="34" charset="-120"/>
              </a:rPr>
              <a:t>Passo 1: substituir átomos</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(p ∨ q) ∧ (¬q ∨ r)</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(1 ∨ 0) ∧ (¬0 ∨ 1)</a:t>
            </a:r>
            <a:endParaRPr lang="en-US" sz="1400" dirty="0"/>
          </a:p>
          <a:p>
            <a:pPr marL="0" indent="0">
              <a:buNone/>
            </a:pP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Passo 2: resolver negação</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(1 ∨ 0) ∧ (1 ∨ 1)</a:t>
            </a:r>
            <a:endParaRPr lang="en-US" sz="1400" dirty="0"/>
          </a:p>
          <a:p>
            <a:pPr marL="0" indent="0">
              <a:buNone/>
            </a:pP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Passo 3: resolver disjunções</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1    ∧    1</a:t>
            </a:r>
            <a:endParaRPr lang="en-US" sz="1400" dirty="0"/>
          </a:p>
          <a:p>
            <a:pPr marL="0" indent="0">
              <a:buNone/>
            </a:pP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Passo 4: resolver conjunção</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1   ✓</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13 / 25</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MUNDOS POSSÍVEIS</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2 · Lógica Proposicional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Cada atribuição é um mundo</a:t>
            </a:r>
            <a:endParaRPr lang="en-US" sz="3600" dirty="0"/>
          </a:p>
        </p:txBody>
      </p:sp>
      <p:sp>
        <p:nvSpPr>
          <p:cNvPr id="9" name="Text 7"/>
          <p:cNvSpPr/>
          <p:nvPr/>
        </p:nvSpPr>
        <p:spPr>
          <a:xfrm>
            <a:off x="502920" y="1554480"/>
            <a:ext cx="11185855" cy="457200"/>
          </a:xfrm>
          <a:prstGeom prst="rect">
            <a:avLst/>
          </a:prstGeom>
          <a:noFill/>
          <a:ln/>
        </p:spPr>
        <p:txBody>
          <a:bodyPr wrap="square" rtlCol="0" anchor="ctr"/>
          <a:lstStyle/>
          <a:p>
            <a:pPr marL="0" indent="0">
              <a:buNone/>
            </a:pPr>
            <a:r>
              <a:rPr lang="en-US" sz="1600" i="1" dirty="0">
                <a:solidFill>
                  <a:srgbClr val="2A3550"/>
                </a:solidFill>
                <a:latin typeface="Merriweather" pitchFamily="34" charset="0"/>
                <a:ea typeface="Merriweather" pitchFamily="34" charset="-122"/>
                <a:cs typeface="Merriweather" pitchFamily="34" charset="-120"/>
              </a:rPr>
              <a:t>Com n átomos, existem 2ⁿ mundos possíveis</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14 / 25</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MUNDOS POSSÍVEIS</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2 · Lógica Proposicional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Os 4 mundos com c (chove) e g (guarda-chuva)</a:t>
            </a:r>
            <a:endParaRPr lang="en-US" sz="36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2072488" y="2103120"/>
          <a:ext cx="8046720" cy="1920240"/>
        </p:xfrm>
        <a:graphic>
          <a:graphicData uri="http://schemas.openxmlformats.org/drawingml/2006/table">
            <a:tbl>
              <a:tblPr/>
              <a:tblGrid>
                <a:gridCol w="11887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5029200">
                  <a:extLst>
                    <a:ext uri="{9D8B030D-6E8A-4147-A177-3AD203B41FA5}">
                      <a16:colId xmlns:a16="http://schemas.microsoft.com/office/drawing/2014/main" val="20003"/>
                    </a:ext>
                  </a:extLst>
                </a:gridCol>
              </a:tblGrid>
              <a:tr h="384048">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Mundo</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c</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g</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Descrição</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extLst>
                  <a:ext uri="{0D108BD9-81ED-4DB2-BD59-A6C34878D82A}">
                    <a16:rowId xmlns:a16="http://schemas.microsoft.com/office/drawing/2014/main" val="10000"/>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w₁</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Chove e levo guarda-chuva</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w₂</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Chove e não levo</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w₃</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Não chove mas levo</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w₄</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Não chove e não levo</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0" name="Text 7"/>
          <p:cNvSpPr/>
          <p:nvPr/>
        </p:nvSpPr>
        <p:spPr>
          <a:xfrm>
            <a:off x="2072488" y="4069080"/>
            <a:ext cx="8046720" cy="274320"/>
          </a:xfrm>
          <a:prstGeom prst="rect">
            <a:avLst/>
          </a:prstGeom>
          <a:noFill/>
          <a:ln/>
        </p:spPr>
        <p:txBody>
          <a:bodyPr wrap="square" rtlCol="0" anchor="ctr"/>
          <a:lstStyle/>
          <a:p>
            <a:pPr marL="0" indent="0" algn="ctr">
              <a:buNone/>
            </a:pPr>
            <a:r>
              <a:rPr lang="en-US" sz="1000" i="1" dirty="0">
                <a:solidFill>
                  <a:srgbClr val="6B6452"/>
                </a:solidFill>
                <a:latin typeface="Source Sans 3" pitchFamily="34" charset="0"/>
                <a:ea typeface="Source Sans 3" pitchFamily="34" charset="-122"/>
                <a:cs typeface="Source Sans 3" pitchFamily="34" charset="-120"/>
              </a:rPr>
              <a:t>Espaço completo: as 2² = 4 combinações.</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15 / 25</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ELIMINAÇÃO POR PREMISSA</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2 · Lógica Proposicional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Premissa "c ⇒ g" elimina w₂</a:t>
            </a:r>
            <a:endParaRPr lang="en-US" sz="36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2758288" y="2103120"/>
          <a:ext cx="9144000" cy="914400"/>
        </p:xfrm>
        <a:graphic>
          <a:graphicData uri="http://schemas.openxmlformats.org/drawingml/2006/table">
            <a:tbl>
              <a:tblPr/>
              <a:tblGrid>
                <a:gridCol w="11887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384048">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Mundo</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c</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g</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c ⇒ g</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Status</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extLst>
                  <a:ext uri="{0D108BD9-81ED-4DB2-BD59-A6C34878D82A}">
                    <a16:rowId xmlns:a16="http://schemas.microsoft.com/office/drawing/2014/main" val="10000"/>
                  </a:ext>
                </a:extLst>
              </a:tr>
              <a:tr h="384048">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w₁</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 sobrevive</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extLst>
                  <a:ext uri="{0D108BD9-81ED-4DB2-BD59-A6C34878D82A}">
                    <a16:rowId xmlns:a16="http://schemas.microsoft.com/office/drawing/2014/main" val="10001"/>
                  </a:ext>
                </a:extLst>
              </a:tr>
              <a:tr h="384048">
                <a:tc>
                  <a:txBody>
                    <a:bodyPr/>
                    <a:lstStyle/>
                    <a:p>
                      <a:pPr marL="0" indent="0" algn="ctr">
                        <a:buNone/>
                      </a:pPr>
                      <a:r>
                        <a:rPr lang="en-US" sz="1500" strike="sngStrike" dirty="0">
                          <a:solidFill>
                            <a:srgbClr val="9B1C1C"/>
                          </a:solidFill>
                          <a:latin typeface="Cambria" pitchFamily="34" charset="0"/>
                          <a:ea typeface="Cambria" pitchFamily="34" charset="-122"/>
                          <a:cs typeface="Cambria" pitchFamily="34" charset="-120"/>
                        </a:rPr>
                        <a:t>w₂</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DE2E2"/>
                    </a:solidFill>
                  </a:tcPr>
                </a:tc>
                <a:tc>
                  <a:txBody>
                    <a:bodyPr/>
                    <a:lstStyle/>
                    <a:p>
                      <a:pPr marL="0" indent="0" algn="ctr">
                        <a:buNone/>
                      </a:pPr>
                      <a:r>
                        <a:rPr lang="en-US" sz="1500" strike="sngStrike" dirty="0">
                          <a:solidFill>
                            <a:srgbClr val="9B1C1C"/>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DE2E2"/>
                    </a:solidFill>
                  </a:tcPr>
                </a:tc>
                <a:tc>
                  <a:txBody>
                    <a:bodyPr/>
                    <a:lstStyle/>
                    <a:p>
                      <a:pPr marL="0" indent="0" algn="ctr">
                        <a:buNone/>
                      </a:pPr>
                      <a:r>
                        <a:rPr lang="en-US" sz="1500" strike="sngStrike" dirty="0">
                          <a:solidFill>
                            <a:srgbClr val="9B1C1C"/>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DE2E2"/>
                    </a:solidFill>
                  </a:tcPr>
                </a:tc>
                <a:tc>
                  <a:txBody>
                    <a:bodyPr/>
                    <a:lstStyle/>
                    <a:p>
                      <a:pPr marL="0" indent="0" algn="ctr">
                        <a:buNone/>
                      </a:pPr>
                      <a:r>
                        <a:rPr lang="en-US" sz="1500" strike="sngStrike" dirty="0">
                          <a:solidFill>
                            <a:srgbClr val="9B1C1C"/>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DE2E2"/>
                    </a:solidFill>
                  </a:tcPr>
                </a:tc>
                <a:tc>
                  <a:txBody>
                    <a:bodyPr/>
                    <a:lstStyle/>
                    <a:p>
                      <a:pPr marL="0" indent="0" algn="ctr">
                        <a:buNone/>
                      </a:pPr>
                      <a:r>
                        <a:rPr lang="en-US" sz="1500" strike="sngStrike" dirty="0">
                          <a:solidFill>
                            <a:srgbClr val="9B1C1C"/>
                          </a:solidFill>
                          <a:latin typeface="Cambria" pitchFamily="34" charset="0"/>
                          <a:ea typeface="Cambria" pitchFamily="34" charset="-122"/>
                          <a:cs typeface="Cambria" pitchFamily="34" charset="-120"/>
                        </a:rPr>
                        <a:t>✗ eliminado</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DE2E2"/>
                    </a:solidFill>
                  </a:tcPr>
                </a:tc>
                <a:extLst>
                  <a:ext uri="{0D108BD9-81ED-4DB2-BD59-A6C34878D82A}">
                    <a16:rowId xmlns:a16="http://schemas.microsoft.com/office/drawing/2014/main" val="10002"/>
                  </a:ext>
                </a:extLst>
              </a:tr>
              <a:tr h="384048">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w₃</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 sobrevive</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extLst>
                  <a:ext uri="{0D108BD9-81ED-4DB2-BD59-A6C34878D82A}">
                    <a16:rowId xmlns:a16="http://schemas.microsoft.com/office/drawing/2014/main" val="10003"/>
                  </a:ext>
                </a:extLst>
              </a:tr>
              <a:tr h="384048">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w₄</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 sobrevive</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extLst>
                  <a:ext uri="{0D108BD9-81ED-4DB2-BD59-A6C34878D82A}">
                    <a16:rowId xmlns:a16="http://schemas.microsoft.com/office/drawing/2014/main" val="10004"/>
                  </a:ext>
                </a:extLst>
              </a:tr>
            </a:tbl>
          </a:graphicData>
        </a:graphic>
      </p:graphicFrame>
      <p:sp>
        <p:nvSpPr>
          <p:cNvPr id="10" name="Text 7"/>
          <p:cNvSpPr/>
          <p:nvPr/>
        </p:nvSpPr>
        <p:spPr>
          <a:xfrm>
            <a:off x="2758288" y="4069080"/>
            <a:ext cx="6675120" cy="274320"/>
          </a:xfrm>
          <a:prstGeom prst="rect">
            <a:avLst/>
          </a:prstGeom>
          <a:noFill/>
          <a:ln/>
        </p:spPr>
        <p:txBody>
          <a:bodyPr wrap="square" rtlCol="0" anchor="ctr"/>
          <a:lstStyle/>
          <a:p>
            <a:pPr marL="0" indent="0" algn="ctr">
              <a:buNone/>
            </a:pPr>
            <a:r>
              <a:rPr lang="en-US" sz="1000" i="1" dirty="0">
                <a:solidFill>
                  <a:srgbClr val="6B6452"/>
                </a:solidFill>
                <a:latin typeface="Source Sans 3" pitchFamily="34" charset="0"/>
                <a:ea typeface="Source Sans 3" pitchFamily="34" charset="-122"/>
                <a:cs typeface="Source Sans 3" pitchFamily="34" charset="-120"/>
              </a:rPr>
              <a:t>Premissa elimina mundos onde ela é falsa.</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16 / 25</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MODUS PONENS VISUAL</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2 · Lógica Proposicional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Adicionando "c": só w₁ sobrevive</a:t>
            </a:r>
            <a:endParaRPr lang="en-US" sz="36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2666848" y="2103120"/>
          <a:ext cx="6858000" cy="1920240"/>
        </p:xfrm>
        <a:graphic>
          <a:graphicData uri="http://schemas.openxmlformats.org/drawingml/2006/table">
            <a:tbl>
              <a:tblPr/>
              <a:tblGrid>
                <a:gridCol w="11887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384048">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Mundo</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c</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g</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c⇒g</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c</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Status</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extLst>
                  <a:ext uri="{0D108BD9-81ED-4DB2-BD59-A6C34878D82A}">
                    <a16:rowId xmlns:a16="http://schemas.microsoft.com/office/drawing/2014/main" val="10000"/>
                  </a:ext>
                </a:extLst>
              </a:tr>
              <a:tr h="384048">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w₁</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 único</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extLst>
                  <a:ext uri="{0D108BD9-81ED-4DB2-BD59-A6C34878D82A}">
                    <a16:rowId xmlns:a16="http://schemas.microsoft.com/office/drawing/2014/main" val="10001"/>
                  </a:ext>
                </a:extLst>
              </a:tr>
              <a:tr h="384048">
                <a:tc>
                  <a:txBody>
                    <a:bodyPr/>
                    <a:lstStyle/>
                    <a:p>
                      <a:pPr marL="0" indent="0" algn="ctr">
                        <a:buNone/>
                      </a:pPr>
                      <a:r>
                        <a:rPr lang="en-US" sz="1500" strike="sngStrike" dirty="0">
                          <a:solidFill>
                            <a:srgbClr val="9B1C1C"/>
                          </a:solidFill>
                          <a:latin typeface="Cambria" pitchFamily="34" charset="0"/>
                          <a:ea typeface="Cambria" pitchFamily="34" charset="-122"/>
                          <a:cs typeface="Cambria" pitchFamily="34" charset="-120"/>
                        </a:rPr>
                        <a:t>w₂</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DE2E2"/>
                    </a:solidFill>
                  </a:tcPr>
                </a:tc>
                <a:tc>
                  <a:txBody>
                    <a:bodyPr/>
                    <a:lstStyle/>
                    <a:p>
                      <a:pPr marL="0" indent="0" algn="ctr">
                        <a:buNone/>
                      </a:pPr>
                      <a:r>
                        <a:rPr lang="en-US" sz="1500" strike="sngStrike" dirty="0">
                          <a:solidFill>
                            <a:srgbClr val="9B1C1C"/>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DE2E2"/>
                    </a:solidFill>
                  </a:tcPr>
                </a:tc>
                <a:tc>
                  <a:txBody>
                    <a:bodyPr/>
                    <a:lstStyle/>
                    <a:p>
                      <a:pPr marL="0" indent="0" algn="ctr">
                        <a:buNone/>
                      </a:pPr>
                      <a:r>
                        <a:rPr lang="en-US" sz="1500" strike="sngStrike" dirty="0">
                          <a:solidFill>
                            <a:srgbClr val="9B1C1C"/>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DE2E2"/>
                    </a:solidFill>
                  </a:tcPr>
                </a:tc>
                <a:tc>
                  <a:txBody>
                    <a:bodyPr/>
                    <a:lstStyle/>
                    <a:p>
                      <a:pPr marL="0" indent="0" algn="ctr">
                        <a:buNone/>
                      </a:pPr>
                      <a:r>
                        <a:rPr lang="en-US" sz="1500" strike="sngStrike" dirty="0">
                          <a:solidFill>
                            <a:srgbClr val="9B1C1C"/>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DE2E2"/>
                    </a:solidFill>
                  </a:tcPr>
                </a:tc>
                <a:tc>
                  <a:txBody>
                    <a:bodyPr/>
                    <a:lstStyle/>
                    <a:p>
                      <a:pPr marL="0" indent="0" algn="ctr">
                        <a:buNone/>
                      </a:pPr>
                      <a:r>
                        <a:rPr lang="en-US" sz="1500" strike="sngStrike" dirty="0">
                          <a:solidFill>
                            <a:srgbClr val="9B1C1C"/>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DE2E2"/>
                    </a:solidFill>
                  </a:tcPr>
                </a:tc>
                <a:tc>
                  <a:txBody>
                    <a:bodyPr/>
                    <a:lstStyle/>
                    <a:p>
                      <a:pPr marL="0" indent="0" algn="ctr">
                        <a:buNone/>
                      </a:pPr>
                      <a:r>
                        <a:rPr lang="en-US" sz="1500" strike="sngStrike" dirty="0">
                          <a:solidFill>
                            <a:srgbClr val="9B1C1C"/>
                          </a:solidFill>
                          <a:latin typeface="Cambria" pitchFamily="34" charset="0"/>
                          <a:ea typeface="Cambria" pitchFamily="34" charset="-122"/>
                          <a:cs typeface="Cambria" pitchFamily="34" charset="-120"/>
                        </a:rPr>
                        <a:t>✗</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DE2E2"/>
                    </a:solidFill>
                  </a:tcPr>
                </a:tc>
                <a:extLst>
                  <a:ext uri="{0D108BD9-81ED-4DB2-BD59-A6C34878D82A}">
                    <a16:rowId xmlns:a16="http://schemas.microsoft.com/office/drawing/2014/main" val="10002"/>
                  </a:ext>
                </a:extLst>
              </a:tr>
              <a:tr h="384048">
                <a:tc>
                  <a:txBody>
                    <a:bodyPr/>
                    <a:lstStyle/>
                    <a:p>
                      <a:pPr marL="0" indent="0" algn="ctr">
                        <a:buNone/>
                      </a:pPr>
                      <a:r>
                        <a:rPr lang="en-US" sz="1500" strike="sngStrike" dirty="0">
                          <a:solidFill>
                            <a:srgbClr val="9B1C1C"/>
                          </a:solidFill>
                          <a:latin typeface="Cambria" pitchFamily="34" charset="0"/>
                          <a:ea typeface="Cambria" pitchFamily="34" charset="-122"/>
                          <a:cs typeface="Cambria" pitchFamily="34" charset="-120"/>
                        </a:rPr>
                        <a:t>w₃</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DE2E2"/>
                    </a:solidFill>
                  </a:tcPr>
                </a:tc>
                <a:tc>
                  <a:txBody>
                    <a:bodyPr/>
                    <a:lstStyle/>
                    <a:p>
                      <a:pPr marL="0" indent="0" algn="ctr">
                        <a:buNone/>
                      </a:pPr>
                      <a:r>
                        <a:rPr lang="en-US" sz="1500" strike="sngStrike" dirty="0">
                          <a:solidFill>
                            <a:srgbClr val="9B1C1C"/>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DE2E2"/>
                    </a:solidFill>
                  </a:tcPr>
                </a:tc>
                <a:tc>
                  <a:txBody>
                    <a:bodyPr/>
                    <a:lstStyle/>
                    <a:p>
                      <a:pPr marL="0" indent="0" algn="ctr">
                        <a:buNone/>
                      </a:pPr>
                      <a:r>
                        <a:rPr lang="en-US" sz="1500" strike="sngStrike" dirty="0">
                          <a:solidFill>
                            <a:srgbClr val="9B1C1C"/>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DE2E2"/>
                    </a:solidFill>
                  </a:tcPr>
                </a:tc>
                <a:tc>
                  <a:txBody>
                    <a:bodyPr/>
                    <a:lstStyle/>
                    <a:p>
                      <a:pPr marL="0" indent="0" algn="ctr">
                        <a:buNone/>
                      </a:pPr>
                      <a:r>
                        <a:rPr lang="en-US" sz="1500" strike="sngStrike" dirty="0">
                          <a:solidFill>
                            <a:srgbClr val="9B1C1C"/>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DE2E2"/>
                    </a:solidFill>
                  </a:tcPr>
                </a:tc>
                <a:tc>
                  <a:txBody>
                    <a:bodyPr/>
                    <a:lstStyle/>
                    <a:p>
                      <a:pPr marL="0" indent="0" algn="ctr">
                        <a:buNone/>
                      </a:pPr>
                      <a:r>
                        <a:rPr lang="en-US" sz="1500" strike="sngStrike" dirty="0">
                          <a:solidFill>
                            <a:srgbClr val="9B1C1C"/>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DE2E2"/>
                    </a:solidFill>
                  </a:tcPr>
                </a:tc>
                <a:tc>
                  <a:txBody>
                    <a:bodyPr/>
                    <a:lstStyle/>
                    <a:p>
                      <a:pPr marL="0" indent="0" algn="ctr">
                        <a:buNone/>
                      </a:pPr>
                      <a:r>
                        <a:rPr lang="en-US" sz="1500" strike="sngStrike" dirty="0">
                          <a:solidFill>
                            <a:srgbClr val="9B1C1C"/>
                          </a:solidFill>
                          <a:latin typeface="Cambria" pitchFamily="34" charset="0"/>
                          <a:ea typeface="Cambria" pitchFamily="34" charset="-122"/>
                          <a:cs typeface="Cambria" pitchFamily="34" charset="-120"/>
                        </a:rPr>
                        <a:t>✗</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DE2E2"/>
                    </a:solidFill>
                  </a:tcPr>
                </a:tc>
                <a:extLst>
                  <a:ext uri="{0D108BD9-81ED-4DB2-BD59-A6C34878D82A}">
                    <a16:rowId xmlns:a16="http://schemas.microsoft.com/office/drawing/2014/main" val="10003"/>
                  </a:ext>
                </a:extLst>
              </a:tr>
              <a:tr h="384048">
                <a:tc>
                  <a:txBody>
                    <a:bodyPr/>
                    <a:lstStyle/>
                    <a:p>
                      <a:pPr marL="0" indent="0" algn="ctr">
                        <a:buNone/>
                      </a:pPr>
                      <a:r>
                        <a:rPr lang="en-US" sz="1500" strike="sngStrike" dirty="0">
                          <a:solidFill>
                            <a:srgbClr val="9B1C1C"/>
                          </a:solidFill>
                          <a:latin typeface="Cambria" pitchFamily="34" charset="0"/>
                          <a:ea typeface="Cambria" pitchFamily="34" charset="-122"/>
                          <a:cs typeface="Cambria" pitchFamily="34" charset="-120"/>
                        </a:rPr>
                        <a:t>w₄</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DE2E2"/>
                    </a:solidFill>
                  </a:tcPr>
                </a:tc>
                <a:tc>
                  <a:txBody>
                    <a:bodyPr/>
                    <a:lstStyle/>
                    <a:p>
                      <a:pPr marL="0" indent="0" algn="ctr">
                        <a:buNone/>
                      </a:pPr>
                      <a:r>
                        <a:rPr lang="en-US" sz="1500" strike="sngStrike" dirty="0">
                          <a:solidFill>
                            <a:srgbClr val="9B1C1C"/>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DE2E2"/>
                    </a:solidFill>
                  </a:tcPr>
                </a:tc>
                <a:tc>
                  <a:txBody>
                    <a:bodyPr/>
                    <a:lstStyle/>
                    <a:p>
                      <a:pPr marL="0" indent="0" algn="ctr">
                        <a:buNone/>
                      </a:pPr>
                      <a:r>
                        <a:rPr lang="en-US" sz="1500" strike="sngStrike" dirty="0">
                          <a:solidFill>
                            <a:srgbClr val="9B1C1C"/>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DE2E2"/>
                    </a:solidFill>
                  </a:tcPr>
                </a:tc>
                <a:tc>
                  <a:txBody>
                    <a:bodyPr/>
                    <a:lstStyle/>
                    <a:p>
                      <a:pPr marL="0" indent="0" algn="ctr">
                        <a:buNone/>
                      </a:pPr>
                      <a:r>
                        <a:rPr lang="en-US" sz="1500" strike="sngStrike" dirty="0">
                          <a:solidFill>
                            <a:srgbClr val="9B1C1C"/>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DE2E2"/>
                    </a:solidFill>
                  </a:tcPr>
                </a:tc>
                <a:tc>
                  <a:txBody>
                    <a:bodyPr/>
                    <a:lstStyle/>
                    <a:p>
                      <a:pPr marL="0" indent="0" algn="ctr">
                        <a:buNone/>
                      </a:pPr>
                      <a:r>
                        <a:rPr lang="en-US" sz="1500" strike="sngStrike" dirty="0">
                          <a:solidFill>
                            <a:srgbClr val="9B1C1C"/>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DE2E2"/>
                    </a:solidFill>
                  </a:tcPr>
                </a:tc>
                <a:tc>
                  <a:txBody>
                    <a:bodyPr/>
                    <a:lstStyle/>
                    <a:p>
                      <a:pPr marL="0" indent="0" algn="ctr">
                        <a:buNone/>
                      </a:pPr>
                      <a:r>
                        <a:rPr lang="en-US" sz="1500" strike="sngStrike" dirty="0">
                          <a:solidFill>
                            <a:srgbClr val="9B1C1C"/>
                          </a:solidFill>
                          <a:latin typeface="Cambria" pitchFamily="34" charset="0"/>
                          <a:ea typeface="Cambria" pitchFamily="34" charset="-122"/>
                          <a:cs typeface="Cambria" pitchFamily="34" charset="-120"/>
                        </a:rPr>
                        <a:t>✗</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DE2E2"/>
                    </a:solidFill>
                  </a:tcPr>
                </a:tc>
                <a:extLst>
                  <a:ext uri="{0D108BD9-81ED-4DB2-BD59-A6C34878D82A}">
                    <a16:rowId xmlns:a16="http://schemas.microsoft.com/office/drawing/2014/main" val="10004"/>
                  </a:ext>
                </a:extLst>
              </a:tr>
            </a:tbl>
          </a:graphicData>
        </a:graphic>
      </p:graphicFrame>
      <p:sp>
        <p:nvSpPr>
          <p:cNvPr id="10" name="Text 7"/>
          <p:cNvSpPr/>
          <p:nvPr/>
        </p:nvSpPr>
        <p:spPr>
          <a:xfrm>
            <a:off x="2666848" y="4069080"/>
            <a:ext cx="6858000" cy="274320"/>
          </a:xfrm>
          <a:prstGeom prst="rect">
            <a:avLst/>
          </a:prstGeom>
          <a:noFill/>
          <a:ln/>
        </p:spPr>
        <p:txBody>
          <a:bodyPr wrap="square" rtlCol="0" anchor="ctr"/>
          <a:lstStyle/>
          <a:p>
            <a:pPr marL="0" indent="0" algn="ctr">
              <a:buNone/>
            </a:pPr>
            <a:r>
              <a:rPr lang="en-US" sz="1000" i="1" dirty="0">
                <a:solidFill>
                  <a:srgbClr val="6B6452"/>
                </a:solidFill>
                <a:latin typeface="Source Sans 3" pitchFamily="34" charset="0"/>
                <a:ea typeface="Source Sans 3" pitchFamily="34" charset="-122"/>
                <a:cs typeface="Source Sans 3" pitchFamily="34" charset="-120"/>
              </a:rPr>
              <a:t>Em w₁: g = 1. Logo {c⇒g, c} ⊨ g.</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17 / 25</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PROPRIEDADES</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2 · Lógica Proposicional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Três comportamentos possíveis</a:t>
            </a:r>
            <a:endParaRPr lang="en-US" sz="3600" dirty="0"/>
          </a:p>
        </p:txBody>
      </p:sp>
      <p:sp>
        <p:nvSpPr>
          <p:cNvPr id="9" name="Shape 7"/>
          <p:cNvSpPr/>
          <p:nvPr/>
        </p:nvSpPr>
        <p:spPr>
          <a:xfrm>
            <a:off x="502920" y="2194560"/>
            <a:ext cx="3576218" cy="2011680"/>
          </a:xfrm>
          <a:prstGeom prst="rect">
            <a:avLst/>
          </a:prstGeom>
          <a:solidFill>
            <a:srgbClr val="FFFFFF"/>
          </a:solidFill>
          <a:ln w="9525">
            <a:solidFill>
              <a:srgbClr val="CBBFA3"/>
            </a:solidFill>
            <a:prstDash val="solid"/>
          </a:ln>
        </p:spPr>
      </p:sp>
      <p:sp>
        <p:nvSpPr>
          <p:cNvPr id="10" name="Text 8"/>
          <p:cNvSpPr/>
          <p:nvPr/>
        </p:nvSpPr>
        <p:spPr>
          <a:xfrm>
            <a:off x="685800"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VÁLIDA</a:t>
            </a:r>
            <a:endParaRPr lang="en-US" sz="900" dirty="0"/>
          </a:p>
        </p:txBody>
      </p:sp>
      <p:sp>
        <p:nvSpPr>
          <p:cNvPr id="11" name="Text 9"/>
          <p:cNvSpPr/>
          <p:nvPr/>
        </p:nvSpPr>
        <p:spPr>
          <a:xfrm>
            <a:off x="685800"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p ∨ ¬p</a:t>
            </a:r>
            <a:endParaRPr lang="en-US" sz="1800" dirty="0"/>
          </a:p>
        </p:txBody>
      </p:sp>
      <p:sp>
        <p:nvSpPr>
          <p:cNvPr id="12" name="Text 10"/>
          <p:cNvSpPr/>
          <p:nvPr/>
        </p:nvSpPr>
        <p:spPr>
          <a:xfrm>
            <a:off x="685800"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Verdadeira em todo mundo. Tautologia.</a:t>
            </a:r>
            <a:endParaRPr lang="en-US" sz="1300" dirty="0"/>
          </a:p>
        </p:txBody>
      </p:sp>
      <p:sp>
        <p:nvSpPr>
          <p:cNvPr id="13" name="Shape 11"/>
          <p:cNvSpPr/>
          <p:nvPr/>
        </p:nvSpPr>
        <p:spPr>
          <a:xfrm>
            <a:off x="4307738" y="2194560"/>
            <a:ext cx="3576218" cy="2011680"/>
          </a:xfrm>
          <a:prstGeom prst="rect">
            <a:avLst/>
          </a:prstGeom>
          <a:solidFill>
            <a:srgbClr val="FFFFFF"/>
          </a:solidFill>
          <a:ln w="9525">
            <a:solidFill>
              <a:srgbClr val="CBBFA3"/>
            </a:solidFill>
            <a:prstDash val="solid"/>
          </a:ln>
        </p:spPr>
      </p:sp>
      <p:sp>
        <p:nvSpPr>
          <p:cNvPr id="14" name="Text 12"/>
          <p:cNvSpPr/>
          <p:nvPr/>
        </p:nvSpPr>
        <p:spPr>
          <a:xfrm>
            <a:off x="4490618"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INSATISFATÍVEL</a:t>
            </a:r>
            <a:endParaRPr lang="en-US" sz="900" dirty="0"/>
          </a:p>
        </p:txBody>
      </p:sp>
      <p:sp>
        <p:nvSpPr>
          <p:cNvPr id="15" name="Text 13"/>
          <p:cNvSpPr/>
          <p:nvPr/>
        </p:nvSpPr>
        <p:spPr>
          <a:xfrm>
            <a:off x="4490618"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p ∧ ¬p</a:t>
            </a:r>
            <a:endParaRPr lang="en-US" sz="1800" dirty="0"/>
          </a:p>
        </p:txBody>
      </p:sp>
      <p:sp>
        <p:nvSpPr>
          <p:cNvPr id="16" name="Text 14"/>
          <p:cNvSpPr/>
          <p:nvPr/>
        </p:nvSpPr>
        <p:spPr>
          <a:xfrm>
            <a:off x="4490618"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Falsa em todo mundo. Contradição.</a:t>
            </a:r>
            <a:endParaRPr lang="en-US" sz="1300" dirty="0"/>
          </a:p>
        </p:txBody>
      </p:sp>
      <p:sp>
        <p:nvSpPr>
          <p:cNvPr id="17" name="Shape 15"/>
          <p:cNvSpPr/>
          <p:nvPr/>
        </p:nvSpPr>
        <p:spPr>
          <a:xfrm>
            <a:off x="8112557" y="2194560"/>
            <a:ext cx="3576218" cy="2011680"/>
          </a:xfrm>
          <a:prstGeom prst="rect">
            <a:avLst/>
          </a:prstGeom>
          <a:solidFill>
            <a:srgbClr val="FFFFFF"/>
          </a:solidFill>
          <a:ln w="9525">
            <a:solidFill>
              <a:srgbClr val="CBBFA3"/>
            </a:solidFill>
            <a:prstDash val="solid"/>
          </a:ln>
        </p:spPr>
      </p:sp>
      <p:sp>
        <p:nvSpPr>
          <p:cNvPr id="18" name="Text 16"/>
          <p:cNvSpPr/>
          <p:nvPr/>
        </p:nvSpPr>
        <p:spPr>
          <a:xfrm>
            <a:off x="8295437"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CONTINGENTE</a:t>
            </a:r>
            <a:endParaRPr lang="en-US" sz="900" dirty="0"/>
          </a:p>
        </p:txBody>
      </p:sp>
      <p:sp>
        <p:nvSpPr>
          <p:cNvPr id="19" name="Text 17"/>
          <p:cNvSpPr/>
          <p:nvPr/>
        </p:nvSpPr>
        <p:spPr>
          <a:xfrm>
            <a:off x="8295437"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p ∧ q</a:t>
            </a:r>
            <a:endParaRPr lang="en-US" sz="1800" dirty="0"/>
          </a:p>
        </p:txBody>
      </p:sp>
      <p:sp>
        <p:nvSpPr>
          <p:cNvPr id="20" name="Text 18"/>
          <p:cNvSpPr/>
          <p:nvPr/>
        </p:nvSpPr>
        <p:spPr>
          <a:xfrm>
            <a:off x="8295437"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Verdadeira em alguns, falsa em outros.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18 / 25</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EQUIVALÊNCIA (DE MORGAN)</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2 · Lógica Proposicional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¬(p ∨ q) ≡ ¬p ∧ ¬q</a:t>
            </a:r>
            <a:endParaRPr lang="en-US" sz="36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3352648" y="2103120"/>
          <a:ext cx="5486400" cy="1920240"/>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384048">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p</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q</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¬(p∨q)</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¬p ∧ ¬q</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extLst>
                  <a:ext uri="{0D108BD9-81ED-4DB2-BD59-A6C34878D82A}">
                    <a16:rowId xmlns:a16="http://schemas.microsoft.com/office/drawing/2014/main" val="10000"/>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extLst>
                  <a:ext uri="{0D108BD9-81ED-4DB2-BD59-A6C34878D82A}">
                    <a16:rowId xmlns:a16="http://schemas.microsoft.com/office/drawing/2014/main" val="10004"/>
                  </a:ext>
                </a:extLst>
              </a:tr>
            </a:tbl>
          </a:graphicData>
        </a:graphic>
      </p:graphicFrame>
      <p:sp>
        <p:nvSpPr>
          <p:cNvPr id="10" name="Text 7"/>
          <p:cNvSpPr/>
          <p:nvPr/>
        </p:nvSpPr>
        <p:spPr>
          <a:xfrm>
            <a:off x="3352648" y="4069080"/>
            <a:ext cx="5486400" cy="274320"/>
          </a:xfrm>
          <a:prstGeom prst="rect">
            <a:avLst/>
          </a:prstGeom>
          <a:noFill/>
          <a:ln/>
        </p:spPr>
        <p:txBody>
          <a:bodyPr wrap="square" rtlCol="0" anchor="ctr"/>
          <a:lstStyle/>
          <a:p>
            <a:pPr marL="0" indent="0" algn="ctr">
              <a:buNone/>
            </a:pPr>
            <a:r>
              <a:rPr lang="en-US" sz="1000" i="1" dirty="0">
                <a:solidFill>
                  <a:srgbClr val="6B6452"/>
                </a:solidFill>
                <a:latin typeface="Source Sans 3" pitchFamily="34" charset="0"/>
                <a:ea typeface="Source Sans 3" pitchFamily="34" charset="-122"/>
                <a:cs typeface="Source Sans 3" pitchFamily="34" charset="-120"/>
              </a:rPr>
              <a:t>Colunas idênticas em todas as linhas → equivalência.</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19 / 25</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CONSEQUÊNCIA LÓGICA</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2 · Lógica Proposicional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Δ ⊨ ψ</a:t>
            </a:r>
            <a:endParaRPr lang="en-US" sz="3600" dirty="0"/>
          </a:p>
        </p:txBody>
      </p:sp>
      <p:sp>
        <p:nvSpPr>
          <p:cNvPr id="9" name="Shape 7"/>
          <p:cNvSpPr/>
          <p:nvPr/>
        </p:nvSpPr>
        <p:spPr>
          <a:xfrm>
            <a:off x="1981048" y="2377440"/>
            <a:ext cx="8229600" cy="1371600"/>
          </a:xfrm>
          <a:prstGeom prst="rect">
            <a:avLst/>
          </a:prstGeom>
          <a:solidFill>
            <a:srgbClr val="FFFFFF"/>
          </a:solidFill>
          <a:ln w="12700">
            <a:solidFill>
              <a:srgbClr val="CBBFA3"/>
            </a:solidFill>
            <a:prstDash val="solid"/>
          </a:ln>
        </p:spPr>
      </p:sp>
      <p:sp>
        <p:nvSpPr>
          <p:cNvPr id="10" name="Shape 8"/>
          <p:cNvSpPr/>
          <p:nvPr/>
        </p:nvSpPr>
        <p:spPr>
          <a:xfrm>
            <a:off x="1981048" y="2377440"/>
            <a:ext cx="64008" cy="1371600"/>
          </a:xfrm>
          <a:prstGeom prst="rect">
            <a:avLst/>
          </a:prstGeom>
          <a:solidFill>
            <a:srgbClr val="E07A1F"/>
          </a:solidFill>
          <a:ln w="12700">
            <a:solidFill>
              <a:srgbClr val="E07A1F"/>
            </a:solidFill>
            <a:prstDash val="solid"/>
          </a:ln>
        </p:spPr>
      </p:sp>
      <p:sp>
        <p:nvSpPr>
          <p:cNvPr id="11" name="Text 9"/>
          <p:cNvSpPr/>
          <p:nvPr/>
        </p:nvSpPr>
        <p:spPr>
          <a:xfrm>
            <a:off x="2163928" y="2377440"/>
            <a:ext cx="7955280" cy="1371600"/>
          </a:xfrm>
          <a:prstGeom prst="rect">
            <a:avLst/>
          </a:prstGeom>
          <a:noFill/>
          <a:ln/>
        </p:spPr>
        <p:txBody>
          <a:bodyPr wrap="square" rtlCol="0" anchor="ctr"/>
          <a:lstStyle/>
          <a:p>
            <a:pPr marL="0" indent="0" algn="ctr">
              <a:buNone/>
            </a:pPr>
            <a:r>
              <a:rPr lang="en-US" sz="2800" dirty="0">
                <a:solidFill>
                  <a:srgbClr val="1A2238"/>
                </a:solidFill>
                <a:latin typeface="Cambria" pitchFamily="34" charset="0"/>
                <a:ea typeface="Cambria" pitchFamily="34" charset="-122"/>
                <a:cs typeface="Cambria" pitchFamily="34" charset="-120"/>
              </a:rPr>
              <a:t>em todo mundo onde Δ vale, ψ também vale</a:t>
            </a:r>
            <a:endParaRPr lang="en-US" sz="2800" dirty="0"/>
          </a:p>
        </p:txBody>
      </p:sp>
      <p:sp>
        <p:nvSpPr>
          <p:cNvPr id="12" name="Text 10"/>
          <p:cNvSpPr/>
          <p:nvPr/>
        </p:nvSpPr>
        <p:spPr>
          <a:xfrm>
            <a:off x="502920" y="3840480"/>
            <a:ext cx="11185855" cy="365760"/>
          </a:xfrm>
          <a:prstGeom prst="rect">
            <a:avLst/>
          </a:prstGeom>
          <a:noFill/>
          <a:ln/>
        </p:spPr>
        <p:txBody>
          <a:bodyPr wrap="square" rtlCol="0" anchor="ctr"/>
          <a:lstStyle/>
          <a:p>
            <a:pPr marL="0" indent="0" algn="ctr">
              <a:buNone/>
            </a:pPr>
            <a:r>
              <a:rPr lang="en-US" sz="1200" i="1" dirty="0">
                <a:solidFill>
                  <a:srgbClr val="6B6452"/>
                </a:solidFill>
                <a:latin typeface="Source Sans 3" pitchFamily="34" charset="0"/>
                <a:ea typeface="Source Sans 3" pitchFamily="34" charset="-122"/>
                <a:cs typeface="Source Sans 3" pitchFamily="34" charset="-120"/>
              </a:rPr>
              <a:t>É uma garantia universal — não probabilística.</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20 / 25</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CONSEQUÊNCIA · EXEMPLO</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2 · Lógica Proposicional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p ⊨ (p ∨ q)</a:t>
            </a:r>
            <a:endParaRPr lang="en-US" sz="36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3672688" y="2103120"/>
          <a:ext cx="4846320" cy="1920240"/>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384048">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p</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q</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p</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p ∨ q</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extLst>
                  <a:ext uri="{0D108BD9-81ED-4DB2-BD59-A6C34878D82A}">
                    <a16:rowId xmlns:a16="http://schemas.microsoft.com/office/drawing/2014/main" val="10000"/>
                  </a:ext>
                </a:extLst>
              </a:tr>
              <a:tr h="384048">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extLst>
                  <a:ext uri="{0D108BD9-81ED-4DB2-BD59-A6C34878D82A}">
                    <a16:rowId xmlns:a16="http://schemas.microsoft.com/office/drawing/2014/main" val="10001"/>
                  </a:ext>
                </a:extLst>
              </a:tr>
              <a:tr h="384048">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tc>
                  <a:txBody>
                    <a:bodyPr/>
                    <a:lstStyle/>
                    <a:p>
                      <a:pPr marL="0" indent="0" algn="ctr">
                        <a:buNone/>
                      </a:pPr>
                      <a:r>
                        <a:rPr lang="en-US" sz="1500" dirty="0">
                          <a:solidFill>
                            <a:srgbClr val="1A7F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DCFCE7"/>
                    </a:solidFill>
                  </a:tcPr>
                </a:tc>
                <a:extLst>
                  <a:ext uri="{0D108BD9-81ED-4DB2-BD59-A6C34878D82A}">
                    <a16:rowId xmlns:a16="http://schemas.microsoft.com/office/drawing/2014/main" val="10002"/>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1</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0</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0" name="Text 7"/>
          <p:cNvSpPr/>
          <p:nvPr/>
        </p:nvSpPr>
        <p:spPr>
          <a:xfrm>
            <a:off x="3672688" y="4069080"/>
            <a:ext cx="4846320" cy="274320"/>
          </a:xfrm>
          <a:prstGeom prst="rect">
            <a:avLst/>
          </a:prstGeom>
          <a:noFill/>
          <a:ln/>
        </p:spPr>
        <p:txBody>
          <a:bodyPr wrap="square" rtlCol="0" anchor="ctr"/>
          <a:lstStyle/>
          <a:p>
            <a:pPr marL="0" indent="0" algn="ctr">
              <a:buNone/>
            </a:pPr>
            <a:r>
              <a:rPr lang="en-US" sz="1000" i="1" dirty="0">
                <a:solidFill>
                  <a:srgbClr val="6B6452"/>
                </a:solidFill>
                <a:latin typeface="Source Sans 3" pitchFamily="34" charset="0"/>
                <a:ea typeface="Source Sans 3" pitchFamily="34" charset="-122"/>
                <a:cs typeface="Source Sans 3" pitchFamily="34" charset="-120"/>
              </a:rPr>
              <a:t>Não existe linha com premissa 1 e conclusão 0.</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21 / 25</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CONSISTÊNCIA</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2 · Lógica Proposicional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As regras são compatíveis?</a:t>
            </a:r>
            <a:endParaRPr lang="en-US" sz="3600" dirty="0"/>
          </a:p>
        </p:txBody>
      </p:sp>
      <p:sp>
        <p:nvSpPr>
          <p:cNvPr id="9" name="Shape 7"/>
          <p:cNvSpPr/>
          <p:nvPr/>
        </p:nvSpPr>
        <p:spPr>
          <a:xfrm>
            <a:off x="502920" y="2194560"/>
            <a:ext cx="3576218" cy="2011680"/>
          </a:xfrm>
          <a:prstGeom prst="rect">
            <a:avLst/>
          </a:prstGeom>
          <a:solidFill>
            <a:srgbClr val="FFFFFF"/>
          </a:solidFill>
          <a:ln w="9525">
            <a:solidFill>
              <a:srgbClr val="CBBFA3"/>
            </a:solidFill>
            <a:prstDash val="solid"/>
          </a:ln>
        </p:spPr>
      </p:sp>
      <p:sp>
        <p:nvSpPr>
          <p:cNvPr id="10" name="Text 8"/>
          <p:cNvSpPr/>
          <p:nvPr/>
        </p:nvSpPr>
        <p:spPr>
          <a:xfrm>
            <a:off x="685800"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CONSISTENTE</a:t>
            </a:r>
            <a:endParaRPr lang="en-US" sz="900" dirty="0"/>
          </a:p>
        </p:txBody>
      </p:sp>
      <p:sp>
        <p:nvSpPr>
          <p:cNvPr id="11" name="Text 9"/>
          <p:cNvSpPr/>
          <p:nvPr/>
        </p:nvSpPr>
        <p:spPr>
          <a:xfrm>
            <a:off x="685800"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 mundo</a:t>
            </a:r>
            <a:endParaRPr lang="en-US" sz="1800" dirty="0"/>
          </a:p>
        </p:txBody>
      </p:sp>
      <p:sp>
        <p:nvSpPr>
          <p:cNvPr id="12" name="Text 10"/>
          <p:cNvSpPr/>
          <p:nvPr/>
        </p:nvSpPr>
        <p:spPr>
          <a:xfrm>
            <a:off x="685800"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Existe atribuição que satisfaz todas.</a:t>
            </a:r>
            <a:endParaRPr lang="en-US" sz="1300" dirty="0"/>
          </a:p>
        </p:txBody>
      </p:sp>
      <p:sp>
        <p:nvSpPr>
          <p:cNvPr id="13" name="Shape 11"/>
          <p:cNvSpPr/>
          <p:nvPr/>
        </p:nvSpPr>
        <p:spPr>
          <a:xfrm>
            <a:off x="4307738" y="2194560"/>
            <a:ext cx="3576218" cy="2011680"/>
          </a:xfrm>
          <a:prstGeom prst="rect">
            <a:avLst/>
          </a:prstGeom>
          <a:solidFill>
            <a:srgbClr val="FFFFFF"/>
          </a:solidFill>
          <a:ln w="9525">
            <a:solidFill>
              <a:srgbClr val="CBBFA3"/>
            </a:solidFill>
            <a:prstDash val="solid"/>
          </a:ln>
        </p:spPr>
      </p:sp>
      <p:sp>
        <p:nvSpPr>
          <p:cNvPr id="14" name="Text 12"/>
          <p:cNvSpPr/>
          <p:nvPr/>
        </p:nvSpPr>
        <p:spPr>
          <a:xfrm>
            <a:off x="4490618"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INCONSISTENTE</a:t>
            </a:r>
            <a:endParaRPr lang="en-US" sz="900" dirty="0"/>
          </a:p>
        </p:txBody>
      </p:sp>
      <p:sp>
        <p:nvSpPr>
          <p:cNvPr id="15" name="Text 13"/>
          <p:cNvSpPr/>
          <p:nvPr/>
        </p:nvSpPr>
        <p:spPr>
          <a:xfrm>
            <a:off x="4490618"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a:t>
            </a:r>
            <a:endParaRPr lang="en-US" sz="1800" dirty="0"/>
          </a:p>
        </p:txBody>
      </p:sp>
      <p:sp>
        <p:nvSpPr>
          <p:cNvPr id="16" name="Text 14"/>
          <p:cNvSpPr/>
          <p:nvPr/>
        </p:nvSpPr>
        <p:spPr>
          <a:xfrm>
            <a:off x="4490618"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Nenhuma atribuição funciona.</a:t>
            </a:r>
            <a:endParaRPr lang="en-US" sz="1300" dirty="0"/>
          </a:p>
        </p:txBody>
      </p:sp>
      <p:sp>
        <p:nvSpPr>
          <p:cNvPr id="17" name="Shape 15"/>
          <p:cNvSpPr/>
          <p:nvPr/>
        </p:nvSpPr>
        <p:spPr>
          <a:xfrm>
            <a:off x="8112557" y="2194560"/>
            <a:ext cx="3576218" cy="2011680"/>
          </a:xfrm>
          <a:prstGeom prst="rect">
            <a:avLst/>
          </a:prstGeom>
          <a:solidFill>
            <a:srgbClr val="FFFFFF"/>
          </a:solidFill>
          <a:ln w="9525">
            <a:solidFill>
              <a:srgbClr val="CBBFA3"/>
            </a:solidFill>
            <a:prstDash val="solid"/>
          </a:ln>
        </p:spPr>
      </p:sp>
      <p:sp>
        <p:nvSpPr>
          <p:cNvPr id="18" name="Text 16"/>
          <p:cNvSpPr/>
          <p:nvPr/>
        </p:nvSpPr>
        <p:spPr>
          <a:xfrm>
            <a:off x="8295437"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PERIGO</a:t>
            </a:r>
            <a:endParaRPr lang="en-US" sz="900" dirty="0"/>
          </a:p>
        </p:txBody>
      </p:sp>
      <p:sp>
        <p:nvSpPr>
          <p:cNvPr id="19" name="Text 17"/>
          <p:cNvSpPr/>
          <p:nvPr/>
        </p:nvSpPr>
        <p:spPr>
          <a:xfrm>
            <a:off x="8295437"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Δ ⊨ qualquer ψ</a:t>
            </a:r>
            <a:endParaRPr lang="en-US" sz="1800" dirty="0"/>
          </a:p>
        </p:txBody>
      </p:sp>
      <p:sp>
        <p:nvSpPr>
          <p:cNvPr id="20" name="Text 18"/>
          <p:cNvSpPr/>
          <p:nvPr/>
        </p:nvSpPr>
        <p:spPr>
          <a:xfrm>
            <a:off x="8295437"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De inconsistência tudo se segue.</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22 / 25</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EQUIVALÊNCIAS FUNDAMENTAIS</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2 · Lógica Proposicional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Reescritas que valem sempre</a:t>
            </a:r>
            <a:endParaRPr lang="en-US" sz="3600" dirty="0"/>
          </a:p>
        </p:txBody>
      </p:sp>
      <p:sp>
        <p:nvSpPr>
          <p:cNvPr id="9" name="Shape 7"/>
          <p:cNvSpPr/>
          <p:nvPr/>
        </p:nvSpPr>
        <p:spPr>
          <a:xfrm>
            <a:off x="1981048" y="2377440"/>
            <a:ext cx="8229600" cy="2743200"/>
          </a:xfrm>
          <a:prstGeom prst="rect">
            <a:avLst/>
          </a:prstGeom>
          <a:solidFill>
            <a:srgbClr val="FFFFFF"/>
          </a:solidFill>
          <a:ln w="12700">
            <a:solidFill>
              <a:srgbClr val="CBBFA3"/>
            </a:solidFill>
            <a:prstDash val="solid"/>
          </a:ln>
        </p:spPr>
      </p:sp>
      <p:sp>
        <p:nvSpPr>
          <p:cNvPr id="10" name="Shape 8"/>
          <p:cNvSpPr/>
          <p:nvPr/>
        </p:nvSpPr>
        <p:spPr>
          <a:xfrm>
            <a:off x="1981048" y="2377440"/>
            <a:ext cx="64008" cy="2743200"/>
          </a:xfrm>
          <a:prstGeom prst="rect">
            <a:avLst/>
          </a:prstGeom>
          <a:solidFill>
            <a:srgbClr val="E07A1F"/>
          </a:solidFill>
          <a:ln w="12700">
            <a:solidFill>
              <a:srgbClr val="E07A1F"/>
            </a:solidFill>
            <a:prstDash val="solid"/>
          </a:ln>
        </p:spPr>
      </p:sp>
      <p:sp>
        <p:nvSpPr>
          <p:cNvPr id="11" name="Text 9"/>
          <p:cNvSpPr/>
          <p:nvPr/>
        </p:nvSpPr>
        <p:spPr>
          <a:xfrm>
            <a:off x="2163928" y="2377440"/>
            <a:ext cx="7955280" cy="2743200"/>
          </a:xfrm>
          <a:prstGeom prst="rect">
            <a:avLst/>
          </a:prstGeom>
          <a:noFill/>
          <a:ln/>
        </p:spPr>
        <p:txBody>
          <a:bodyPr wrap="square" rtlCol="0" anchor="ctr"/>
          <a:lstStyle/>
          <a:p>
            <a:pPr marL="0" indent="0" algn="ctr">
              <a:buNone/>
            </a:pPr>
            <a:r>
              <a:rPr lang="en-US" sz="1800" dirty="0">
                <a:solidFill>
                  <a:srgbClr val="1A2238"/>
                </a:solidFill>
                <a:latin typeface="Cambria" pitchFamily="34" charset="0"/>
                <a:ea typeface="Cambria" pitchFamily="34" charset="-122"/>
                <a:cs typeface="Cambria" pitchFamily="34" charset="-120"/>
              </a:rPr>
              <a:t>¬¬φ ≡ φ</a:t>
            </a:r>
            <a:endParaRPr lang="en-US" sz="1800" dirty="0"/>
          </a:p>
          <a:p>
            <a:pPr marL="0" indent="0" algn="ctr">
              <a:buNone/>
            </a:pPr>
            <a:r>
              <a:rPr lang="en-US" sz="1800" dirty="0">
                <a:solidFill>
                  <a:srgbClr val="1A2238"/>
                </a:solidFill>
                <a:latin typeface="Cambria" pitchFamily="34" charset="0"/>
                <a:ea typeface="Cambria" pitchFamily="34" charset="-122"/>
                <a:cs typeface="Cambria" pitchFamily="34" charset="-120"/>
              </a:rPr>
              <a:t>¬(φ∧ψ) ≡ ¬φ ∨ ¬ψ</a:t>
            </a:r>
            <a:endParaRPr lang="en-US" sz="1800" dirty="0"/>
          </a:p>
          <a:p>
            <a:pPr marL="0" indent="0" algn="ctr">
              <a:buNone/>
            </a:pPr>
            <a:r>
              <a:rPr lang="en-US" sz="1800" dirty="0">
                <a:solidFill>
                  <a:srgbClr val="1A2238"/>
                </a:solidFill>
                <a:latin typeface="Cambria" pitchFamily="34" charset="0"/>
                <a:ea typeface="Cambria" pitchFamily="34" charset="-122"/>
                <a:cs typeface="Cambria" pitchFamily="34" charset="-120"/>
              </a:rPr>
              <a:t>¬(φ∨ψ) ≡ ¬φ ∧ ¬ψ</a:t>
            </a:r>
            <a:endParaRPr lang="en-US" sz="1800" dirty="0"/>
          </a:p>
          <a:p>
            <a:pPr marL="0" indent="0" algn="ctr">
              <a:buNone/>
            </a:pPr>
            <a:r>
              <a:rPr lang="en-US" sz="1800" dirty="0">
                <a:solidFill>
                  <a:srgbClr val="1A2238"/>
                </a:solidFill>
                <a:latin typeface="Cambria" pitchFamily="34" charset="0"/>
                <a:ea typeface="Cambria" pitchFamily="34" charset="-122"/>
                <a:cs typeface="Cambria" pitchFamily="34" charset="-120"/>
              </a:rPr>
              <a:t>(φ⇒ψ) ≡ ¬φ ∨ ψ</a:t>
            </a:r>
            <a:endParaRPr lang="en-US" sz="1800" dirty="0"/>
          </a:p>
          <a:p>
            <a:pPr marL="0" indent="0" algn="ctr">
              <a:buNone/>
            </a:pPr>
            <a:r>
              <a:rPr lang="en-US" sz="1800" dirty="0">
                <a:solidFill>
                  <a:srgbClr val="1A2238"/>
                </a:solidFill>
                <a:latin typeface="Cambria" pitchFamily="34" charset="0"/>
                <a:ea typeface="Cambria" pitchFamily="34" charset="-122"/>
                <a:cs typeface="Cambria" pitchFamily="34" charset="-120"/>
              </a:rPr>
              <a:t>(φ⇔ψ) ≡ (φ⇒ψ) ∧ (ψ⇒φ)</a:t>
            </a:r>
            <a:endParaRPr lang="en-US" sz="1800" dirty="0"/>
          </a:p>
        </p:txBody>
      </p:sp>
      <p:sp>
        <p:nvSpPr>
          <p:cNvPr id="12" name="Text 10"/>
          <p:cNvSpPr/>
          <p:nvPr/>
        </p:nvSpPr>
        <p:spPr>
          <a:xfrm>
            <a:off x="502920" y="5212080"/>
            <a:ext cx="11185855" cy="365760"/>
          </a:xfrm>
          <a:prstGeom prst="rect">
            <a:avLst/>
          </a:prstGeom>
          <a:noFill/>
          <a:ln/>
        </p:spPr>
        <p:txBody>
          <a:bodyPr wrap="square" rtlCol="0" anchor="ctr"/>
          <a:lstStyle/>
          <a:p>
            <a:pPr marL="0" indent="0" algn="ctr">
              <a:buNone/>
            </a:pPr>
            <a:r>
              <a:rPr lang="en-US" sz="1200" i="1" dirty="0">
                <a:solidFill>
                  <a:srgbClr val="6B6452"/>
                </a:solidFill>
                <a:latin typeface="Source Sans 3" pitchFamily="34" charset="0"/>
                <a:ea typeface="Source Sans 3" pitchFamily="34" charset="-122"/>
                <a:cs typeface="Source Sans 3" pitchFamily="34" charset="-120"/>
              </a:rPr>
              <a:t>Dupla negação · De Morgan · Definições de ⇒ e ⇔</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7">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23 / 25</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IMPLEMENTAÇÃO</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2 · Lógica Proposicional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Avaliador em Python</a:t>
            </a:r>
            <a:endParaRPr lang="en-US" sz="3600" dirty="0"/>
          </a:p>
        </p:txBody>
      </p:sp>
      <p:sp>
        <p:nvSpPr>
          <p:cNvPr id="9" name="Shape 7"/>
          <p:cNvSpPr/>
          <p:nvPr/>
        </p:nvSpPr>
        <p:spPr>
          <a:xfrm>
            <a:off x="502920" y="1828800"/>
            <a:ext cx="11185855" cy="4206240"/>
          </a:xfrm>
          <a:prstGeom prst="rect">
            <a:avLst/>
          </a:prstGeom>
          <a:solidFill>
            <a:srgbClr val="1A2238"/>
          </a:solidFill>
          <a:ln w="12700">
            <a:solidFill>
              <a:srgbClr val="2A3550"/>
            </a:solidFill>
            <a:prstDash val="solid"/>
          </a:ln>
        </p:spPr>
      </p:sp>
      <p:sp>
        <p:nvSpPr>
          <p:cNvPr id="10" name="Shape 8"/>
          <p:cNvSpPr/>
          <p:nvPr/>
        </p:nvSpPr>
        <p:spPr>
          <a:xfrm>
            <a:off x="502920" y="1828800"/>
            <a:ext cx="64008" cy="4206240"/>
          </a:xfrm>
          <a:prstGeom prst="rect">
            <a:avLst/>
          </a:prstGeom>
          <a:solidFill>
            <a:srgbClr val="E07A1F"/>
          </a:solidFill>
          <a:ln w="12700">
            <a:solidFill>
              <a:srgbClr val="E07A1F"/>
            </a:solidFill>
            <a:prstDash val="solid"/>
          </a:ln>
        </p:spPr>
      </p:sp>
      <p:sp>
        <p:nvSpPr>
          <p:cNvPr id="11" name="Text 9"/>
          <p:cNvSpPr/>
          <p:nvPr/>
        </p:nvSpPr>
        <p:spPr>
          <a:xfrm>
            <a:off x="731520" y="1920240"/>
            <a:ext cx="10820095" cy="4023360"/>
          </a:xfrm>
          <a:prstGeom prst="rect">
            <a:avLst/>
          </a:prstGeom>
          <a:noFill/>
          <a:ln/>
        </p:spPr>
        <p:txBody>
          <a:bodyPr wrap="square" rtlCol="0" anchor="t"/>
          <a:lstStyle/>
          <a:p>
            <a:pPr marL="0" indent="0">
              <a:buNone/>
            </a:pPr>
            <a:r>
              <a:rPr lang="en-US" sz="1400" dirty="0">
                <a:solidFill>
                  <a:srgbClr val="F7F2E8"/>
                </a:solidFill>
                <a:latin typeface="Consolas" pitchFamily="34" charset="0"/>
                <a:ea typeface="Consolas" pitchFamily="34" charset="-122"/>
                <a:cs typeface="Consolas" pitchFamily="34" charset="-120"/>
              </a:rPr>
              <a:t>def evaluate(expr, world):</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"""Avalia uma expressão proposicional em um mundo (dict átomo→bool)."""</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 expr é uma tupla: ('and', a, b), ('or', a, b), ('not', a),</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                   ('imp', a, b), ('iff', a, b), ou string (átomo).</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if isinstance(expr, str):</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return world[expr]            # átomo: lê o valor do mundo</a:t>
            </a:r>
            <a:endParaRPr lang="en-US" sz="1400" dirty="0"/>
          </a:p>
          <a:p>
            <a:pPr marL="0" indent="0">
              <a:buNone/>
            </a:pP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op = expr[0]</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if op == 'not':</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return not evaluate(expr[1], world)</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a = evaluate(expr[1], world)</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b = evaluate(expr[2], world)</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if op == 'and': return a and b</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if op == 'or':  return a or b</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if op == 'imp': return (not a) or b   # ¬a ∨ b</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if op == 'iff': return a == b</a:t>
            </a:r>
            <a:endParaRPr lang="en-US" sz="1400" dirty="0"/>
          </a:p>
          <a:p>
            <a:pPr marL="0" indent="0">
              <a:buNone/>
            </a:pP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Exemplo: (p ∨ q) ∧ (¬q ∨ r)  com  p=1, q=0, r=1</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expr = ('and', ('or','p','q'), ('or', ('not','q'), 'r'))</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print(evaluate(expr, {'p':True, 'q':False, 'r':True}))  # → True</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8">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24 / 25</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VERIFICANDO CONSEQUÊNCIA</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2 · Lógica Proposicional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Δ ⊨ ψ por enumeração</a:t>
            </a:r>
            <a:endParaRPr lang="en-US" sz="3600" dirty="0"/>
          </a:p>
        </p:txBody>
      </p:sp>
      <p:sp>
        <p:nvSpPr>
          <p:cNvPr id="9" name="Shape 7"/>
          <p:cNvSpPr/>
          <p:nvPr/>
        </p:nvSpPr>
        <p:spPr>
          <a:xfrm>
            <a:off x="502920" y="1828800"/>
            <a:ext cx="11185855" cy="4206240"/>
          </a:xfrm>
          <a:prstGeom prst="rect">
            <a:avLst/>
          </a:prstGeom>
          <a:solidFill>
            <a:srgbClr val="1A2238"/>
          </a:solidFill>
          <a:ln w="12700">
            <a:solidFill>
              <a:srgbClr val="2A3550"/>
            </a:solidFill>
            <a:prstDash val="solid"/>
          </a:ln>
        </p:spPr>
      </p:sp>
      <p:sp>
        <p:nvSpPr>
          <p:cNvPr id="10" name="Shape 8"/>
          <p:cNvSpPr/>
          <p:nvPr/>
        </p:nvSpPr>
        <p:spPr>
          <a:xfrm>
            <a:off x="502920" y="1828800"/>
            <a:ext cx="64008" cy="4206240"/>
          </a:xfrm>
          <a:prstGeom prst="rect">
            <a:avLst/>
          </a:prstGeom>
          <a:solidFill>
            <a:srgbClr val="E07A1F"/>
          </a:solidFill>
          <a:ln w="12700">
            <a:solidFill>
              <a:srgbClr val="E07A1F"/>
            </a:solidFill>
            <a:prstDash val="solid"/>
          </a:ln>
        </p:spPr>
      </p:sp>
      <p:sp>
        <p:nvSpPr>
          <p:cNvPr id="11" name="Text 9"/>
          <p:cNvSpPr/>
          <p:nvPr/>
        </p:nvSpPr>
        <p:spPr>
          <a:xfrm>
            <a:off x="731520" y="1920240"/>
            <a:ext cx="10820095" cy="4023360"/>
          </a:xfrm>
          <a:prstGeom prst="rect">
            <a:avLst/>
          </a:prstGeom>
          <a:noFill/>
          <a:ln/>
        </p:spPr>
        <p:txBody>
          <a:bodyPr wrap="square" rtlCol="0" anchor="t"/>
          <a:lstStyle/>
          <a:p>
            <a:pPr marL="0" indent="0">
              <a:buNone/>
            </a:pPr>
            <a:r>
              <a:rPr lang="en-US" sz="1400" dirty="0">
                <a:solidFill>
                  <a:srgbClr val="F7F2E8"/>
                </a:solidFill>
                <a:latin typeface="Consolas" pitchFamily="34" charset="0"/>
                <a:ea typeface="Consolas" pitchFamily="34" charset="-122"/>
                <a:cs typeface="Consolas" pitchFamily="34" charset="-120"/>
              </a:rPr>
              <a:t>from itertools import product</a:t>
            </a:r>
            <a:endParaRPr lang="en-US" sz="1400" dirty="0"/>
          </a:p>
          <a:p>
            <a:pPr marL="0" indent="0">
              <a:buNone/>
            </a:pP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def entails(premises, conclusion, atoms):</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"""Verifica se as premissas implicam logicamente a conclusão."""</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for values in product([False, True], repeat=len(atoms)):</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world = dict(zip(atoms, values))</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 Algum mundo torna premissas verdadeiras e conclusão falsa?</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if all(evaluate(p, world) for p in premises):</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if not evaluate(conclusion, world):</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return False    # contraexemplo encontrado</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return True</a:t>
            </a:r>
            <a:endParaRPr lang="en-US" sz="1400" dirty="0"/>
          </a:p>
          <a:p>
            <a:pPr marL="0" indent="0">
              <a:buNone/>
            </a:pP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Modus Ponens: {p, p ⇒ q} ⊨ q ?</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premises  = ['p', ('imp', 'p', 'q')]</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conclusion = 'q'</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print(entails(premises, conclusion, ['p','q']))  # → True</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9">
    <p:bg>
      <p:bgPr>
        <a:solidFill>
          <a:srgbClr val="1A223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Shape 1"/>
          <p:cNvSpPr/>
          <p:nvPr/>
        </p:nvSpPr>
        <p:spPr>
          <a:xfrm>
            <a:off x="4952848" y="1371600"/>
            <a:ext cx="2286000" cy="411480"/>
          </a:xfrm>
          <a:prstGeom prst="roundRect">
            <a:avLst>
              <a:gd name="adj" fmla="val 48889"/>
            </a:avLst>
          </a:prstGeom>
          <a:solidFill>
            <a:srgbClr val="E07A1F"/>
          </a:solidFill>
          <a:ln w="12700">
            <a:solidFill>
              <a:srgbClr val="E07A1F"/>
            </a:solidFill>
            <a:prstDash val="solid"/>
          </a:ln>
        </p:spPr>
      </p:sp>
      <p:sp>
        <p:nvSpPr>
          <p:cNvPr id="4" name="Text 2"/>
          <p:cNvSpPr/>
          <p:nvPr/>
        </p:nvSpPr>
        <p:spPr>
          <a:xfrm>
            <a:off x="4952848" y="1371600"/>
            <a:ext cx="2286000" cy="411480"/>
          </a:xfrm>
          <a:prstGeom prst="rect">
            <a:avLst/>
          </a:prstGeom>
          <a:noFill/>
          <a:ln/>
        </p:spPr>
        <p:txBody>
          <a:bodyPr wrap="square" rtlCol="0" anchor="ctr"/>
          <a:lstStyle/>
          <a:p>
            <a:pPr marL="0" indent="0" algn="ctr">
              <a:buNone/>
            </a:pPr>
            <a:r>
              <a:rPr lang="en-US" sz="1200" b="1" kern="0" spc="400" dirty="0">
                <a:solidFill>
                  <a:srgbClr val="FFFFFF"/>
                </a:solidFill>
                <a:latin typeface="Source Sans 3" pitchFamily="34" charset="0"/>
                <a:ea typeface="Source Sans 3" pitchFamily="34" charset="-122"/>
                <a:cs typeface="Source Sans 3" pitchFamily="34" charset="-120"/>
              </a:rPr>
              <a:t>FIM DO CAPÍTULO 2</a:t>
            </a:r>
            <a:endParaRPr lang="en-US" sz="1200" dirty="0"/>
          </a:p>
        </p:txBody>
      </p:sp>
      <p:sp>
        <p:nvSpPr>
          <p:cNvPr id="5" name="Text 3"/>
          <p:cNvSpPr/>
          <p:nvPr/>
        </p:nvSpPr>
        <p:spPr>
          <a:xfrm>
            <a:off x="502920" y="2103120"/>
            <a:ext cx="11185855" cy="1371600"/>
          </a:xfrm>
          <a:prstGeom prst="rect">
            <a:avLst/>
          </a:prstGeom>
          <a:noFill/>
          <a:ln/>
        </p:spPr>
        <p:txBody>
          <a:bodyPr wrap="square" rtlCol="0" anchor="ctr"/>
          <a:lstStyle/>
          <a:p>
            <a:pPr marL="0" indent="0" algn="ctr">
              <a:buNone/>
            </a:pPr>
            <a:r>
              <a:rPr lang="en-US" sz="4400" b="1" dirty="0">
                <a:solidFill>
                  <a:srgbClr val="F7F2E8"/>
                </a:solidFill>
                <a:latin typeface="Playfair Display" pitchFamily="34" charset="0"/>
                <a:ea typeface="Playfair Display" pitchFamily="34" charset="-122"/>
                <a:cs typeface="Playfair Display" pitchFamily="34" charset="-120"/>
              </a:rPr>
              <a:t>O alfabeto do raciocínio formal</a:t>
            </a:r>
            <a:endParaRPr lang="en-US" sz="4400" dirty="0"/>
          </a:p>
        </p:txBody>
      </p:sp>
      <p:sp>
        <p:nvSpPr>
          <p:cNvPr id="6" name="Text 4"/>
          <p:cNvSpPr/>
          <p:nvPr/>
        </p:nvSpPr>
        <p:spPr>
          <a:xfrm>
            <a:off x="1371600" y="3840480"/>
            <a:ext cx="9448495" cy="1371600"/>
          </a:xfrm>
          <a:prstGeom prst="rect">
            <a:avLst/>
          </a:prstGeom>
          <a:noFill/>
          <a:ln/>
        </p:spPr>
        <p:txBody>
          <a:bodyPr wrap="square" rtlCol="0" anchor="ctr"/>
          <a:lstStyle/>
          <a:p>
            <a:pPr marL="0" indent="0" algn="ctr">
              <a:buNone/>
            </a:pPr>
            <a:r>
              <a:rPr lang="en-US" sz="1800" i="1" dirty="0">
                <a:solidFill>
                  <a:srgbClr val="CBBFA3"/>
                </a:solidFill>
                <a:latin typeface="Merriweather" pitchFamily="34" charset="0"/>
                <a:ea typeface="Merriweather" pitchFamily="34" charset="-122"/>
                <a:cs typeface="Merriweather" pitchFamily="34" charset="-120"/>
              </a:rPr>
              <a:t>Sintaxe, semântica, mundos possíveis e relações: a base sobre a qual se erguem prova, lógica relacional e os métodos automáticos.</a:t>
            </a:r>
            <a:endParaRPr lang="en-US" sz="1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0">
    <p:bg>
      <p:bgPr>
        <a:solidFill>
          <a:srgbClr val="1A223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A3550"/>
          </a:solidFill>
          <a:ln w="12700">
            <a:solidFill>
              <a:srgbClr val="2A3550"/>
            </a:solidFill>
            <a:prstDash val="solid"/>
          </a:ln>
        </p:spPr>
      </p:sp>
      <p:sp>
        <p:nvSpPr>
          <p:cNvPr id="3" name="Shape 1"/>
          <p:cNvSpPr/>
          <p:nvPr/>
        </p:nvSpPr>
        <p:spPr>
          <a:xfrm>
            <a:off x="0" y="0"/>
            <a:ext cx="164592" cy="6858000"/>
          </a:xfrm>
          <a:prstGeom prst="rect">
            <a:avLst/>
          </a:prstGeom>
          <a:solidFill>
            <a:srgbClr val="E07A1F"/>
          </a:solidFill>
          <a:ln w="12700">
            <a:solidFill>
              <a:srgbClr val="E07A1F"/>
            </a:solidFill>
            <a:prstDash val="solid"/>
          </a:ln>
        </p:spPr>
      </p:sp>
      <p:sp>
        <p:nvSpPr>
          <p:cNvPr id="4" name="Text 2"/>
          <p:cNvSpPr/>
          <p:nvPr/>
        </p:nvSpPr>
        <p:spPr>
          <a:xfrm>
            <a:off x="9905695" y="228600"/>
            <a:ext cx="2011680" cy="274320"/>
          </a:xfrm>
          <a:prstGeom prst="rect">
            <a:avLst/>
          </a:prstGeom>
          <a:noFill/>
          <a:ln/>
        </p:spPr>
        <p:txBody>
          <a:bodyPr wrap="square" rtlCol="0" anchor="ctr"/>
          <a:lstStyle/>
          <a:p>
            <a:pPr marL="0" indent="0" algn="r">
              <a:buNone/>
            </a:pPr>
            <a:r>
              <a:rPr lang="en-US" sz="1100" b="1" kern="0" spc="400" dirty="0">
                <a:solidFill>
                  <a:srgbClr val="F3A96B"/>
                </a:solidFill>
                <a:latin typeface="Playfair Display" pitchFamily="34" charset="0"/>
                <a:ea typeface="Playfair Display" pitchFamily="34" charset="-122"/>
                <a:cs typeface="Playfair Display" pitchFamily="34" charset="-120"/>
              </a:rPr>
              <a:t>CAP. 03 · 01/19</a:t>
            </a:r>
            <a:endParaRPr lang="en-US" sz="1100" dirty="0"/>
          </a:p>
        </p:txBody>
      </p:sp>
      <p:sp>
        <p:nvSpPr>
          <p:cNvPr id="5" name="Text 3"/>
          <p:cNvSpPr/>
          <p:nvPr/>
        </p:nvSpPr>
        <p:spPr>
          <a:xfrm>
            <a:off x="502920" y="1371600"/>
            <a:ext cx="11185855" cy="365760"/>
          </a:xfrm>
          <a:prstGeom prst="rect">
            <a:avLst/>
          </a:prstGeom>
          <a:noFill/>
          <a:ln/>
        </p:spPr>
        <p:txBody>
          <a:bodyPr wrap="square" rtlCol="0" anchor="ctr"/>
          <a:lstStyle/>
          <a:p>
            <a:pPr marL="0" indent="0">
              <a:buNone/>
            </a:pPr>
            <a:r>
              <a:rPr lang="en-US" sz="1100" b="1" kern="0" spc="600" dirty="0">
                <a:solidFill>
                  <a:srgbClr val="F3A96B"/>
                </a:solidFill>
                <a:latin typeface="Source Sans 3" pitchFamily="34" charset="0"/>
                <a:ea typeface="Source Sans 3" pitchFamily="34" charset="-122"/>
                <a:cs typeface="Source Sans 3" pitchFamily="34" charset="-120"/>
              </a:rPr>
              <a:t>FUNDAMENTOS DE LÓGICA APLICADA À CIÊNCIA DE DADOS</a:t>
            </a:r>
            <a:endParaRPr lang="en-US" sz="1100" dirty="0"/>
          </a:p>
        </p:txBody>
      </p:sp>
      <p:sp>
        <p:nvSpPr>
          <p:cNvPr id="6" name="Text 4"/>
          <p:cNvSpPr/>
          <p:nvPr/>
        </p:nvSpPr>
        <p:spPr>
          <a:xfrm>
            <a:off x="502920" y="1828800"/>
            <a:ext cx="11185855" cy="2286000"/>
          </a:xfrm>
          <a:prstGeom prst="rect">
            <a:avLst/>
          </a:prstGeom>
          <a:noFill/>
          <a:ln/>
        </p:spPr>
        <p:txBody>
          <a:bodyPr wrap="square" rtlCol="0" anchor="ctr"/>
          <a:lstStyle/>
          <a:p>
            <a:pPr marL="0" indent="0">
              <a:buNone/>
            </a:pPr>
            <a:r>
              <a:rPr lang="en-US" sz="6000" b="1" dirty="0">
                <a:solidFill>
                  <a:srgbClr val="F7F2E8"/>
                </a:solidFill>
                <a:latin typeface="Playfair Display" pitchFamily="34" charset="0"/>
                <a:ea typeface="Playfair Display" pitchFamily="34" charset="-122"/>
                <a:cs typeface="Playfair Display" pitchFamily="34" charset="-120"/>
              </a:rPr>
              <a:t>Inferência</a:t>
            </a:r>
            <a:endParaRPr lang="en-US" sz="6000" dirty="0"/>
          </a:p>
          <a:p>
            <a:pPr marL="0" indent="0">
              <a:buNone/>
            </a:pPr>
            <a:r>
              <a:rPr lang="en-US" sz="6000" b="1" dirty="0">
                <a:solidFill>
                  <a:srgbClr val="F7F2E8"/>
                </a:solidFill>
                <a:latin typeface="Playfair Display" pitchFamily="34" charset="0"/>
                <a:ea typeface="Playfair Display" pitchFamily="34" charset="-122"/>
                <a:cs typeface="Playfair Display" pitchFamily="34" charset="-120"/>
              </a:rPr>
              <a:t>e Prova</a:t>
            </a:r>
            <a:endParaRPr lang="en-US" sz="6000" dirty="0"/>
          </a:p>
        </p:txBody>
      </p:sp>
      <p:sp>
        <p:nvSpPr>
          <p:cNvPr id="7" name="Text 5"/>
          <p:cNvSpPr/>
          <p:nvPr/>
        </p:nvSpPr>
        <p:spPr>
          <a:xfrm>
            <a:off x="502920" y="4297680"/>
            <a:ext cx="11185855" cy="914400"/>
          </a:xfrm>
          <a:prstGeom prst="rect">
            <a:avLst/>
          </a:prstGeom>
          <a:noFill/>
          <a:ln/>
        </p:spPr>
        <p:txBody>
          <a:bodyPr wrap="square" rtlCol="0" anchor="ctr"/>
          <a:lstStyle/>
          <a:p>
            <a:pPr marL="0" indent="0">
              <a:buNone/>
            </a:pPr>
            <a:r>
              <a:rPr lang="en-US" sz="1800" i="1" dirty="0">
                <a:solidFill>
                  <a:srgbClr val="CBBFA3"/>
                </a:solidFill>
                <a:latin typeface="Merriweather" pitchFamily="34" charset="0"/>
                <a:ea typeface="Merriweather" pitchFamily="34" charset="-122"/>
                <a:cs typeface="Merriweather" pitchFamily="34" charset="-120"/>
              </a:rPr>
              <a:t>Como derivar conclusões passo a passo, com regras auditáveis</a:t>
            </a:r>
            <a:endParaRPr lang="en-US" sz="1800" dirty="0"/>
          </a:p>
        </p:txBody>
      </p:sp>
      <p:sp>
        <p:nvSpPr>
          <p:cNvPr id="8" name="Shape 6"/>
          <p:cNvSpPr/>
          <p:nvPr/>
        </p:nvSpPr>
        <p:spPr>
          <a:xfrm>
            <a:off x="502920" y="6446520"/>
            <a:ext cx="11185855" cy="0"/>
          </a:xfrm>
          <a:prstGeom prst="line">
            <a:avLst/>
          </a:prstGeom>
          <a:noFill/>
          <a:ln w="6350">
            <a:solidFill>
              <a:srgbClr val="4B5563"/>
            </a:solidFill>
            <a:prstDash val="solid"/>
          </a:ln>
        </p:spPr>
      </p:sp>
      <p:sp>
        <p:nvSpPr>
          <p:cNvPr id="9" name="Text 7"/>
          <p:cNvSpPr/>
          <p:nvPr/>
        </p:nvSpPr>
        <p:spPr>
          <a:xfrm>
            <a:off x="502920" y="6492240"/>
            <a:ext cx="11185855" cy="274320"/>
          </a:xfrm>
          <a:prstGeom prst="rect">
            <a:avLst/>
          </a:prstGeom>
          <a:noFill/>
          <a:ln/>
        </p:spPr>
        <p:txBody>
          <a:bodyPr wrap="square" rtlCol="0" anchor="ctr"/>
          <a:lstStyle/>
          <a:p>
            <a:r>
              <a:rPr lang="en-US" sz="900" b="1" kern="0" spc="300" dirty="0">
                <a:solidFill>
                  <a:srgbClr val="9CA3AF"/>
                </a:solidFill>
                <a:latin typeface="Source Sans 3" pitchFamily="34" charset="0"/>
                <a:ea typeface="Source Sans 3" pitchFamily="34" charset="-122"/>
                <a:cs typeface="Source Sans 3" pitchFamily="34" charset="-120"/>
              </a:rPr>
              <a:t>ALICCE · Helena Reis &amp; Anderson Marcolino</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1">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02 / 19</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TRÊS CAMINHOS</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3 · Inferência e Prova</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Verificar uma conclusão</a:t>
            </a:r>
            <a:endParaRPr lang="en-US" sz="3600" dirty="0"/>
          </a:p>
        </p:txBody>
      </p:sp>
      <p:sp>
        <p:nvSpPr>
          <p:cNvPr id="9" name="Shape 7"/>
          <p:cNvSpPr/>
          <p:nvPr/>
        </p:nvSpPr>
        <p:spPr>
          <a:xfrm>
            <a:off x="502920" y="2194560"/>
            <a:ext cx="3576218" cy="2011680"/>
          </a:xfrm>
          <a:prstGeom prst="rect">
            <a:avLst/>
          </a:prstGeom>
          <a:solidFill>
            <a:srgbClr val="FFFFFF"/>
          </a:solidFill>
          <a:ln w="9525">
            <a:solidFill>
              <a:srgbClr val="CBBFA3"/>
            </a:solidFill>
            <a:prstDash val="solid"/>
          </a:ln>
        </p:spPr>
      </p:sp>
      <p:sp>
        <p:nvSpPr>
          <p:cNvPr id="10" name="Text 8"/>
          <p:cNvSpPr/>
          <p:nvPr/>
        </p:nvSpPr>
        <p:spPr>
          <a:xfrm>
            <a:off x="685800"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SEMÂNTICO</a:t>
            </a:r>
            <a:endParaRPr lang="en-US" sz="900" dirty="0"/>
          </a:p>
        </p:txBody>
      </p:sp>
      <p:sp>
        <p:nvSpPr>
          <p:cNvPr id="11" name="Text 9"/>
          <p:cNvSpPr/>
          <p:nvPr/>
        </p:nvSpPr>
        <p:spPr>
          <a:xfrm>
            <a:off x="685800"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Tabela-verdade</a:t>
            </a:r>
            <a:endParaRPr lang="en-US" sz="1800" dirty="0"/>
          </a:p>
        </p:txBody>
      </p:sp>
      <p:sp>
        <p:nvSpPr>
          <p:cNvPr id="12" name="Text 10"/>
          <p:cNvSpPr/>
          <p:nvPr/>
        </p:nvSpPr>
        <p:spPr>
          <a:xfrm>
            <a:off x="685800"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Enumera os 2ⁿ mundos. Caro mas direto.</a:t>
            </a:r>
            <a:endParaRPr lang="en-US" sz="1300" dirty="0"/>
          </a:p>
        </p:txBody>
      </p:sp>
      <p:sp>
        <p:nvSpPr>
          <p:cNvPr id="13" name="Shape 11"/>
          <p:cNvSpPr/>
          <p:nvPr/>
        </p:nvSpPr>
        <p:spPr>
          <a:xfrm>
            <a:off x="4307738" y="2194560"/>
            <a:ext cx="3576218" cy="2011680"/>
          </a:xfrm>
          <a:prstGeom prst="rect">
            <a:avLst/>
          </a:prstGeom>
          <a:solidFill>
            <a:srgbClr val="FFFFFF"/>
          </a:solidFill>
          <a:ln w="9525">
            <a:solidFill>
              <a:srgbClr val="CBBFA3"/>
            </a:solidFill>
            <a:prstDash val="solid"/>
          </a:ln>
        </p:spPr>
      </p:sp>
      <p:sp>
        <p:nvSpPr>
          <p:cNvPr id="14" name="Text 12"/>
          <p:cNvSpPr/>
          <p:nvPr/>
        </p:nvSpPr>
        <p:spPr>
          <a:xfrm>
            <a:off x="4490618"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REFUTAÇÃO</a:t>
            </a:r>
            <a:endParaRPr lang="en-US" sz="900" dirty="0"/>
          </a:p>
        </p:txBody>
      </p:sp>
      <p:sp>
        <p:nvSpPr>
          <p:cNvPr id="15" name="Text 13"/>
          <p:cNvSpPr/>
          <p:nvPr/>
        </p:nvSpPr>
        <p:spPr>
          <a:xfrm>
            <a:off x="4490618"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Δ ∪ {¬ψ} insat.</a:t>
            </a:r>
            <a:endParaRPr lang="en-US" sz="1800" dirty="0"/>
          </a:p>
        </p:txBody>
      </p:sp>
      <p:sp>
        <p:nvSpPr>
          <p:cNvPr id="16" name="Text 14"/>
          <p:cNvSpPr/>
          <p:nvPr/>
        </p:nvSpPr>
        <p:spPr>
          <a:xfrm>
            <a:off x="4490618"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Mostra que negar a conclusão gera contradição.</a:t>
            </a:r>
            <a:endParaRPr lang="en-US" sz="1300" dirty="0"/>
          </a:p>
        </p:txBody>
      </p:sp>
      <p:sp>
        <p:nvSpPr>
          <p:cNvPr id="17" name="Shape 15"/>
          <p:cNvSpPr/>
          <p:nvPr/>
        </p:nvSpPr>
        <p:spPr>
          <a:xfrm>
            <a:off x="8112557" y="2194560"/>
            <a:ext cx="3576218" cy="2011680"/>
          </a:xfrm>
          <a:prstGeom prst="rect">
            <a:avLst/>
          </a:prstGeom>
          <a:solidFill>
            <a:srgbClr val="FFFFFF"/>
          </a:solidFill>
          <a:ln w="9525">
            <a:solidFill>
              <a:srgbClr val="CBBFA3"/>
            </a:solidFill>
            <a:prstDash val="solid"/>
          </a:ln>
        </p:spPr>
      </p:sp>
      <p:sp>
        <p:nvSpPr>
          <p:cNvPr id="18" name="Text 16"/>
          <p:cNvSpPr/>
          <p:nvPr/>
        </p:nvSpPr>
        <p:spPr>
          <a:xfrm>
            <a:off x="8295437"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SINTÁTICO</a:t>
            </a:r>
            <a:endParaRPr lang="en-US" sz="900" dirty="0"/>
          </a:p>
        </p:txBody>
      </p:sp>
      <p:sp>
        <p:nvSpPr>
          <p:cNvPr id="19" name="Text 17"/>
          <p:cNvSpPr/>
          <p:nvPr/>
        </p:nvSpPr>
        <p:spPr>
          <a:xfrm>
            <a:off x="8295437"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Prova formal</a:t>
            </a:r>
            <a:endParaRPr lang="en-US" sz="1800" dirty="0"/>
          </a:p>
        </p:txBody>
      </p:sp>
      <p:sp>
        <p:nvSpPr>
          <p:cNvPr id="20" name="Text 18"/>
          <p:cNvSpPr/>
          <p:nvPr/>
        </p:nvSpPr>
        <p:spPr>
          <a:xfrm>
            <a:off x="8295437"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Encadeia regras de inferência.</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2">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03 / 19</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SISTEMA DE PROVA</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3 · Inferência e Prova</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O que é?</a:t>
            </a:r>
            <a:endParaRPr lang="en-US" sz="3600" dirty="0"/>
          </a:p>
        </p:txBody>
      </p:sp>
      <p:sp>
        <p:nvSpPr>
          <p:cNvPr id="9" name="Text 7"/>
          <p:cNvSpPr/>
          <p:nvPr/>
        </p:nvSpPr>
        <p:spPr>
          <a:xfrm>
            <a:off x="502920" y="1554480"/>
            <a:ext cx="11185855" cy="457200"/>
          </a:xfrm>
          <a:prstGeom prst="rect">
            <a:avLst/>
          </a:prstGeom>
          <a:noFill/>
          <a:ln/>
        </p:spPr>
        <p:txBody>
          <a:bodyPr wrap="square" rtlCol="0" anchor="ctr"/>
          <a:lstStyle/>
          <a:p>
            <a:pPr marL="0" indent="0">
              <a:buNone/>
            </a:pPr>
            <a:r>
              <a:rPr lang="en-US" sz="1600" i="1" dirty="0">
                <a:solidFill>
                  <a:srgbClr val="2A3550"/>
                </a:solidFill>
                <a:latin typeface="Merriweather" pitchFamily="34" charset="0"/>
                <a:ea typeface="Merriweather" pitchFamily="34" charset="-122"/>
                <a:cs typeface="Merriweather" pitchFamily="34" charset="-120"/>
              </a:rPr>
              <a:t>Conjunto de regras + axiomas que geram fórmulas válidas</a:t>
            </a:r>
            <a:endParaRPr lang="en-U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3">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04 / 19</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NOTAÇÃO CENTRAL</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3 · Inferência e Prova</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Demonstrabilidade</a:t>
            </a:r>
            <a:endParaRPr lang="en-US" sz="3600" dirty="0"/>
          </a:p>
        </p:txBody>
      </p:sp>
      <p:sp>
        <p:nvSpPr>
          <p:cNvPr id="9" name="Shape 7"/>
          <p:cNvSpPr/>
          <p:nvPr/>
        </p:nvSpPr>
        <p:spPr>
          <a:xfrm>
            <a:off x="1981048" y="2377440"/>
            <a:ext cx="8229600" cy="1371600"/>
          </a:xfrm>
          <a:prstGeom prst="rect">
            <a:avLst/>
          </a:prstGeom>
          <a:solidFill>
            <a:srgbClr val="FFFFFF"/>
          </a:solidFill>
          <a:ln w="12700">
            <a:solidFill>
              <a:srgbClr val="CBBFA3"/>
            </a:solidFill>
            <a:prstDash val="solid"/>
          </a:ln>
        </p:spPr>
      </p:sp>
      <p:sp>
        <p:nvSpPr>
          <p:cNvPr id="10" name="Shape 8"/>
          <p:cNvSpPr/>
          <p:nvPr/>
        </p:nvSpPr>
        <p:spPr>
          <a:xfrm>
            <a:off x="1981048" y="2377440"/>
            <a:ext cx="64008" cy="1371600"/>
          </a:xfrm>
          <a:prstGeom prst="rect">
            <a:avLst/>
          </a:prstGeom>
          <a:solidFill>
            <a:srgbClr val="E07A1F"/>
          </a:solidFill>
          <a:ln w="12700">
            <a:solidFill>
              <a:srgbClr val="E07A1F"/>
            </a:solidFill>
            <a:prstDash val="solid"/>
          </a:ln>
        </p:spPr>
      </p:sp>
      <p:sp>
        <p:nvSpPr>
          <p:cNvPr id="11" name="Text 9"/>
          <p:cNvSpPr/>
          <p:nvPr/>
        </p:nvSpPr>
        <p:spPr>
          <a:xfrm>
            <a:off x="2163928" y="2377440"/>
            <a:ext cx="7955280" cy="1371600"/>
          </a:xfrm>
          <a:prstGeom prst="rect">
            <a:avLst/>
          </a:prstGeom>
          <a:noFill/>
          <a:ln/>
        </p:spPr>
        <p:txBody>
          <a:bodyPr wrap="square" rtlCol="0" anchor="ctr"/>
          <a:lstStyle/>
          <a:p>
            <a:pPr marL="0" indent="0" algn="ctr">
              <a:buNone/>
            </a:pPr>
            <a:r>
              <a:rPr lang="en-US" sz="2800" dirty="0">
                <a:solidFill>
                  <a:srgbClr val="1A2238"/>
                </a:solidFill>
                <a:latin typeface="Cambria" pitchFamily="34" charset="0"/>
                <a:ea typeface="Cambria" pitchFamily="34" charset="-122"/>
                <a:cs typeface="Cambria" pitchFamily="34" charset="-120"/>
              </a:rPr>
              <a:t>Δ ⊢ ψ</a:t>
            </a:r>
            <a:endParaRPr lang="en-US" sz="2800" dirty="0"/>
          </a:p>
        </p:txBody>
      </p:sp>
      <p:sp>
        <p:nvSpPr>
          <p:cNvPr id="12" name="Text 10"/>
          <p:cNvSpPr/>
          <p:nvPr/>
        </p:nvSpPr>
        <p:spPr>
          <a:xfrm>
            <a:off x="502920" y="3840480"/>
            <a:ext cx="11185855" cy="365760"/>
          </a:xfrm>
          <a:prstGeom prst="rect">
            <a:avLst/>
          </a:prstGeom>
          <a:noFill/>
          <a:ln/>
        </p:spPr>
        <p:txBody>
          <a:bodyPr wrap="square" rtlCol="0" anchor="ctr"/>
          <a:lstStyle/>
          <a:p>
            <a:pPr marL="0" indent="0" algn="ctr">
              <a:buNone/>
            </a:pPr>
            <a:r>
              <a:rPr lang="en-US" sz="1200" i="1" dirty="0">
                <a:solidFill>
                  <a:srgbClr val="6B6452"/>
                </a:solidFill>
                <a:latin typeface="Source Sans 3" pitchFamily="34" charset="0"/>
                <a:ea typeface="Source Sans 3" pitchFamily="34" charset="-122"/>
                <a:cs typeface="Source Sans 3" pitchFamily="34" charset="-120"/>
              </a:rPr>
              <a:t>Existe uma prova de ψ a partir de Δ</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4">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05 / 19</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ESQUEMAS</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3 · Inferência e Prova</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Regras que valem para qualquer fórmula</a:t>
            </a:r>
            <a:endParaRPr lang="en-US" sz="3600" dirty="0"/>
          </a:p>
        </p:txBody>
      </p:sp>
      <p:sp>
        <p:nvSpPr>
          <p:cNvPr id="9" name="Shape 7"/>
          <p:cNvSpPr/>
          <p:nvPr/>
        </p:nvSpPr>
        <p:spPr>
          <a:xfrm>
            <a:off x="502920" y="2194560"/>
            <a:ext cx="3576218" cy="2011680"/>
          </a:xfrm>
          <a:prstGeom prst="rect">
            <a:avLst/>
          </a:prstGeom>
          <a:solidFill>
            <a:srgbClr val="FFFFFF"/>
          </a:solidFill>
          <a:ln w="9525">
            <a:solidFill>
              <a:srgbClr val="CBBFA3"/>
            </a:solidFill>
            <a:prstDash val="solid"/>
          </a:ln>
        </p:spPr>
      </p:sp>
      <p:sp>
        <p:nvSpPr>
          <p:cNvPr id="10" name="Text 8"/>
          <p:cNvSpPr/>
          <p:nvPr/>
        </p:nvSpPr>
        <p:spPr>
          <a:xfrm>
            <a:off x="685800"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VARIÁVEL DE FÓRMULA</a:t>
            </a:r>
            <a:endParaRPr lang="en-US" sz="900" dirty="0"/>
          </a:p>
        </p:txBody>
      </p:sp>
      <p:sp>
        <p:nvSpPr>
          <p:cNvPr id="11" name="Text 9"/>
          <p:cNvSpPr/>
          <p:nvPr/>
        </p:nvSpPr>
        <p:spPr>
          <a:xfrm>
            <a:off x="685800"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φ, ψ, χ</a:t>
            </a:r>
            <a:endParaRPr lang="en-US" sz="1800" dirty="0"/>
          </a:p>
        </p:txBody>
      </p:sp>
      <p:sp>
        <p:nvSpPr>
          <p:cNvPr id="12" name="Text 10"/>
          <p:cNvSpPr/>
          <p:nvPr/>
        </p:nvSpPr>
        <p:spPr>
          <a:xfrm>
            <a:off x="685800"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Placeholders para qualquer sentença.</a:t>
            </a:r>
            <a:endParaRPr lang="en-US" sz="1300" dirty="0"/>
          </a:p>
        </p:txBody>
      </p:sp>
      <p:sp>
        <p:nvSpPr>
          <p:cNvPr id="13" name="Shape 11"/>
          <p:cNvSpPr/>
          <p:nvPr/>
        </p:nvSpPr>
        <p:spPr>
          <a:xfrm>
            <a:off x="4307738" y="2194560"/>
            <a:ext cx="3576218" cy="2011680"/>
          </a:xfrm>
          <a:prstGeom prst="rect">
            <a:avLst/>
          </a:prstGeom>
          <a:solidFill>
            <a:srgbClr val="FFFFFF"/>
          </a:solidFill>
          <a:ln w="9525">
            <a:solidFill>
              <a:srgbClr val="CBBFA3"/>
            </a:solidFill>
            <a:prstDash val="solid"/>
          </a:ln>
        </p:spPr>
      </p:sp>
      <p:sp>
        <p:nvSpPr>
          <p:cNvPr id="14" name="Text 12"/>
          <p:cNvSpPr/>
          <p:nvPr/>
        </p:nvSpPr>
        <p:spPr>
          <a:xfrm>
            <a:off x="4490618"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INSTÂNCIA</a:t>
            </a:r>
            <a:endParaRPr lang="en-US" sz="900" dirty="0"/>
          </a:p>
        </p:txBody>
      </p:sp>
      <p:sp>
        <p:nvSpPr>
          <p:cNvPr id="15" name="Text 13"/>
          <p:cNvSpPr/>
          <p:nvPr/>
        </p:nvSpPr>
        <p:spPr>
          <a:xfrm>
            <a:off x="4490618"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p ⇒ p</a:t>
            </a:r>
            <a:endParaRPr lang="en-US" sz="1800" dirty="0"/>
          </a:p>
        </p:txBody>
      </p:sp>
      <p:sp>
        <p:nvSpPr>
          <p:cNvPr id="16" name="Text 14"/>
          <p:cNvSpPr/>
          <p:nvPr/>
        </p:nvSpPr>
        <p:spPr>
          <a:xfrm>
            <a:off x="4490618"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φ ⇒ φ instanciado com φ = p.</a:t>
            </a:r>
            <a:endParaRPr lang="en-US" sz="1300" dirty="0"/>
          </a:p>
        </p:txBody>
      </p:sp>
      <p:sp>
        <p:nvSpPr>
          <p:cNvPr id="17" name="Shape 15"/>
          <p:cNvSpPr/>
          <p:nvPr/>
        </p:nvSpPr>
        <p:spPr>
          <a:xfrm>
            <a:off x="8112557" y="2194560"/>
            <a:ext cx="3576218" cy="2011680"/>
          </a:xfrm>
          <a:prstGeom prst="rect">
            <a:avLst/>
          </a:prstGeom>
          <a:solidFill>
            <a:srgbClr val="FFFFFF"/>
          </a:solidFill>
          <a:ln w="9525">
            <a:solidFill>
              <a:srgbClr val="CBBFA3"/>
            </a:solidFill>
            <a:prstDash val="solid"/>
          </a:ln>
        </p:spPr>
      </p:sp>
      <p:sp>
        <p:nvSpPr>
          <p:cNvPr id="18" name="Text 16"/>
          <p:cNvSpPr/>
          <p:nvPr/>
        </p:nvSpPr>
        <p:spPr>
          <a:xfrm>
            <a:off x="8295437"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VANTAGEM</a:t>
            </a:r>
            <a:endParaRPr lang="en-US" sz="900" dirty="0"/>
          </a:p>
        </p:txBody>
      </p:sp>
      <p:sp>
        <p:nvSpPr>
          <p:cNvPr id="19" name="Text 17"/>
          <p:cNvSpPr/>
          <p:nvPr/>
        </p:nvSpPr>
        <p:spPr>
          <a:xfrm>
            <a:off x="8295437"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Reuso</a:t>
            </a:r>
            <a:endParaRPr lang="en-US" sz="1800" dirty="0"/>
          </a:p>
        </p:txBody>
      </p:sp>
      <p:sp>
        <p:nvSpPr>
          <p:cNvPr id="20" name="Text 18"/>
          <p:cNvSpPr/>
          <p:nvPr/>
        </p:nvSpPr>
        <p:spPr>
          <a:xfrm>
            <a:off x="8295437"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Uma regra serve infinitas fórmulas.</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5">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06 / 19</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SISTEMA DE HILBERT</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3 · Inferência e Prova</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Poucos axiomas, uma regra</a:t>
            </a:r>
            <a:endParaRPr lang="en-US" sz="3600" dirty="0"/>
          </a:p>
        </p:txBody>
      </p:sp>
      <p:sp>
        <p:nvSpPr>
          <p:cNvPr id="9" name="Text 7"/>
          <p:cNvSpPr/>
          <p:nvPr/>
        </p:nvSpPr>
        <p:spPr>
          <a:xfrm>
            <a:off x="502920" y="1554480"/>
            <a:ext cx="11185855" cy="457200"/>
          </a:xfrm>
          <a:prstGeom prst="rect">
            <a:avLst/>
          </a:prstGeom>
          <a:noFill/>
          <a:ln/>
        </p:spPr>
        <p:txBody>
          <a:bodyPr wrap="square" rtlCol="0" anchor="ctr"/>
          <a:lstStyle/>
          <a:p>
            <a:pPr marL="0" indent="0">
              <a:buNone/>
            </a:pPr>
            <a:r>
              <a:rPr lang="en-US" sz="1600" i="1" dirty="0">
                <a:solidFill>
                  <a:srgbClr val="2A3550"/>
                </a:solidFill>
                <a:latin typeface="Merriweather" pitchFamily="34" charset="0"/>
                <a:ea typeface="Merriweather" pitchFamily="34" charset="-122"/>
                <a:cs typeface="Merriweather" pitchFamily="34" charset="-120"/>
              </a:rPr>
              <a:t>Maximiza axiomas, minimiza regras de inferência</a:t>
            </a:r>
            <a:endParaRPr lang="en-US" sz="1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6">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07 / 19</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HILBERT · AXIOMAS</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3 · Inferência e Prova</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Os três esquemas</a:t>
            </a:r>
            <a:endParaRPr lang="en-US" sz="3600" dirty="0"/>
          </a:p>
        </p:txBody>
      </p:sp>
      <p:sp>
        <p:nvSpPr>
          <p:cNvPr id="9" name="Shape 7"/>
          <p:cNvSpPr/>
          <p:nvPr/>
        </p:nvSpPr>
        <p:spPr>
          <a:xfrm>
            <a:off x="1981048" y="2377440"/>
            <a:ext cx="8229600" cy="2286000"/>
          </a:xfrm>
          <a:prstGeom prst="rect">
            <a:avLst/>
          </a:prstGeom>
          <a:solidFill>
            <a:srgbClr val="FFFFFF"/>
          </a:solidFill>
          <a:ln w="12700">
            <a:solidFill>
              <a:srgbClr val="CBBFA3"/>
            </a:solidFill>
            <a:prstDash val="solid"/>
          </a:ln>
        </p:spPr>
      </p:sp>
      <p:sp>
        <p:nvSpPr>
          <p:cNvPr id="10" name="Shape 8"/>
          <p:cNvSpPr/>
          <p:nvPr/>
        </p:nvSpPr>
        <p:spPr>
          <a:xfrm>
            <a:off x="1981048" y="2377440"/>
            <a:ext cx="64008" cy="2286000"/>
          </a:xfrm>
          <a:prstGeom prst="rect">
            <a:avLst/>
          </a:prstGeom>
          <a:solidFill>
            <a:srgbClr val="E07A1F"/>
          </a:solidFill>
          <a:ln w="12700">
            <a:solidFill>
              <a:srgbClr val="E07A1F"/>
            </a:solidFill>
            <a:prstDash val="solid"/>
          </a:ln>
        </p:spPr>
      </p:sp>
      <p:sp>
        <p:nvSpPr>
          <p:cNvPr id="11" name="Text 9"/>
          <p:cNvSpPr/>
          <p:nvPr/>
        </p:nvSpPr>
        <p:spPr>
          <a:xfrm>
            <a:off x="2163928" y="2377440"/>
            <a:ext cx="7955280" cy="2286000"/>
          </a:xfrm>
          <a:prstGeom prst="rect">
            <a:avLst/>
          </a:prstGeom>
          <a:noFill/>
          <a:ln/>
        </p:spPr>
        <p:txBody>
          <a:bodyPr wrap="square" rtlCol="0" anchor="ctr"/>
          <a:lstStyle/>
          <a:p>
            <a:pPr marL="0" indent="0" algn="ctr">
              <a:buNone/>
            </a:pPr>
            <a:r>
              <a:rPr lang="en-US" sz="1800" dirty="0">
                <a:solidFill>
                  <a:srgbClr val="1A2238"/>
                </a:solidFill>
                <a:latin typeface="Cambria" pitchFamily="34" charset="0"/>
                <a:ea typeface="Cambria" pitchFamily="34" charset="-122"/>
                <a:cs typeface="Cambria" pitchFamily="34" charset="-120"/>
              </a:rPr>
              <a:t>A1: φ ⇒ (ψ ⇒ φ)</a:t>
            </a:r>
            <a:endParaRPr lang="en-US" sz="1800" dirty="0"/>
          </a:p>
          <a:p>
            <a:pPr marL="0" indent="0" algn="ctr">
              <a:buNone/>
            </a:pPr>
            <a:r>
              <a:rPr lang="en-US" sz="1800" dirty="0">
                <a:solidFill>
                  <a:srgbClr val="1A2238"/>
                </a:solidFill>
                <a:latin typeface="Cambria" pitchFamily="34" charset="0"/>
                <a:ea typeface="Cambria" pitchFamily="34" charset="-122"/>
                <a:cs typeface="Cambria" pitchFamily="34" charset="-120"/>
              </a:rPr>
              <a:t>A2: (φ ⇒ (ψ ⇒ χ)) ⇒ ((φ ⇒ ψ) ⇒ (φ ⇒ χ))</a:t>
            </a:r>
            <a:endParaRPr lang="en-US" sz="1800" dirty="0"/>
          </a:p>
          <a:p>
            <a:pPr marL="0" indent="0" algn="ctr">
              <a:buNone/>
            </a:pPr>
            <a:r>
              <a:rPr lang="en-US" sz="1800" dirty="0">
                <a:solidFill>
                  <a:srgbClr val="1A2238"/>
                </a:solidFill>
                <a:latin typeface="Cambria" pitchFamily="34" charset="0"/>
                <a:ea typeface="Cambria" pitchFamily="34" charset="-122"/>
                <a:cs typeface="Cambria" pitchFamily="34" charset="-120"/>
              </a:rPr>
              <a:t>A3: (¬ψ ⇒ ¬φ) ⇒ (φ ⇒ ψ)</a:t>
            </a:r>
            <a:endParaRPr lang="en-US" sz="1800" dirty="0"/>
          </a:p>
        </p:txBody>
      </p:sp>
      <p:sp>
        <p:nvSpPr>
          <p:cNvPr id="12" name="Text 10"/>
          <p:cNvSpPr/>
          <p:nvPr/>
        </p:nvSpPr>
        <p:spPr>
          <a:xfrm>
            <a:off x="502920" y="4754880"/>
            <a:ext cx="11185855" cy="365760"/>
          </a:xfrm>
          <a:prstGeom prst="rect">
            <a:avLst/>
          </a:prstGeom>
          <a:noFill/>
          <a:ln/>
        </p:spPr>
        <p:txBody>
          <a:bodyPr wrap="square" rtlCol="0" anchor="ctr"/>
          <a:lstStyle/>
          <a:p>
            <a:pPr marL="0" indent="0" algn="ctr">
              <a:buNone/>
            </a:pPr>
            <a:r>
              <a:rPr lang="en-US" sz="1200" i="1" dirty="0">
                <a:solidFill>
                  <a:srgbClr val="6B6452"/>
                </a:solidFill>
                <a:latin typeface="Source Sans 3" pitchFamily="34" charset="0"/>
                <a:ea typeface="Source Sans 3" pitchFamily="34" charset="-122"/>
                <a:cs typeface="Source Sans 3" pitchFamily="34" charset="-120"/>
              </a:rPr>
              <a:t>Bastam estes três (mais Modus Ponens) para derivar toda tautologia clássica.</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7">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08 / 19</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HILBERT · REGRA</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3 · Inferência e Prova</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Modus Ponens</a:t>
            </a:r>
            <a:endParaRPr lang="en-US" sz="3600" dirty="0"/>
          </a:p>
        </p:txBody>
      </p:sp>
      <p:sp>
        <p:nvSpPr>
          <p:cNvPr id="9" name="Shape 7"/>
          <p:cNvSpPr/>
          <p:nvPr/>
        </p:nvSpPr>
        <p:spPr>
          <a:xfrm>
            <a:off x="1981048" y="2377440"/>
            <a:ext cx="8229600" cy="1828800"/>
          </a:xfrm>
          <a:prstGeom prst="rect">
            <a:avLst/>
          </a:prstGeom>
          <a:solidFill>
            <a:srgbClr val="FFFFFF"/>
          </a:solidFill>
          <a:ln w="12700">
            <a:solidFill>
              <a:srgbClr val="CBBFA3"/>
            </a:solidFill>
            <a:prstDash val="solid"/>
          </a:ln>
        </p:spPr>
      </p:sp>
      <p:sp>
        <p:nvSpPr>
          <p:cNvPr id="10" name="Shape 8"/>
          <p:cNvSpPr/>
          <p:nvPr/>
        </p:nvSpPr>
        <p:spPr>
          <a:xfrm>
            <a:off x="1981048" y="2377440"/>
            <a:ext cx="64008" cy="1828800"/>
          </a:xfrm>
          <a:prstGeom prst="rect">
            <a:avLst/>
          </a:prstGeom>
          <a:solidFill>
            <a:srgbClr val="E07A1F"/>
          </a:solidFill>
          <a:ln w="12700">
            <a:solidFill>
              <a:srgbClr val="E07A1F"/>
            </a:solidFill>
            <a:prstDash val="solid"/>
          </a:ln>
        </p:spPr>
      </p:sp>
      <p:sp>
        <p:nvSpPr>
          <p:cNvPr id="11" name="Text 9"/>
          <p:cNvSpPr/>
          <p:nvPr/>
        </p:nvSpPr>
        <p:spPr>
          <a:xfrm>
            <a:off x="2163928" y="2377440"/>
            <a:ext cx="7955280" cy="1828800"/>
          </a:xfrm>
          <a:prstGeom prst="rect">
            <a:avLst/>
          </a:prstGeom>
          <a:noFill/>
          <a:ln/>
        </p:spPr>
        <p:txBody>
          <a:bodyPr wrap="square" rtlCol="0" anchor="ctr"/>
          <a:lstStyle/>
          <a:p>
            <a:pPr marL="0" indent="0" algn="ctr">
              <a:buNone/>
            </a:pPr>
            <a:r>
              <a:rPr lang="en-US" sz="2400" dirty="0">
                <a:solidFill>
                  <a:srgbClr val="1A2238"/>
                </a:solidFill>
                <a:latin typeface="Cambria" pitchFamily="34" charset="0"/>
                <a:ea typeface="Cambria" pitchFamily="34" charset="-122"/>
                <a:cs typeface="Cambria" pitchFamily="34" charset="-120"/>
              </a:rPr>
              <a:t>φ        φ ⇒ ψ</a:t>
            </a:r>
            <a:endParaRPr lang="en-US" sz="2400" dirty="0"/>
          </a:p>
          <a:p>
            <a:pPr marL="0" indent="0" algn="ctr">
              <a:buNone/>
            </a:pPr>
            <a:r>
              <a:rPr lang="en-US" sz="2400" dirty="0">
                <a:solidFill>
                  <a:srgbClr val="1A2238"/>
                </a:solidFill>
                <a:latin typeface="Cambria" pitchFamily="34" charset="0"/>
                <a:ea typeface="Cambria" pitchFamily="34" charset="-122"/>
                <a:cs typeface="Cambria" pitchFamily="34" charset="-120"/>
              </a:rPr>
              <a:t>———————————</a:t>
            </a:r>
            <a:endParaRPr lang="en-US" sz="2400" dirty="0"/>
          </a:p>
          <a:p>
            <a:pPr marL="0" indent="0" algn="ctr">
              <a:buNone/>
            </a:pPr>
            <a:r>
              <a:rPr lang="en-US" sz="2400" dirty="0">
                <a:solidFill>
                  <a:srgbClr val="1A2238"/>
                </a:solidFill>
                <a:latin typeface="Cambria" pitchFamily="34" charset="0"/>
                <a:ea typeface="Cambria" pitchFamily="34" charset="-122"/>
                <a:cs typeface="Cambria" pitchFamily="34" charset="-120"/>
              </a:rPr>
              <a:t>         ψ</a:t>
            </a:r>
            <a:endParaRPr lang="en-US" sz="2400" dirty="0"/>
          </a:p>
        </p:txBody>
      </p:sp>
      <p:sp>
        <p:nvSpPr>
          <p:cNvPr id="12" name="Text 10"/>
          <p:cNvSpPr/>
          <p:nvPr/>
        </p:nvSpPr>
        <p:spPr>
          <a:xfrm>
            <a:off x="502920" y="4297680"/>
            <a:ext cx="11185855" cy="365760"/>
          </a:xfrm>
          <a:prstGeom prst="rect">
            <a:avLst/>
          </a:prstGeom>
          <a:noFill/>
          <a:ln/>
        </p:spPr>
        <p:txBody>
          <a:bodyPr wrap="square" rtlCol="0" anchor="ctr"/>
          <a:lstStyle/>
          <a:p>
            <a:pPr marL="0" indent="0" algn="ctr">
              <a:buNone/>
            </a:pPr>
            <a:r>
              <a:rPr lang="en-US" sz="1200" i="1" dirty="0">
                <a:solidFill>
                  <a:srgbClr val="6B6452"/>
                </a:solidFill>
                <a:latin typeface="Source Sans 3" pitchFamily="34" charset="0"/>
                <a:ea typeface="Source Sans 3" pitchFamily="34" charset="-122"/>
                <a:cs typeface="Source Sans 3" pitchFamily="34" charset="-120"/>
              </a:rPr>
              <a:t>A única regra de inferência do sistema.</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8">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09 / 19</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SISTEMA DE FITCH</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3 · Inferência e Prova</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Dedução natural</a:t>
            </a:r>
            <a:endParaRPr lang="en-US" sz="3600" dirty="0"/>
          </a:p>
        </p:txBody>
      </p:sp>
      <p:sp>
        <p:nvSpPr>
          <p:cNvPr id="9" name="Text 7"/>
          <p:cNvSpPr/>
          <p:nvPr/>
        </p:nvSpPr>
        <p:spPr>
          <a:xfrm>
            <a:off x="502920" y="1554480"/>
            <a:ext cx="11185855" cy="457200"/>
          </a:xfrm>
          <a:prstGeom prst="rect">
            <a:avLst/>
          </a:prstGeom>
          <a:noFill/>
          <a:ln/>
        </p:spPr>
        <p:txBody>
          <a:bodyPr wrap="square" rtlCol="0" anchor="ctr"/>
          <a:lstStyle/>
          <a:p>
            <a:pPr marL="0" indent="0">
              <a:buNone/>
            </a:pPr>
            <a:r>
              <a:rPr lang="en-US" sz="1600" i="1" dirty="0">
                <a:solidFill>
                  <a:srgbClr val="2A3550"/>
                </a:solidFill>
                <a:latin typeface="Merriweather" pitchFamily="34" charset="0"/>
                <a:ea typeface="Merriweather" pitchFamily="34" charset="-122"/>
                <a:cs typeface="Merriweather" pitchFamily="34" charset="-120"/>
              </a:rPr>
              <a:t>Muitas regras, espelhando o raciocínio humano</a:t>
            </a:r>
            <a:endParaRPr lang="en-US" sz="1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9">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10 / 19</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FITCH · REGRAS</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3 · Inferência e Prova</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Introdução e eliminação por conectivo</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340968" y="2103120"/>
          <a:ext cx="9509760" cy="1920240"/>
        </p:xfrm>
        <a:graphic>
          <a:graphicData uri="http://schemas.openxmlformats.org/drawingml/2006/table">
            <a:tbl>
              <a:tblPr/>
              <a:tblGrid>
                <a:gridCol w="182880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384048">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Conectivo</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Introdução (I)</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Eliminação (E)</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extLst>
                  <a:ext uri="{0D108BD9-81ED-4DB2-BD59-A6C34878D82A}">
                    <a16:rowId xmlns:a16="http://schemas.microsoft.com/office/drawing/2014/main" val="10000"/>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de φ, ψ : φ∧ψ</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de φ∧ψ : φ ; também ψ</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de φ : φ∨ψ</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prova por casos</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subprova: assume φ, deriva ψ</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Modus Ponens</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reductio ad absurdum</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¬¬φ ⊢ φ</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0" name="Text 7"/>
          <p:cNvSpPr/>
          <p:nvPr/>
        </p:nvSpPr>
        <p:spPr>
          <a:xfrm>
            <a:off x="1340968" y="4069080"/>
            <a:ext cx="9509760" cy="274320"/>
          </a:xfrm>
          <a:prstGeom prst="rect">
            <a:avLst/>
          </a:prstGeom>
          <a:noFill/>
          <a:ln/>
        </p:spPr>
        <p:txBody>
          <a:bodyPr wrap="square" rtlCol="0" anchor="ctr"/>
          <a:lstStyle/>
          <a:p>
            <a:pPr marL="0" indent="0" algn="ctr">
              <a:buNone/>
            </a:pPr>
            <a:r>
              <a:rPr lang="en-US" sz="1000" i="1" dirty="0">
                <a:solidFill>
                  <a:srgbClr val="6B6452"/>
                </a:solidFill>
                <a:latin typeface="Source Sans 3" pitchFamily="34" charset="0"/>
                <a:ea typeface="Source Sans 3" pitchFamily="34" charset="-122"/>
                <a:cs typeface="Source Sans 3" pitchFamily="34" charset="-120"/>
              </a:rPr>
              <a:t>Cada conectivo tem dois pares de regras simétricas.</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0">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11 / 19</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EXEMPLO FITCH</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3 · Inferência e Prova</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Provar p ⇒ p</a:t>
            </a:r>
            <a:endParaRPr lang="en-US" sz="3600" dirty="0"/>
          </a:p>
        </p:txBody>
      </p:sp>
      <p:sp>
        <p:nvSpPr>
          <p:cNvPr id="9" name="Shape 7"/>
          <p:cNvSpPr/>
          <p:nvPr/>
        </p:nvSpPr>
        <p:spPr>
          <a:xfrm>
            <a:off x="502920" y="1828800"/>
            <a:ext cx="11185855" cy="4206240"/>
          </a:xfrm>
          <a:prstGeom prst="rect">
            <a:avLst/>
          </a:prstGeom>
          <a:solidFill>
            <a:srgbClr val="1A2238"/>
          </a:solidFill>
          <a:ln w="12700">
            <a:solidFill>
              <a:srgbClr val="2A3550"/>
            </a:solidFill>
            <a:prstDash val="solid"/>
          </a:ln>
        </p:spPr>
      </p:sp>
      <p:sp>
        <p:nvSpPr>
          <p:cNvPr id="10" name="Shape 8"/>
          <p:cNvSpPr/>
          <p:nvPr/>
        </p:nvSpPr>
        <p:spPr>
          <a:xfrm>
            <a:off x="502920" y="1828800"/>
            <a:ext cx="64008" cy="4206240"/>
          </a:xfrm>
          <a:prstGeom prst="rect">
            <a:avLst/>
          </a:prstGeom>
          <a:solidFill>
            <a:srgbClr val="E07A1F"/>
          </a:solidFill>
          <a:ln w="12700">
            <a:solidFill>
              <a:srgbClr val="E07A1F"/>
            </a:solidFill>
            <a:prstDash val="solid"/>
          </a:ln>
        </p:spPr>
      </p:sp>
      <p:sp>
        <p:nvSpPr>
          <p:cNvPr id="11" name="Text 9"/>
          <p:cNvSpPr/>
          <p:nvPr/>
        </p:nvSpPr>
        <p:spPr>
          <a:xfrm>
            <a:off x="731520" y="1920240"/>
            <a:ext cx="10820095" cy="4023360"/>
          </a:xfrm>
          <a:prstGeom prst="rect">
            <a:avLst/>
          </a:prstGeom>
          <a:noFill/>
          <a:ln/>
        </p:spPr>
        <p:txBody>
          <a:bodyPr wrap="square" rtlCol="0" anchor="t"/>
          <a:lstStyle/>
          <a:p>
            <a:pPr marL="0" indent="0">
              <a:buNone/>
            </a:pPr>
            <a:r>
              <a:rPr lang="en-US" sz="1400" dirty="0">
                <a:solidFill>
                  <a:srgbClr val="F7F2E8"/>
                </a:solidFill>
                <a:latin typeface="Consolas" pitchFamily="34" charset="0"/>
                <a:ea typeface="Consolas" pitchFamily="34" charset="-122"/>
                <a:cs typeface="Consolas" pitchFamily="34" charset="-120"/>
              </a:rPr>
              <a:t>1.  | p              hipótese (subprova)</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2.  | p              reiteração (1)</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3.  p ⇒ p            ⇒I (1-2)</a:t>
            </a:r>
            <a:endParaRPr lang="en-US" sz="1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1">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12 / 19</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EXEMPLO FITCH</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3 · Inferência e Prova</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Modus Tollens em Fitch</a:t>
            </a:r>
            <a:endParaRPr lang="en-US" sz="3600" dirty="0"/>
          </a:p>
        </p:txBody>
      </p:sp>
      <p:sp>
        <p:nvSpPr>
          <p:cNvPr id="9" name="Shape 7"/>
          <p:cNvSpPr/>
          <p:nvPr/>
        </p:nvSpPr>
        <p:spPr>
          <a:xfrm>
            <a:off x="502920" y="1828800"/>
            <a:ext cx="11185855" cy="4206240"/>
          </a:xfrm>
          <a:prstGeom prst="rect">
            <a:avLst/>
          </a:prstGeom>
          <a:solidFill>
            <a:srgbClr val="1A2238"/>
          </a:solidFill>
          <a:ln w="12700">
            <a:solidFill>
              <a:srgbClr val="2A3550"/>
            </a:solidFill>
            <a:prstDash val="solid"/>
          </a:ln>
        </p:spPr>
      </p:sp>
      <p:sp>
        <p:nvSpPr>
          <p:cNvPr id="10" name="Shape 8"/>
          <p:cNvSpPr/>
          <p:nvPr/>
        </p:nvSpPr>
        <p:spPr>
          <a:xfrm>
            <a:off x="502920" y="1828800"/>
            <a:ext cx="64008" cy="4206240"/>
          </a:xfrm>
          <a:prstGeom prst="rect">
            <a:avLst/>
          </a:prstGeom>
          <a:solidFill>
            <a:srgbClr val="E07A1F"/>
          </a:solidFill>
          <a:ln w="12700">
            <a:solidFill>
              <a:srgbClr val="E07A1F"/>
            </a:solidFill>
            <a:prstDash val="solid"/>
          </a:ln>
        </p:spPr>
      </p:sp>
      <p:sp>
        <p:nvSpPr>
          <p:cNvPr id="11" name="Text 9"/>
          <p:cNvSpPr/>
          <p:nvPr/>
        </p:nvSpPr>
        <p:spPr>
          <a:xfrm>
            <a:off x="731520" y="1920240"/>
            <a:ext cx="10820095" cy="4023360"/>
          </a:xfrm>
          <a:prstGeom prst="rect">
            <a:avLst/>
          </a:prstGeom>
          <a:noFill/>
          <a:ln/>
        </p:spPr>
        <p:txBody>
          <a:bodyPr wrap="square" rtlCol="0" anchor="t"/>
          <a:lstStyle/>
          <a:p>
            <a:pPr marL="0" indent="0">
              <a:buNone/>
            </a:pPr>
            <a:r>
              <a:rPr lang="en-US" sz="1400" dirty="0">
                <a:solidFill>
                  <a:srgbClr val="F7F2E8"/>
                </a:solidFill>
                <a:latin typeface="Consolas" pitchFamily="34" charset="0"/>
                <a:ea typeface="Consolas" pitchFamily="34" charset="-122"/>
                <a:cs typeface="Consolas" pitchFamily="34" charset="-120"/>
              </a:rPr>
              <a:t>Premissas: p ⇒ q,  ¬q       Conclusão: ¬p</a:t>
            </a:r>
            <a:endParaRPr lang="en-US" sz="1400" dirty="0"/>
          </a:p>
          <a:p>
            <a:pPr marL="0" indent="0">
              <a:buNone/>
            </a:pP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1.  p ⇒ q           premissa</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2.  ¬q              premissa</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3.  | p             hipótese para reductio</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4.  | q             ⇒E (1, 3)        ← Modus Ponens</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5.  | ⊥             ⊥I (2, 4)        ← contradição</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6.  ¬p              ¬I (3-5)         ← reductio</a:t>
            </a:r>
            <a:endParaRPr lang="en-US" sz="1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2">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13 / 19</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PROVA POR CASOS</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3 · Inferência e Prova</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(p ∨ q) ∧ (p ⇒ r) ∧ (q ⇒ r) ⊢ r</a:t>
            </a:r>
            <a:endParaRPr lang="en-US" sz="3600" dirty="0"/>
          </a:p>
        </p:txBody>
      </p:sp>
      <p:sp>
        <p:nvSpPr>
          <p:cNvPr id="9" name="Shape 7"/>
          <p:cNvSpPr/>
          <p:nvPr/>
        </p:nvSpPr>
        <p:spPr>
          <a:xfrm>
            <a:off x="502920" y="1828800"/>
            <a:ext cx="11185855" cy="4206240"/>
          </a:xfrm>
          <a:prstGeom prst="rect">
            <a:avLst/>
          </a:prstGeom>
          <a:solidFill>
            <a:srgbClr val="1A2238"/>
          </a:solidFill>
          <a:ln w="12700">
            <a:solidFill>
              <a:srgbClr val="2A3550"/>
            </a:solidFill>
            <a:prstDash val="solid"/>
          </a:ln>
        </p:spPr>
      </p:sp>
      <p:sp>
        <p:nvSpPr>
          <p:cNvPr id="10" name="Shape 8"/>
          <p:cNvSpPr/>
          <p:nvPr/>
        </p:nvSpPr>
        <p:spPr>
          <a:xfrm>
            <a:off x="502920" y="1828800"/>
            <a:ext cx="64008" cy="4206240"/>
          </a:xfrm>
          <a:prstGeom prst="rect">
            <a:avLst/>
          </a:prstGeom>
          <a:solidFill>
            <a:srgbClr val="E07A1F"/>
          </a:solidFill>
          <a:ln w="12700">
            <a:solidFill>
              <a:srgbClr val="E07A1F"/>
            </a:solidFill>
            <a:prstDash val="solid"/>
          </a:ln>
        </p:spPr>
      </p:sp>
      <p:sp>
        <p:nvSpPr>
          <p:cNvPr id="11" name="Text 9"/>
          <p:cNvSpPr/>
          <p:nvPr/>
        </p:nvSpPr>
        <p:spPr>
          <a:xfrm>
            <a:off x="731520" y="1920240"/>
            <a:ext cx="10820095" cy="4023360"/>
          </a:xfrm>
          <a:prstGeom prst="rect">
            <a:avLst/>
          </a:prstGeom>
          <a:noFill/>
          <a:ln/>
        </p:spPr>
        <p:txBody>
          <a:bodyPr wrap="square" rtlCol="0" anchor="t"/>
          <a:lstStyle/>
          <a:p>
            <a:pPr marL="0" indent="0">
              <a:buNone/>
            </a:pPr>
            <a:r>
              <a:rPr lang="en-US" sz="1400" dirty="0">
                <a:solidFill>
                  <a:srgbClr val="F7F2E8"/>
                </a:solidFill>
                <a:latin typeface="Consolas" pitchFamily="34" charset="0"/>
                <a:ea typeface="Consolas" pitchFamily="34" charset="-122"/>
                <a:cs typeface="Consolas" pitchFamily="34" charset="-120"/>
              </a:rPr>
              <a:t>1.  p ∨ q           premissa</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2.  p ⇒ r           premissa</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3.  q ⇒ r           premissa</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4.  | p             hipótese (caso 1)</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5.  | r             ⇒E (2, 4)</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6.  | q             hipótese (caso 2)</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7.  | r             ⇒E (3, 6)</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8.  r               ∨E (1, 4-5, 6-7)</a:t>
            </a:r>
            <a:endParaRPr lang="en-US" sz="1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3">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14 / 19</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HILBERT × FITCH</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3 · Inferência e Prova</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Quando usar cada um?</a:t>
            </a:r>
            <a:endParaRPr lang="en-US" sz="3600" dirty="0"/>
          </a:p>
        </p:txBody>
      </p:sp>
      <p:sp>
        <p:nvSpPr>
          <p:cNvPr id="9" name="Shape 7"/>
          <p:cNvSpPr/>
          <p:nvPr/>
        </p:nvSpPr>
        <p:spPr>
          <a:xfrm>
            <a:off x="502920" y="2194560"/>
            <a:ext cx="3576218" cy="2011680"/>
          </a:xfrm>
          <a:prstGeom prst="rect">
            <a:avLst/>
          </a:prstGeom>
          <a:solidFill>
            <a:srgbClr val="FFFFFF"/>
          </a:solidFill>
          <a:ln w="9525">
            <a:solidFill>
              <a:srgbClr val="CBBFA3"/>
            </a:solidFill>
            <a:prstDash val="solid"/>
          </a:ln>
        </p:spPr>
      </p:sp>
      <p:sp>
        <p:nvSpPr>
          <p:cNvPr id="10" name="Text 8"/>
          <p:cNvSpPr/>
          <p:nvPr/>
        </p:nvSpPr>
        <p:spPr>
          <a:xfrm>
            <a:off x="685800"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HILBERT</a:t>
            </a:r>
            <a:endParaRPr lang="en-US" sz="900" dirty="0"/>
          </a:p>
        </p:txBody>
      </p:sp>
      <p:sp>
        <p:nvSpPr>
          <p:cNvPr id="11" name="Text 9"/>
          <p:cNvSpPr/>
          <p:nvPr/>
        </p:nvSpPr>
        <p:spPr>
          <a:xfrm>
            <a:off x="685800"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Teórico</a:t>
            </a:r>
            <a:endParaRPr lang="en-US" sz="1800" dirty="0"/>
          </a:p>
        </p:txBody>
      </p:sp>
      <p:sp>
        <p:nvSpPr>
          <p:cNvPr id="12" name="Text 10"/>
          <p:cNvSpPr/>
          <p:nvPr/>
        </p:nvSpPr>
        <p:spPr>
          <a:xfrm>
            <a:off x="685800"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Poucos axiomas, fácil provar metateoremas.</a:t>
            </a:r>
            <a:endParaRPr lang="en-US" sz="1300" dirty="0"/>
          </a:p>
        </p:txBody>
      </p:sp>
      <p:sp>
        <p:nvSpPr>
          <p:cNvPr id="13" name="Shape 11"/>
          <p:cNvSpPr/>
          <p:nvPr/>
        </p:nvSpPr>
        <p:spPr>
          <a:xfrm>
            <a:off x="4307738" y="2194560"/>
            <a:ext cx="3576218" cy="2011680"/>
          </a:xfrm>
          <a:prstGeom prst="rect">
            <a:avLst/>
          </a:prstGeom>
          <a:solidFill>
            <a:srgbClr val="FFFFFF"/>
          </a:solidFill>
          <a:ln w="9525">
            <a:solidFill>
              <a:srgbClr val="CBBFA3"/>
            </a:solidFill>
            <a:prstDash val="solid"/>
          </a:ln>
        </p:spPr>
      </p:sp>
      <p:sp>
        <p:nvSpPr>
          <p:cNvPr id="14" name="Text 12"/>
          <p:cNvSpPr/>
          <p:nvPr/>
        </p:nvSpPr>
        <p:spPr>
          <a:xfrm>
            <a:off x="4490618"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FITCH</a:t>
            </a:r>
            <a:endParaRPr lang="en-US" sz="900" dirty="0"/>
          </a:p>
        </p:txBody>
      </p:sp>
      <p:sp>
        <p:nvSpPr>
          <p:cNvPr id="15" name="Text 13"/>
          <p:cNvSpPr/>
          <p:nvPr/>
        </p:nvSpPr>
        <p:spPr>
          <a:xfrm>
            <a:off x="4490618"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Prático</a:t>
            </a:r>
            <a:endParaRPr lang="en-US" sz="1800" dirty="0"/>
          </a:p>
        </p:txBody>
      </p:sp>
      <p:sp>
        <p:nvSpPr>
          <p:cNvPr id="16" name="Text 14"/>
          <p:cNvSpPr/>
          <p:nvPr/>
        </p:nvSpPr>
        <p:spPr>
          <a:xfrm>
            <a:off x="4490618"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Muitas regras, provas curtas e intuitivas.</a:t>
            </a:r>
            <a:endParaRPr lang="en-US" sz="1300" dirty="0"/>
          </a:p>
        </p:txBody>
      </p:sp>
      <p:sp>
        <p:nvSpPr>
          <p:cNvPr id="17" name="Shape 15"/>
          <p:cNvSpPr/>
          <p:nvPr/>
        </p:nvSpPr>
        <p:spPr>
          <a:xfrm>
            <a:off x="8112557" y="2194560"/>
            <a:ext cx="3576218" cy="2011680"/>
          </a:xfrm>
          <a:prstGeom prst="rect">
            <a:avLst/>
          </a:prstGeom>
          <a:solidFill>
            <a:srgbClr val="FFFFFF"/>
          </a:solidFill>
          <a:ln w="9525">
            <a:solidFill>
              <a:srgbClr val="CBBFA3"/>
            </a:solidFill>
            <a:prstDash val="solid"/>
          </a:ln>
        </p:spPr>
      </p:sp>
      <p:sp>
        <p:nvSpPr>
          <p:cNvPr id="18" name="Text 16"/>
          <p:cNvSpPr/>
          <p:nvPr/>
        </p:nvSpPr>
        <p:spPr>
          <a:xfrm>
            <a:off x="8295437"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EQUIVALENTES</a:t>
            </a:r>
            <a:endParaRPr lang="en-US" sz="900" dirty="0"/>
          </a:p>
        </p:txBody>
      </p:sp>
      <p:sp>
        <p:nvSpPr>
          <p:cNvPr id="19" name="Text 17"/>
          <p:cNvSpPr/>
          <p:nvPr/>
        </p:nvSpPr>
        <p:spPr>
          <a:xfrm>
            <a:off x="8295437"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Mesmo poder</a:t>
            </a:r>
            <a:endParaRPr lang="en-US" sz="1800" dirty="0"/>
          </a:p>
        </p:txBody>
      </p:sp>
      <p:sp>
        <p:nvSpPr>
          <p:cNvPr id="20" name="Text 18"/>
          <p:cNvSpPr/>
          <p:nvPr/>
        </p:nvSpPr>
        <p:spPr>
          <a:xfrm>
            <a:off x="8295437"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Provam exatamente as mesmas fórmulas.</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4">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15 / 19</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ESTRATÉGIA</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3 · Inferência e Prova</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Como construir uma prova</a:t>
            </a:r>
            <a:endParaRPr lang="en-US" sz="3600" dirty="0"/>
          </a:p>
        </p:txBody>
      </p:sp>
      <p:sp>
        <p:nvSpPr>
          <p:cNvPr id="9" name="Text 7"/>
          <p:cNvSpPr/>
          <p:nvPr/>
        </p:nvSpPr>
        <p:spPr>
          <a:xfrm>
            <a:off x="502920" y="1554480"/>
            <a:ext cx="11185855" cy="457200"/>
          </a:xfrm>
          <a:prstGeom prst="rect">
            <a:avLst/>
          </a:prstGeom>
          <a:noFill/>
          <a:ln/>
        </p:spPr>
        <p:txBody>
          <a:bodyPr wrap="square" rtlCol="0" anchor="ctr"/>
          <a:lstStyle/>
          <a:p>
            <a:pPr marL="0" indent="0">
              <a:buNone/>
            </a:pPr>
            <a:r>
              <a:rPr lang="en-US" sz="1600" i="1" dirty="0">
                <a:solidFill>
                  <a:srgbClr val="2A3550"/>
                </a:solidFill>
                <a:latin typeface="Merriweather" pitchFamily="34" charset="0"/>
                <a:ea typeface="Merriweather" pitchFamily="34" charset="-122"/>
                <a:cs typeface="Merriweather" pitchFamily="34" charset="-120"/>
              </a:rPr>
              <a:t>1) Olhe a conclusão  2) Trabalhe de trás  3) Use hipóteses</a:t>
            </a:r>
            <a:endParaRPr lang="en-US" sz="16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5">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16 / 19</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PADRÕES ÚTEIS</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3 · Inferência e Prova</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Atalhos mentais comuns</a:t>
            </a:r>
            <a:endParaRPr lang="en-US" sz="3600" dirty="0"/>
          </a:p>
        </p:txBody>
      </p:sp>
      <p:sp>
        <p:nvSpPr>
          <p:cNvPr id="9" name="Shape 7"/>
          <p:cNvSpPr/>
          <p:nvPr/>
        </p:nvSpPr>
        <p:spPr>
          <a:xfrm>
            <a:off x="502920" y="2194560"/>
            <a:ext cx="3576218" cy="2011680"/>
          </a:xfrm>
          <a:prstGeom prst="rect">
            <a:avLst/>
          </a:prstGeom>
          <a:solidFill>
            <a:srgbClr val="FFFFFF"/>
          </a:solidFill>
          <a:ln w="9525">
            <a:solidFill>
              <a:srgbClr val="CBBFA3"/>
            </a:solidFill>
            <a:prstDash val="solid"/>
          </a:ln>
        </p:spPr>
      </p:sp>
      <p:sp>
        <p:nvSpPr>
          <p:cNvPr id="10" name="Text 8"/>
          <p:cNvSpPr/>
          <p:nvPr/>
        </p:nvSpPr>
        <p:spPr>
          <a:xfrm>
            <a:off x="685800"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PROVAR Φ ⇒ Ψ</a:t>
            </a:r>
            <a:endParaRPr lang="en-US" sz="900" dirty="0"/>
          </a:p>
        </p:txBody>
      </p:sp>
      <p:sp>
        <p:nvSpPr>
          <p:cNvPr id="11" name="Text 9"/>
          <p:cNvSpPr/>
          <p:nvPr/>
        </p:nvSpPr>
        <p:spPr>
          <a:xfrm>
            <a:off x="685800"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Subprova</a:t>
            </a:r>
            <a:endParaRPr lang="en-US" sz="1800" dirty="0"/>
          </a:p>
        </p:txBody>
      </p:sp>
      <p:sp>
        <p:nvSpPr>
          <p:cNvPr id="12" name="Text 10"/>
          <p:cNvSpPr/>
          <p:nvPr/>
        </p:nvSpPr>
        <p:spPr>
          <a:xfrm>
            <a:off x="685800"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Assume φ, derive ψ, fecha com ⇒I.</a:t>
            </a:r>
            <a:endParaRPr lang="en-US" sz="1300" dirty="0"/>
          </a:p>
        </p:txBody>
      </p:sp>
      <p:sp>
        <p:nvSpPr>
          <p:cNvPr id="13" name="Shape 11"/>
          <p:cNvSpPr/>
          <p:nvPr/>
        </p:nvSpPr>
        <p:spPr>
          <a:xfrm>
            <a:off x="4307738" y="2194560"/>
            <a:ext cx="3576218" cy="2011680"/>
          </a:xfrm>
          <a:prstGeom prst="rect">
            <a:avLst/>
          </a:prstGeom>
          <a:solidFill>
            <a:srgbClr val="FFFFFF"/>
          </a:solidFill>
          <a:ln w="9525">
            <a:solidFill>
              <a:srgbClr val="CBBFA3"/>
            </a:solidFill>
            <a:prstDash val="solid"/>
          </a:ln>
        </p:spPr>
      </p:sp>
      <p:sp>
        <p:nvSpPr>
          <p:cNvPr id="14" name="Text 12"/>
          <p:cNvSpPr/>
          <p:nvPr/>
        </p:nvSpPr>
        <p:spPr>
          <a:xfrm>
            <a:off x="4490618"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PROVAR ¬Φ</a:t>
            </a:r>
            <a:endParaRPr lang="en-US" sz="900" dirty="0"/>
          </a:p>
        </p:txBody>
      </p:sp>
      <p:sp>
        <p:nvSpPr>
          <p:cNvPr id="15" name="Text 13"/>
          <p:cNvSpPr/>
          <p:nvPr/>
        </p:nvSpPr>
        <p:spPr>
          <a:xfrm>
            <a:off x="4490618"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Reductio</a:t>
            </a:r>
            <a:endParaRPr lang="en-US" sz="1800" dirty="0"/>
          </a:p>
        </p:txBody>
      </p:sp>
      <p:sp>
        <p:nvSpPr>
          <p:cNvPr id="16" name="Text 14"/>
          <p:cNvSpPr/>
          <p:nvPr/>
        </p:nvSpPr>
        <p:spPr>
          <a:xfrm>
            <a:off x="4490618"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Assume φ, derive ⊥, fecha com ¬I.</a:t>
            </a:r>
            <a:endParaRPr lang="en-US" sz="1300" dirty="0"/>
          </a:p>
        </p:txBody>
      </p:sp>
      <p:sp>
        <p:nvSpPr>
          <p:cNvPr id="17" name="Shape 15"/>
          <p:cNvSpPr/>
          <p:nvPr/>
        </p:nvSpPr>
        <p:spPr>
          <a:xfrm>
            <a:off x="8112557" y="2194560"/>
            <a:ext cx="3576218" cy="2011680"/>
          </a:xfrm>
          <a:prstGeom prst="rect">
            <a:avLst/>
          </a:prstGeom>
          <a:solidFill>
            <a:srgbClr val="FFFFFF"/>
          </a:solidFill>
          <a:ln w="9525">
            <a:solidFill>
              <a:srgbClr val="CBBFA3"/>
            </a:solidFill>
            <a:prstDash val="solid"/>
          </a:ln>
        </p:spPr>
      </p:sp>
      <p:sp>
        <p:nvSpPr>
          <p:cNvPr id="18" name="Text 16"/>
          <p:cNvSpPr/>
          <p:nvPr/>
        </p:nvSpPr>
        <p:spPr>
          <a:xfrm>
            <a:off x="8295437"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PROVAR Φ ∨ Ψ</a:t>
            </a:r>
            <a:endParaRPr lang="en-US" sz="900" dirty="0"/>
          </a:p>
        </p:txBody>
      </p:sp>
      <p:sp>
        <p:nvSpPr>
          <p:cNvPr id="19" name="Text 17"/>
          <p:cNvSpPr/>
          <p:nvPr/>
        </p:nvSpPr>
        <p:spPr>
          <a:xfrm>
            <a:off x="8295437"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∨I</a:t>
            </a:r>
            <a:endParaRPr lang="en-US" sz="1800" dirty="0"/>
          </a:p>
        </p:txBody>
      </p:sp>
      <p:sp>
        <p:nvSpPr>
          <p:cNvPr id="20" name="Text 18"/>
          <p:cNvSpPr/>
          <p:nvPr/>
        </p:nvSpPr>
        <p:spPr>
          <a:xfrm>
            <a:off x="8295437"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Basta provar um dos lados.</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6">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17 / 19</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CORREÇÃO E COMPLETUDE</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3 · Inferência e Prova</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A ponte entre ⊢ e ⊨</a:t>
            </a:r>
            <a:endParaRPr lang="en-US" sz="3600" dirty="0"/>
          </a:p>
        </p:txBody>
      </p:sp>
      <p:sp>
        <p:nvSpPr>
          <p:cNvPr id="9" name="Shape 7"/>
          <p:cNvSpPr/>
          <p:nvPr/>
        </p:nvSpPr>
        <p:spPr>
          <a:xfrm>
            <a:off x="1981048" y="2377440"/>
            <a:ext cx="8229600" cy="1828800"/>
          </a:xfrm>
          <a:prstGeom prst="rect">
            <a:avLst/>
          </a:prstGeom>
          <a:solidFill>
            <a:srgbClr val="FFFFFF"/>
          </a:solidFill>
          <a:ln w="12700">
            <a:solidFill>
              <a:srgbClr val="CBBFA3"/>
            </a:solidFill>
            <a:prstDash val="solid"/>
          </a:ln>
        </p:spPr>
      </p:sp>
      <p:sp>
        <p:nvSpPr>
          <p:cNvPr id="10" name="Shape 8"/>
          <p:cNvSpPr/>
          <p:nvPr/>
        </p:nvSpPr>
        <p:spPr>
          <a:xfrm>
            <a:off x="1981048" y="2377440"/>
            <a:ext cx="64008" cy="1828800"/>
          </a:xfrm>
          <a:prstGeom prst="rect">
            <a:avLst/>
          </a:prstGeom>
          <a:solidFill>
            <a:srgbClr val="E07A1F"/>
          </a:solidFill>
          <a:ln w="12700">
            <a:solidFill>
              <a:srgbClr val="E07A1F"/>
            </a:solidFill>
            <a:prstDash val="solid"/>
          </a:ln>
        </p:spPr>
      </p:sp>
      <p:sp>
        <p:nvSpPr>
          <p:cNvPr id="11" name="Text 9"/>
          <p:cNvSpPr/>
          <p:nvPr/>
        </p:nvSpPr>
        <p:spPr>
          <a:xfrm>
            <a:off x="2163928" y="2377440"/>
            <a:ext cx="7955280" cy="1828800"/>
          </a:xfrm>
          <a:prstGeom prst="rect">
            <a:avLst/>
          </a:prstGeom>
          <a:noFill/>
          <a:ln/>
        </p:spPr>
        <p:txBody>
          <a:bodyPr wrap="square" rtlCol="0" anchor="ctr"/>
          <a:lstStyle/>
          <a:p>
            <a:pPr marL="0" indent="0" algn="ctr">
              <a:buNone/>
            </a:pPr>
            <a:r>
              <a:rPr lang="en-US" sz="2200" dirty="0">
                <a:solidFill>
                  <a:srgbClr val="1A2238"/>
                </a:solidFill>
                <a:latin typeface="Cambria" pitchFamily="34" charset="0"/>
                <a:ea typeface="Cambria" pitchFamily="34" charset="-122"/>
                <a:cs typeface="Cambria" pitchFamily="34" charset="-120"/>
              </a:rPr>
              <a:t>Correção:   Δ ⊢ ψ  ⇒  Δ ⊨ ψ</a:t>
            </a:r>
            <a:endParaRPr lang="en-US" sz="2200" dirty="0"/>
          </a:p>
          <a:p>
            <a:pPr marL="0" indent="0" algn="ctr">
              <a:buNone/>
            </a:pPr>
            <a:r>
              <a:rPr lang="en-US" sz="2200" dirty="0">
                <a:solidFill>
                  <a:srgbClr val="1A2238"/>
                </a:solidFill>
                <a:latin typeface="Cambria" pitchFamily="34" charset="0"/>
                <a:ea typeface="Cambria" pitchFamily="34" charset="-122"/>
                <a:cs typeface="Cambria" pitchFamily="34" charset="-120"/>
              </a:rPr>
              <a:t>Completude: Δ ⊨ ψ  ⇒  Δ ⊢ ψ</a:t>
            </a:r>
            <a:endParaRPr lang="en-US" sz="2200" dirty="0"/>
          </a:p>
        </p:txBody>
      </p:sp>
      <p:sp>
        <p:nvSpPr>
          <p:cNvPr id="12" name="Text 10"/>
          <p:cNvSpPr/>
          <p:nvPr/>
        </p:nvSpPr>
        <p:spPr>
          <a:xfrm>
            <a:off x="502920" y="4297680"/>
            <a:ext cx="11185855" cy="365760"/>
          </a:xfrm>
          <a:prstGeom prst="rect">
            <a:avLst/>
          </a:prstGeom>
          <a:noFill/>
          <a:ln/>
        </p:spPr>
        <p:txBody>
          <a:bodyPr wrap="square" rtlCol="0" anchor="ctr"/>
          <a:lstStyle/>
          <a:p>
            <a:pPr marL="0" indent="0" algn="ctr">
              <a:buNone/>
            </a:pPr>
            <a:r>
              <a:rPr lang="en-US" sz="1200" i="1" dirty="0">
                <a:solidFill>
                  <a:srgbClr val="6B6452"/>
                </a:solidFill>
                <a:latin typeface="Source Sans 3" pitchFamily="34" charset="0"/>
                <a:ea typeface="Source Sans 3" pitchFamily="34" charset="-122"/>
                <a:cs typeface="Source Sans 3" pitchFamily="34" charset="-120"/>
              </a:rPr>
              <a:t>Tudo que se prova é verdadeiro; tudo que é verdadeiro pode ser provado.</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7">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18 / 19</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IMPLEMENTAÇÃO</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3 · Inferência e Prova</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Verificador de provas em Python</a:t>
            </a:r>
            <a:endParaRPr lang="en-US" sz="3600" dirty="0"/>
          </a:p>
        </p:txBody>
      </p:sp>
      <p:sp>
        <p:nvSpPr>
          <p:cNvPr id="9" name="Shape 7"/>
          <p:cNvSpPr/>
          <p:nvPr/>
        </p:nvSpPr>
        <p:spPr>
          <a:xfrm>
            <a:off x="502920" y="1828800"/>
            <a:ext cx="11185855" cy="4206240"/>
          </a:xfrm>
          <a:prstGeom prst="rect">
            <a:avLst/>
          </a:prstGeom>
          <a:solidFill>
            <a:srgbClr val="1A2238"/>
          </a:solidFill>
          <a:ln w="12700">
            <a:solidFill>
              <a:srgbClr val="2A3550"/>
            </a:solidFill>
            <a:prstDash val="solid"/>
          </a:ln>
        </p:spPr>
      </p:sp>
      <p:sp>
        <p:nvSpPr>
          <p:cNvPr id="10" name="Shape 8"/>
          <p:cNvSpPr/>
          <p:nvPr/>
        </p:nvSpPr>
        <p:spPr>
          <a:xfrm>
            <a:off x="502920" y="1828800"/>
            <a:ext cx="64008" cy="4206240"/>
          </a:xfrm>
          <a:prstGeom prst="rect">
            <a:avLst/>
          </a:prstGeom>
          <a:solidFill>
            <a:srgbClr val="E07A1F"/>
          </a:solidFill>
          <a:ln w="12700">
            <a:solidFill>
              <a:srgbClr val="E07A1F"/>
            </a:solidFill>
            <a:prstDash val="solid"/>
          </a:ln>
        </p:spPr>
      </p:sp>
      <p:sp>
        <p:nvSpPr>
          <p:cNvPr id="11" name="Text 9"/>
          <p:cNvSpPr/>
          <p:nvPr/>
        </p:nvSpPr>
        <p:spPr>
          <a:xfrm>
            <a:off x="731520" y="1920240"/>
            <a:ext cx="10820095" cy="4023360"/>
          </a:xfrm>
          <a:prstGeom prst="rect">
            <a:avLst/>
          </a:prstGeom>
          <a:noFill/>
          <a:ln/>
        </p:spPr>
        <p:txBody>
          <a:bodyPr wrap="square" rtlCol="0" anchor="t"/>
          <a:lstStyle/>
          <a:p>
            <a:pPr marL="0" indent="0">
              <a:buNone/>
            </a:pPr>
            <a:r>
              <a:rPr lang="en-US" sz="1400" dirty="0">
                <a:solidFill>
                  <a:srgbClr val="F7F2E8"/>
                </a:solidFill>
                <a:latin typeface="Consolas" pitchFamily="34" charset="0"/>
                <a:ea typeface="Consolas" pitchFamily="34" charset="-122"/>
                <a:cs typeface="Consolas" pitchFamily="34" charset="-120"/>
              </a:rPr>
              <a:t>def check_modus_ponens(line, premises_in_scope):</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"""Verifica se 'line' decorre por MP de linhas anteriores."""</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psi = line['fmla']</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for a in premises_in_scope:</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for b in premises_in_scope:</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 Procura b = (a ⇒ psi)</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if b[0] == 'imp' and b[1] == a[1] and b[2] == psi:</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return True</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return False</a:t>
            </a:r>
            <a:endParaRPr lang="en-US" sz="1400" dirty="0"/>
          </a:p>
          <a:p>
            <a:pPr marL="0" indent="0">
              <a:buNone/>
            </a:pP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Uso típico em um verificador completo: para cada linha,</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inspeciona-se a justificativa ('MP', '∧I', '⇒I', ...) e</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chama-se a função correspondente que valida o passo.</a:t>
            </a:r>
            <a:endParaRPr lang="en-US" sz="1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8">
    <p:bg>
      <p:bgPr>
        <a:solidFill>
          <a:srgbClr val="1A223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Shape 1"/>
          <p:cNvSpPr/>
          <p:nvPr/>
        </p:nvSpPr>
        <p:spPr>
          <a:xfrm>
            <a:off x="4952848" y="1371600"/>
            <a:ext cx="2286000" cy="411480"/>
          </a:xfrm>
          <a:prstGeom prst="roundRect">
            <a:avLst>
              <a:gd name="adj" fmla="val 48889"/>
            </a:avLst>
          </a:prstGeom>
          <a:solidFill>
            <a:srgbClr val="E07A1F"/>
          </a:solidFill>
          <a:ln w="12700">
            <a:solidFill>
              <a:srgbClr val="E07A1F"/>
            </a:solidFill>
            <a:prstDash val="solid"/>
          </a:ln>
        </p:spPr>
      </p:sp>
      <p:sp>
        <p:nvSpPr>
          <p:cNvPr id="4" name="Text 2"/>
          <p:cNvSpPr/>
          <p:nvPr/>
        </p:nvSpPr>
        <p:spPr>
          <a:xfrm>
            <a:off x="4952848" y="1371600"/>
            <a:ext cx="2286000" cy="411480"/>
          </a:xfrm>
          <a:prstGeom prst="rect">
            <a:avLst/>
          </a:prstGeom>
          <a:noFill/>
          <a:ln/>
        </p:spPr>
        <p:txBody>
          <a:bodyPr wrap="square" rtlCol="0" anchor="ctr"/>
          <a:lstStyle/>
          <a:p>
            <a:pPr marL="0" indent="0" algn="ctr">
              <a:buNone/>
            </a:pPr>
            <a:r>
              <a:rPr lang="en-US" sz="1200" b="1" kern="0" spc="400" dirty="0">
                <a:solidFill>
                  <a:srgbClr val="FFFFFF"/>
                </a:solidFill>
                <a:latin typeface="Source Sans 3" pitchFamily="34" charset="0"/>
                <a:ea typeface="Source Sans 3" pitchFamily="34" charset="-122"/>
                <a:cs typeface="Source Sans 3" pitchFamily="34" charset="-120"/>
              </a:rPr>
              <a:t>FIM DO CAPÍTULO 3</a:t>
            </a:r>
            <a:endParaRPr lang="en-US" sz="1200" dirty="0"/>
          </a:p>
        </p:txBody>
      </p:sp>
      <p:sp>
        <p:nvSpPr>
          <p:cNvPr id="5" name="Text 3"/>
          <p:cNvSpPr/>
          <p:nvPr/>
        </p:nvSpPr>
        <p:spPr>
          <a:xfrm>
            <a:off x="502920" y="2103120"/>
            <a:ext cx="11185855" cy="1371600"/>
          </a:xfrm>
          <a:prstGeom prst="rect">
            <a:avLst/>
          </a:prstGeom>
          <a:noFill/>
          <a:ln/>
        </p:spPr>
        <p:txBody>
          <a:bodyPr wrap="square" rtlCol="0" anchor="ctr"/>
          <a:lstStyle/>
          <a:p>
            <a:pPr marL="0" indent="0" algn="ctr">
              <a:buNone/>
            </a:pPr>
            <a:r>
              <a:rPr lang="en-US" sz="4400" b="1" dirty="0">
                <a:solidFill>
                  <a:srgbClr val="F7F2E8"/>
                </a:solidFill>
                <a:latin typeface="Playfair Display" pitchFamily="34" charset="0"/>
                <a:ea typeface="Playfair Display" pitchFamily="34" charset="-122"/>
                <a:cs typeface="Playfair Display" pitchFamily="34" charset="-120"/>
              </a:rPr>
              <a:t>Provar é encadear evidência</a:t>
            </a:r>
            <a:endParaRPr lang="en-US" sz="4400" dirty="0"/>
          </a:p>
        </p:txBody>
      </p:sp>
      <p:sp>
        <p:nvSpPr>
          <p:cNvPr id="6" name="Text 4"/>
          <p:cNvSpPr/>
          <p:nvPr/>
        </p:nvSpPr>
        <p:spPr>
          <a:xfrm>
            <a:off x="1371600" y="3840480"/>
            <a:ext cx="9448495" cy="1371600"/>
          </a:xfrm>
          <a:prstGeom prst="rect">
            <a:avLst/>
          </a:prstGeom>
          <a:noFill/>
          <a:ln/>
        </p:spPr>
        <p:txBody>
          <a:bodyPr wrap="square" rtlCol="0" anchor="ctr"/>
          <a:lstStyle/>
          <a:p>
            <a:pPr marL="0" indent="0" algn="ctr">
              <a:buNone/>
            </a:pPr>
            <a:r>
              <a:rPr lang="en-US" sz="1800" i="1" dirty="0">
                <a:solidFill>
                  <a:srgbClr val="CBBFA3"/>
                </a:solidFill>
                <a:latin typeface="Merriweather" pitchFamily="34" charset="0"/>
                <a:ea typeface="Merriweather" pitchFamily="34" charset="-122"/>
                <a:cs typeface="Merriweather" pitchFamily="34" charset="-120"/>
              </a:rPr>
              <a:t>Hilbert e Fitch dão duas vistas do mesmo poder dedutivo. Correção e completude garantem que prova e verdade coincidem.</a:t>
            </a:r>
            <a:endParaRPr lang="en-US" sz="1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9">
    <p:bg>
      <p:bgPr>
        <a:solidFill>
          <a:srgbClr val="1A223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A3550"/>
          </a:solidFill>
          <a:ln w="12700">
            <a:solidFill>
              <a:srgbClr val="2A3550"/>
            </a:solidFill>
            <a:prstDash val="solid"/>
          </a:ln>
        </p:spPr>
      </p:sp>
      <p:sp>
        <p:nvSpPr>
          <p:cNvPr id="3" name="Shape 1"/>
          <p:cNvSpPr/>
          <p:nvPr/>
        </p:nvSpPr>
        <p:spPr>
          <a:xfrm>
            <a:off x="0" y="0"/>
            <a:ext cx="164592" cy="6858000"/>
          </a:xfrm>
          <a:prstGeom prst="rect">
            <a:avLst/>
          </a:prstGeom>
          <a:solidFill>
            <a:srgbClr val="E07A1F"/>
          </a:solidFill>
          <a:ln w="12700">
            <a:solidFill>
              <a:srgbClr val="E07A1F"/>
            </a:solidFill>
            <a:prstDash val="solid"/>
          </a:ln>
        </p:spPr>
      </p:sp>
      <p:sp>
        <p:nvSpPr>
          <p:cNvPr id="4" name="Text 2"/>
          <p:cNvSpPr/>
          <p:nvPr/>
        </p:nvSpPr>
        <p:spPr>
          <a:xfrm>
            <a:off x="9905695" y="228600"/>
            <a:ext cx="2011680" cy="274320"/>
          </a:xfrm>
          <a:prstGeom prst="rect">
            <a:avLst/>
          </a:prstGeom>
          <a:noFill/>
          <a:ln/>
        </p:spPr>
        <p:txBody>
          <a:bodyPr wrap="square" rtlCol="0" anchor="ctr"/>
          <a:lstStyle/>
          <a:p>
            <a:pPr marL="0" indent="0" algn="r">
              <a:buNone/>
            </a:pPr>
            <a:r>
              <a:rPr lang="en-US" sz="1100" b="1" kern="0" spc="400" dirty="0">
                <a:solidFill>
                  <a:srgbClr val="F3A96B"/>
                </a:solidFill>
                <a:latin typeface="Playfair Display" pitchFamily="34" charset="0"/>
                <a:ea typeface="Playfair Display" pitchFamily="34" charset="-122"/>
                <a:cs typeface="Playfair Display" pitchFamily="34" charset="-120"/>
              </a:rPr>
              <a:t>CAP. 04 · 01/16</a:t>
            </a:r>
            <a:endParaRPr lang="en-US" sz="1100" dirty="0"/>
          </a:p>
        </p:txBody>
      </p:sp>
      <p:sp>
        <p:nvSpPr>
          <p:cNvPr id="5" name="Text 3"/>
          <p:cNvSpPr/>
          <p:nvPr/>
        </p:nvSpPr>
        <p:spPr>
          <a:xfrm>
            <a:off x="502920" y="1371600"/>
            <a:ext cx="11185855" cy="365760"/>
          </a:xfrm>
          <a:prstGeom prst="rect">
            <a:avLst/>
          </a:prstGeom>
          <a:noFill/>
          <a:ln/>
        </p:spPr>
        <p:txBody>
          <a:bodyPr wrap="square" rtlCol="0" anchor="ctr"/>
          <a:lstStyle/>
          <a:p>
            <a:pPr marL="0" indent="0">
              <a:buNone/>
            </a:pPr>
            <a:r>
              <a:rPr lang="en-US" sz="1100" b="1" kern="0" spc="600" dirty="0">
                <a:solidFill>
                  <a:srgbClr val="F3A96B"/>
                </a:solidFill>
                <a:latin typeface="Source Sans 3" pitchFamily="34" charset="0"/>
                <a:ea typeface="Source Sans 3" pitchFamily="34" charset="-122"/>
                <a:cs typeface="Source Sans 3" pitchFamily="34" charset="-120"/>
              </a:rPr>
              <a:t>FUNDAMENTOS DE LÓGICA APLICADA À CIÊNCIA DE DADOS</a:t>
            </a:r>
            <a:endParaRPr lang="en-US" sz="1100" dirty="0"/>
          </a:p>
        </p:txBody>
      </p:sp>
      <p:sp>
        <p:nvSpPr>
          <p:cNvPr id="6" name="Text 4"/>
          <p:cNvSpPr/>
          <p:nvPr/>
        </p:nvSpPr>
        <p:spPr>
          <a:xfrm>
            <a:off x="502920" y="1828800"/>
            <a:ext cx="11185855" cy="2286000"/>
          </a:xfrm>
          <a:prstGeom prst="rect">
            <a:avLst/>
          </a:prstGeom>
          <a:noFill/>
          <a:ln/>
        </p:spPr>
        <p:txBody>
          <a:bodyPr wrap="square" rtlCol="0" anchor="ctr"/>
          <a:lstStyle/>
          <a:p>
            <a:pPr marL="0" indent="0">
              <a:buNone/>
            </a:pPr>
            <a:r>
              <a:rPr lang="en-US" sz="6000" b="1" dirty="0">
                <a:solidFill>
                  <a:srgbClr val="F7F2E8"/>
                </a:solidFill>
                <a:latin typeface="Playfair Display" pitchFamily="34" charset="0"/>
                <a:ea typeface="Playfair Display" pitchFamily="34" charset="-122"/>
                <a:cs typeface="Playfair Display" pitchFamily="34" charset="-120"/>
              </a:rPr>
              <a:t>Lógica</a:t>
            </a:r>
            <a:endParaRPr lang="en-US" sz="6000" dirty="0"/>
          </a:p>
          <a:p>
            <a:pPr marL="0" indent="0">
              <a:buNone/>
            </a:pPr>
            <a:r>
              <a:rPr lang="en-US" sz="6000" b="1" dirty="0">
                <a:solidFill>
                  <a:srgbClr val="F7F2E8"/>
                </a:solidFill>
                <a:latin typeface="Playfair Display" pitchFamily="34" charset="0"/>
                <a:ea typeface="Playfair Display" pitchFamily="34" charset="-122"/>
                <a:cs typeface="Playfair Display" pitchFamily="34" charset="-120"/>
              </a:rPr>
              <a:t>Relacional</a:t>
            </a:r>
            <a:endParaRPr lang="en-US" sz="6000" dirty="0"/>
          </a:p>
        </p:txBody>
      </p:sp>
      <p:sp>
        <p:nvSpPr>
          <p:cNvPr id="7" name="Text 5"/>
          <p:cNvSpPr/>
          <p:nvPr/>
        </p:nvSpPr>
        <p:spPr>
          <a:xfrm>
            <a:off x="502920" y="4297680"/>
            <a:ext cx="11185855" cy="914400"/>
          </a:xfrm>
          <a:prstGeom prst="rect">
            <a:avLst/>
          </a:prstGeom>
          <a:noFill/>
          <a:ln/>
        </p:spPr>
        <p:txBody>
          <a:bodyPr wrap="square" rtlCol="0" anchor="ctr"/>
          <a:lstStyle/>
          <a:p>
            <a:pPr marL="0" indent="0">
              <a:buNone/>
            </a:pPr>
            <a:r>
              <a:rPr lang="en-US" sz="1800" i="1" dirty="0">
                <a:solidFill>
                  <a:srgbClr val="CBBFA3"/>
                </a:solidFill>
                <a:latin typeface="Merriweather" pitchFamily="34" charset="0"/>
                <a:ea typeface="Merriweather" pitchFamily="34" charset="-122"/>
                <a:cs typeface="Merriweather" pitchFamily="34" charset="-120"/>
              </a:rPr>
              <a:t>Quando proposições não bastam: falando sobre objetos e relações</a:t>
            </a:r>
            <a:endParaRPr lang="en-US" sz="1800" dirty="0"/>
          </a:p>
        </p:txBody>
      </p:sp>
      <p:sp>
        <p:nvSpPr>
          <p:cNvPr id="8" name="Shape 6"/>
          <p:cNvSpPr/>
          <p:nvPr/>
        </p:nvSpPr>
        <p:spPr>
          <a:xfrm>
            <a:off x="502920" y="6446520"/>
            <a:ext cx="11185855" cy="0"/>
          </a:xfrm>
          <a:prstGeom prst="line">
            <a:avLst/>
          </a:prstGeom>
          <a:noFill/>
          <a:ln w="6350">
            <a:solidFill>
              <a:srgbClr val="4B5563"/>
            </a:solidFill>
            <a:prstDash val="solid"/>
          </a:ln>
        </p:spPr>
      </p:sp>
      <p:sp>
        <p:nvSpPr>
          <p:cNvPr id="9" name="Text 7"/>
          <p:cNvSpPr/>
          <p:nvPr/>
        </p:nvSpPr>
        <p:spPr>
          <a:xfrm>
            <a:off x="502920" y="6492240"/>
            <a:ext cx="11185855" cy="274320"/>
          </a:xfrm>
          <a:prstGeom prst="rect">
            <a:avLst/>
          </a:prstGeom>
          <a:noFill/>
          <a:ln/>
        </p:spPr>
        <p:txBody>
          <a:bodyPr wrap="square" rtlCol="0" anchor="ctr"/>
          <a:lstStyle/>
          <a:p>
            <a:r>
              <a:rPr lang="en-US" sz="900" b="1" kern="0" spc="300" dirty="0">
                <a:solidFill>
                  <a:srgbClr val="9CA3AF"/>
                </a:solidFill>
                <a:latin typeface="Source Sans 3" pitchFamily="34" charset="0"/>
                <a:ea typeface="Source Sans 3" pitchFamily="34" charset="-122"/>
                <a:cs typeface="Source Sans 3" pitchFamily="34" charset="-120"/>
              </a:rPr>
              <a:t>ALICCE · Helena Reis &amp; Anderson Marcolino</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0">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02 / 16</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VOCABULÁRIO</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4 · Lógica Relacional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Três novos tipos de símbolo</a:t>
            </a:r>
            <a:endParaRPr lang="en-US" sz="3600" dirty="0"/>
          </a:p>
        </p:txBody>
      </p:sp>
      <p:sp>
        <p:nvSpPr>
          <p:cNvPr id="9" name="Shape 7"/>
          <p:cNvSpPr/>
          <p:nvPr/>
        </p:nvSpPr>
        <p:spPr>
          <a:xfrm>
            <a:off x="502920" y="2194560"/>
            <a:ext cx="3576218" cy="2011680"/>
          </a:xfrm>
          <a:prstGeom prst="rect">
            <a:avLst/>
          </a:prstGeom>
          <a:solidFill>
            <a:srgbClr val="FFFFFF"/>
          </a:solidFill>
          <a:ln w="9525">
            <a:solidFill>
              <a:srgbClr val="CBBFA3"/>
            </a:solidFill>
            <a:prstDash val="solid"/>
          </a:ln>
        </p:spPr>
      </p:sp>
      <p:sp>
        <p:nvSpPr>
          <p:cNvPr id="10" name="Text 8"/>
          <p:cNvSpPr/>
          <p:nvPr/>
        </p:nvSpPr>
        <p:spPr>
          <a:xfrm>
            <a:off x="685800"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CONSTANTES</a:t>
            </a:r>
            <a:endParaRPr lang="en-US" sz="900" dirty="0"/>
          </a:p>
        </p:txBody>
      </p:sp>
      <p:sp>
        <p:nvSpPr>
          <p:cNvPr id="11" name="Text 9"/>
          <p:cNvSpPr/>
          <p:nvPr/>
        </p:nvSpPr>
        <p:spPr>
          <a:xfrm>
            <a:off x="685800"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ana, bob, 7</a:t>
            </a:r>
            <a:endParaRPr lang="en-US" sz="1800" dirty="0"/>
          </a:p>
        </p:txBody>
      </p:sp>
      <p:sp>
        <p:nvSpPr>
          <p:cNvPr id="12" name="Text 10"/>
          <p:cNvSpPr/>
          <p:nvPr/>
        </p:nvSpPr>
        <p:spPr>
          <a:xfrm>
            <a:off x="685800"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Nomeiam objetos específicos.</a:t>
            </a:r>
            <a:endParaRPr lang="en-US" sz="1300" dirty="0"/>
          </a:p>
        </p:txBody>
      </p:sp>
      <p:sp>
        <p:nvSpPr>
          <p:cNvPr id="13" name="Shape 11"/>
          <p:cNvSpPr/>
          <p:nvPr/>
        </p:nvSpPr>
        <p:spPr>
          <a:xfrm>
            <a:off x="4307738" y="2194560"/>
            <a:ext cx="3576218" cy="2011680"/>
          </a:xfrm>
          <a:prstGeom prst="rect">
            <a:avLst/>
          </a:prstGeom>
          <a:solidFill>
            <a:srgbClr val="FFFFFF"/>
          </a:solidFill>
          <a:ln w="9525">
            <a:solidFill>
              <a:srgbClr val="CBBFA3"/>
            </a:solidFill>
            <a:prstDash val="solid"/>
          </a:ln>
        </p:spPr>
      </p:sp>
      <p:sp>
        <p:nvSpPr>
          <p:cNvPr id="14" name="Text 12"/>
          <p:cNvSpPr/>
          <p:nvPr/>
        </p:nvSpPr>
        <p:spPr>
          <a:xfrm>
            <a:off x="4490618"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VARIÁVEIS</a:t>
            </a:r>
            <a:endParaRPr lang="en-US" sz="900" dirty="0"/>
          </a:p>
        </p:txBody>
      </p:sp>
      <p:sp>
        <p:nvSpPr>
          <p:cNvPr id="15" name="Text 13"/>
          <p:cNvSpPr/>
          <p:nvPr/>
        </p:nvSpPr>
        <p:spPr>
          <a:xfrm>
            <a:off x="4490618"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x, y, z</a:t>
            </a:r>
            <a:endParaRPr lang="en-US" sz="1800" dirty="0"/>
          </a:p>
        </p:txBody>
      </p:sp>
      <p:sp>
        <p:nvSpPr>
          <p:cNvPr id="16" name="Text 14"/>
          <p:cNvSpPr/>
          <p:nvPr/>
        </p:nvSpPr>
        <p:spPr>
          <a:xfrm>
            <a:off x="4490618"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Placeholders para objetos quaisquer.</a:t>
            </a:r>
            <a:endParaRPr lang="en-US" sz="1300" dirty="0"/>
          </a:p>
        </p:txBody>
      </p:sp>
      <p:sp>
        <p:nvSpPr>
          <p:cNvPr id="17" name="Shape 15"/>
          <p:cNvSpPr/>
          <p:nvPr/>
        </p:nvSpPr>
        <p:spPr>
          <a:xfrm>
            <a:off x="8112557" y="2194560"/>
            <a:ext cx="3576218" cy="2011680"/>
          </a:xfrm>
          <a:prstGeom prst="rect">
            <a:avLst/>
          </a:prstGeom>
          <a:solidFill>
            <a:srgbClr val="FFFFFF"/>
          </a:solidFill>
          <a:ln w="9525">
            <a:solidFill>
              <a:srgbClr val="CBBFA3"/>
            </a:solidFill>
            <a:prstDash val="solid"/>
          </a:ln>
        </p:spPr>
      </p:sp>
      <p:sp>
        <p:nvSpPr>
          <p:cNvPr id="18" name="Text 16"/>
          <p:cNvSpPr/>
          <p:nvPr/>
        </p:nvSpPr>
        <p:spPr>
          <a:xfrm>
            <a:off x="8295437"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RELAÇÕES</a:t>
            </a:r>
            <a:endParaRPr lang="en-US" sz="900" dirty="0"/>
          </a:p>
        </p:txBody>
      </p:sp>
      <p:sp>
        <p:nvSpPr>
          <p:cNvPr id="19" name="Text 17"/>
          <p:cNvSpPr/>
          <p:nvPr/>
        </p:nvSpPr>
        <p:spPr>
          <a:xfrm>
            <a:off x="8295437"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Aprovado(x), Pai(x,y)</a:t>
            </a:r>
            <a:endParaRPr lang="en-US" sz="1800" dirty="0"/>
          </a:p>
        </p:txBody>
      </p:sp>
      <p:sp>
        <p:nvSpPr>
          <p:cNvPr id="20" name="Text 18"/>
          <p:cNvSpPr/>
          <p:nvPr/>
        </p:nvSpPr>
        <p:spPr>
          <a:xfrm>
            <a:off x="8295437"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Predicados sobre objetos.</a:t>
            </a:r>
            <a:endParaRPr lang="en-US" sz="13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1">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03 / 16</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SENTENÇAS</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4 · Lógica Relacional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Três formas distintas</a:t>
            </a:r>
            <a:endParaRPr lang="en-US" sz="3600" dirty="0"/>
          </a:p>
        </p:txBody>
      </p:sp>
      <p:sp>
        <p:nvSpPr>
          <p:cNvPr id="9" name="Shape 7"/>
          <p:cNvSpPr/>
          <p:nvPr/>
        </p:nvSpPr>
        <p:spPr>
          <a:xfrm>
            <a:off x="502920" y="2194560"/>
            <a:ext cx="3576218" cy="2011680"/>
          </a:xfrm>
          <a:prstGeom prst="rect">
            <a:avLst/>
          </a:prstGeom>
          <a:solidFill>
            <a:srgbClr val="FFFFFF"/>
          </a:solidFill>
          <a:ln w="9525">
            <a:solidFill>
              <a:srgbClr val="CBBFA3"/>
            </a:solidFill>
            <a:prstDash val="solid"/>
          </a:ln>
        </p:spPr>
      </p:sp>
      <p:sp>
        <p:nvSpPr>
          <p:cNvPr id="10" name="Text 8"/>
          <p:cNvSpPr/>
          <p:nvPr/>
        </p:nvSpPr>
        <p:spPr>
          <a:xfrm>
            <a:off x="685800"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ATÔMICA</a:t>
            </a:r>
            <a:endParaRPr lang="en-US" sz="900" dirty="0"/>
          </a:p>
        </p:txBody>
      </p:sp>
      <p:sp>
        <p:nvSpPr>
          <p:cNvPr id="11" name="Text 9"/>
          <p:cNvSpPr/>
          <p:nvPr/>
        </p:nvSpPr>
        <p:spPr>
          <a:xfrm>
            <a:off x="685800"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Aprovado(ana)</a:t>
            </a:r>
            <a:endParaRPr lang="en-US" sz="1800" dirty="0"/>
          </a:p>
        </p:txBody>
      </p:sp>
      <p:sp>
        <p:nvSpPr>
          <p:cNvPr id="12" name="Text 10"/>
          <p:cNvSpPr/>
          <p:nvPr/>
        </p:nvSpPr>
        <p:spPr>
          <a:xfrm>
            <a:off x="685800"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Predicado aplicado a constantes.</a:t>
            </a:r>
            <a:endParaRPr lang="en-US" sz="1300" dirty="0"/>
          </a:p>
        </p:txBody>
      </p:sp>
      <p:sp>
        <p:nvSpPr>
          <p:cNvPr id="13" name="Shape 11"/>
          <p:cNvSpPr/>
          <p:nvPr/>
        </p:nvSpPr>
        <p:spPr>
          <a:xfrm>
            <a:off x="4307738" y="2194560"/>
            <a:ext cx="3576218" cy="2011680"/>
          </a:xfrm>
          <a:prstGeom prst="rect">
            <a:avLst/>
          </a:prstGeom>
          <a:solidFill>
            <a:srgbClr val="FFFFFF"/>
          </a:solidFill>
          <a:ln w="9525">
            <a:solidFill>
              <a:srgbClr val="CBBFA3"/>
            </a:solidFill>
            <a:prstDash val="solid"/>
          </a:ln>
        </p:spPr>
      </p:sp>
      <p:sp>
        <p:nvSpPr>
          <p:cNvPr id="14" name="Text 12"/>
          <p:cNvSpPr/>
          <p:nvPr/>
        </p:nvSpPr>
        <p:spPr>
          <a:xfrm>
            <a:off x="4490618"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COMPOSTA</a:t>
            </a:r>
            <a:endParaRPr lang="en-US" sz="900" dirty="0"/>
          </a:p>
        </p:txBody>
      </p:sp>
      <p:sp>
        <p:nvSpPr>
          <p:cNvPr id="15" name="Text 13"/>
          <p:cNvSpPr/>
          <p:nvPr/>
        </p:nvSpPr>
        <p:spPr>
          <a:xfrm>
            <a:off x="4490618"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P(x) ∧ Q(x)</a:t>
            </a:r>
            <a:endParaRPr lang="en-US" sz="1800" dirty="0"/>
          </a:p>
        </p:txBody>
      </p:sp>
      <p:sp>
        <p:nvSpPr>
          <p:cNvPr id="16" name="Text 14"/>
          <p:cNvSpPr/>
          <p:nvPr/>
        </p:nvSpPr>
        <p:spPr>
          <a:xfrm>
            <a:off x="4490618"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Combina átomos com conectivos.</a:t>
            </a:r>
            <a:endParaRPr lang="en-US" sz="1300" dirty="0"/>
          </a:p>
        </p:txBody>
      </p:sp>
      <p:sp>
        <p:nvSpPr>
          <p:cNvPr id="17" name="Shape 15"/>
          <p:cNvSpPr/>
          <p:nvPr/>
        </p:nvSpPr>
        <p:spPr>
          <a:xfrm>
            <a:off x="8112557" y="2194560"/>
            <a:ext cx="3576218" cy="2011680"/>
          </a:xfrm>
          <a:prstGeom prst="rect">
            <a:avLst/>
          </a:prstGeom>
          <a:solidFill>
            <a:srgbClr val="FFFFFF"/>
          </a:solidFill>
          <a:ln w="9525">
            <a:solidFill>
              <a:srgbClr val="CBBFA3"/>
            </a:solidFill>
            <a:prstDash val="solid"/>
          </a:ln>
        </p:spPr>
      </p:sp>
      <p:sp>
        <p:nvSpPr>
          <p:cNvPr id="18" name="Text 16"/>
          <p:cNvSpPr/>
          <p:nvPr/>
        </p:nvSpPr>
        <p:spPr>
          <a:xfrm>
            <a:off x="8295437"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QUANTIFICADA</a:t>
            </a:r>
            <a:endParaRPr lang="en-US" sz="900" dirty="0"/>
          </a:p>
        </p:txBody>
      </p:sp>
      <p:sp>
        <p:nvSpPr>
          <p:cNvPr id="19" name="Text 17"/>
          <p:cNvSpPr/>
          <p:nvPr/>
        </p:nvSpPr>
        <p:spPr>
          <a:xfrm>
            <a:off x="8295437"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∀x P(x)</a:t>
            </a:r>
            <a:endParaRPr lang="en-US" sz="1800" dirty="0"/>
          </a:p>
        </p:txBody>
      </p:sp>
      <p:sp>
        <p:nvSpPr>
          <p:cNvPr id="20" name="Text 18"/>
          <p:cNvSpPr/>
          <p:nvPr/>
        </p:nvSpPr>
        <p:spPr>
          <a:xfrm>
            <a:off x="8295437"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Generaliza sobre todos ou alguns.</a:t>
            </a:r>
            <a:endParaRPr lang="en-US" sz="13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2">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04 / 16</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QUANTIFICADORES</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4 · Lógica Relacional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Os dois operadores fundamentais</a:t>
            </a:r>
            <a:endParaRPr lang="en-US" sz="3600" dirty="0"/>
          </a:p>
        </p:txBody>
      </p:sp>
      <p:sp>
        <p:nvSpPr>
          <p:cNvPr id="9" name="Shape 7"/>
          <p:cNvSpPr/>
          <p:nvPr/>
        </p:nvSpPr>
        <p:spPr>
          <a:xfrm>
            <a:off x="1981048" y="2377440"/>
            <a:ext cx="8229600" cy="1828800"/>
          </a:xfrm>
          <a:prstGeom prst="rect">
            <a:avLst/>
          </a:prstGeom>
          <a:solidFill>
            <a:srgbClr val="FFFFFF"/>
          </a:solidFill>
          <a:ln w="12700">
            <a:solidFill>
              <a:srgbClr val="CBBFA3"/>
            </a:solidFill>
            <a:prstDash val="solid"/>
          </a:ln>
        </p:spPr>
      </p:sp>
      <p:sp>
        <p:nvSpPr>
          <p:cNvPr id="10" name="Shape 8"/>
          <p:cNvSpPr/>
          <p:nvPr/>
        </p:nvSpPr>
        <p:spPr>
          <a:xfrm>
            <a:off x="1981048" y="2377440"/>
            <a:ext cx="64008" cy="1828800"/>
          </a:xfrm>
          <a:prstGeom prst="rect">
            <a:avLst/>
          </a:prstGeom>
          <a:solidFill>
            <a:srgbClr val="E07A1F"/>
          </a:solidFill>
          <a:ln w="12700">
            <a:solidFill>
              <a:srgbClr val="E07A1F"/>
            </a:solidFill>
            <a:prstDash val="solid"/>
          </a:ln>
        </p:spPr>
      </p:sp>
      <p:sp>
        <p:nvSpPr>
          <p:cNvPr id="11" name="Text 9"/>
          <p:cNvSpPr/>
          <p:nvPr/>
        </p:nvSpPr>
        <p:spPr>
          <a:xfrm>
            <a:off x="2163928" y="2377440"/>
            <a:ext cx="7955280" cy="1828800"/>
          </a:xfrm>
          <a:prstGeom prst="rect">
            <a:avLst/>
          </a:prstGeom>
          <a:noFill/>
          <a:ln/>
        </p:spPr>
        <p:txBody>
          <a:bodyPr wrap="square" rtlCol="0" anchor="ctr"/>
          <a:lstStyle/>
          <a:p>
            <a:pPr marL="0" indent="0" algn="ctr">
              <a:buNone/>
            </a:pPr>
            <a:r>
              <a:rPr lang="en-US" sz="2200" dirty="0">
                <a:solidFill>
                  <a:srgbClr val="1A2238"/>
                </a:solidFill>
                <a:latin typeface="Cambria" pitchFamily="34" charset="0"/>
                <a:ea typeface="Cambria" pitchFamily="34" charset="-122"/>
                <a:cs typeface="Cambria" pitchFamily="34" charset="-120"/>
              </a:rPr>
              <a:t>∀  universal  (para todo)</a:t>
            </a:r>
            <a:endParaRPr lang="en-US" sz="2200" dirty="0"/>
          </a:p>
          <a:p>
            <a:pPr marL="0" indent="0" algn="ctr">
              <a:buNone/>
            </a:pPr>
            <a:r>
              <a:rPr lang="en-US" sz="2200" dirty="0">
                <a:solidFill>
                  <a:srgbClr val="1A2238"/>
                </a:solidFill>
                <a:latin typeface="Cambria" pitchFamily="34" charset="0"/>
                <a:ea typeface="Cambria" pitchFamily="34" charset="-122"/>
                <a:cs typeface="Cambria" pitchFamily="34" charset="-120"/>
              </a:rPr>
              <a:t>∃  existencial  (existe pelo menos um)</a:t>
            </a:r>
            <a:endParaRPr lang="en-US" sz="2200" dirty="0"/>
          </a:p>
        </p:txBody>
      </p:sp>
      <p:sp>
        <p:nvSpPr>
          <p:cNvPr id="12" name="Text 10"/>
          <p:cNvSpPr/>
          <p:nvPr/>
        </p:nvSpPr>
        <p:spPr>
          <a:xfrm>
            <a:off x="502920" y="4297680"/>
            <a:ext cx="11185855" cy="365760"/>
          </a:xfrm>
          <a:prstGeom prst="rect">
            <a:avLst/>
          </a:prstGeom>
          <a:noFill/>
          <a:ln/>
        </p:spPr>
        <p:txBody>
          <a:bodyPr wrap="square" rtlCol="0" anchor="ctr"/>
          <a:lstStyle/>
          <a:p>
            <a:pPr marL="0" indent="0" algn="ctr">
              <a:buNone/>
            </a:pPr>
            <a:r>
              <a:rPr lang="en-US" sz="1200" i="1" dirty="0">
                <a:solidFill>
                  <a:srgbClr val="6B6452"/>
                </a:solidFill>
                <a:latin typeface="Source Sans 3" pitchFamily="34" charset="0"/>
                <a:ea typeface="Source Sans 3" pitchFamily="34" charset="-122"/>
                <a:cs typeface="Source Sans 3" pitchFamily="34" charset="-120"/>
              </a:rPr>
              <a:t>∀x φ(x)  vs.  ∃x φ(x)</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3">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05 / 16</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EXEMPLOS</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4 · Lógica Relacional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Traduzindo do português</a:t>
            </a:r>
            <a:endParaRPr lang="en-US" sz="36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1295248" y="2103120"/>
          <a:ext cx="9601200" cy="1920240"/>
        </p:xfrm>
        <a:graphic>
          <a:graphicData uri="http://schemas.openxmlformats.org/drawingml/2006/table">
            <a:tbl>
              <a:tblPr/>
              <a:tblGrid>
                <a:gridCol w="41148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84048">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Português</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Lógica relacional</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extLst>
                  <a:ext uri="{0D108BD9-81ED-4DB2-BD59-A6C34878D82A}">
                    <a16:rowId xmlns:a16="http://schemas.microsoft.com/office/drawing/2014/main" val="10000"/>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Todo aluno é humano</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∀x (Aluno(x) ⇒ Humano(x))</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Existe aluno aprovado</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∃x (Aluno(x) ∧ Aprovado(x))</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Nenhum aluno reprovou</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∀x (Aluno(x) ⇒ ¬Reprovou(x))</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Todo pai tem filho</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∀x (Pai(x) ⇒ ∃y Filho(y,x))</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0" name="Text 7"/>
          <p:cNvSpPr/>
          <p:nvPr/>
        </p:nvSpPr>
        <p:spPr>
          <a:xfrm>
            <a:off x="1295248" y="4069080"/>
            <a:ext cx="9601200" cy="274320"/>
          </a:xfrm>
          <a:prstGeom prst="rect">
            <a:avLst/>
          </a:prstGeom>
          <a:noFill/>
          <a:ln/>
        </p:spPr>
        <p:txBody>
          <a:bodyPr wrap="square" rtlCol="0" anchor="ctr"/>
          <a:lstStyle/>
          <a:p>
            <a:pPr marL="0" indent="0" algn="ctr">
              <a:buNone/>
            </a:pPr>
            <a:r>
              <a:rPr lang="en-US" sz="1000" i="1" dirty="0">
                <a:solidFill>
                  <a:srgbClr val="6B6452"/>
                </a:solidFill>
                <a:latin typeface="Source Sans 3" pitchFamily="34" charset="0"/>
                <a:ea typeface="Source Sans 3" pitchFamily="34" charset="-122"/>
                <a:cs typeface="Source Sans 3" pitchFamily="34" charset="-120"/>
              </a:rPr>
              <a:t>Padrão: ∀ casa com ⇒ · ∃ casa com ∧.</a:t>
            </a:r>
            <a:endParaRPr lang="en-US" sz="1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4">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06 / 16</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VARIÁVEIS</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4 · Lógica Relacional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Livre vs. ligada</a:t>
            </a:r>
            <a:endParaRPr lang="en-US" sz="3600" dirty="0"/>
          </a:p>
        </p:txBody>
      </p:sp>
      <p:sp>
        <p:nvSpPr>
          <p:cNvPr id="9" name="Shape 7"/>
          <p:cNvSpPr/>
          <p:nvPr/>
        </p:nvSpPr>
        <p:spPr>
          <a:xfrm>
            <a:off x="502920" y="2194560"/>
            <a:ext cx="3576218" cy="2011680"/>
          </a:xfrm>
          <a:prstGeom prst="rect">
            <a:avLst/>
          </a:prstGeom>
          <a:solidFill>
            <a:srgbClr val="FFFFFF"/>
          </a:solidFill>
          <a:ln w="9525">
            <a:solidFill>
              <a:srgbClr val="CBBFA3"/>
            </a:solidFill>
            <a:prstDash val="solid"/>
          </a:ln>
        </p:spPr>
      </p:sp>
      <p:sp>
        <p:nvSpPr>
          <p:cNvPr id="10" name="Text 8"/>
          <p:cNvSpPr/>
          <p:nvPr/>
        </p:nvSpPr>
        <p:spPr>
          <a:xfrm>
            <a:off x="685800"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LIVRE</a:t>
            </a:r>
            <a:endParaRPr lang="en-US" sz="900" dirty="0"/>
          </a:p>
        </p:txBody>
      </p:sp>
      <p:sp>
        <p:nvSpPr>
          <p:cNvPr id="11" name="Text 9"/>
          <p:cNvSpPr/>
          <p:nvPr/>
        </p:nvSpPr>
        <p:spPr>
          <a:xfrm>
            <a:off x="685800"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P(x)</a:t>
            </a:r>
            <a:endParaRPr lang="en-US" sz="1800" dirty="0"/>
          </a:p>
        </p:txBody>
      </p:sp>
      <p:sp>
        <p:nvSpPr>
          <p:cNvPr id="12" name="Text 10"/>
          <p:cNvSpPr/>
          <p:nvPr/>
        </p:nvSpPr>
        <p:spPr>
          <a:xfrm>
            <a:off x="685800"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x não está sob quantificador. A fórmula depende do valor.</a:t>
            </a:r>
            <a:endParaRPr lang="en-US" sz="1300" dirty="0"/>
          </a:p>
        </p:txBody>
      </p:sp>
      <p:sp>
        <p:nvSpPr>
          <p:cNvPr id="13" name="Shape 11"/>
          <p:cNvSpPr/>
          <p:nvPr/>
        </p:nvSpPr>
        <p:spPr>
          <a:xfrm>
            <a:off x="4307738" y="2194560"/>
            <a:ext cx="3576218" cy="2011680"/>
          </a:xfrm>
          <a:prstGeom prst="rect">
            <a:avLst/>
          </a:prstGeom>
          <a:solidFill>
            <a:srgbClr val="FFFFFF"/>
          </a:solidFill>
          <a:ln w="9525">
            <a:solidFill>
              <a:srgbClr val="CBBFA3"/>
            </a:solidFill>
            <a:prstDash val="solid"/>
          </a:ln>
        </p:spPr>
      </p:sp>
      <p:sp>
        <p:nvSpPr>
          <p:cNvPr id="14" name="Text 12"/>
          <p:cNvSpPr/>
          <p:nvPr/>
        </p:nvSpPr>
        <p:spPr>
          <a:xfrm>
            <a:off x="4490618"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LIGADA</a:t>
            </a:r>
            <a:endParaRPr lang="en-US" sz="900" dirty="0"/>
          </a:p>
        </p:txBody>
      </p:sp>
      <p:sp>
        <p:nvSpPr>
          <p:cNvPr id="15" name="Text 13"/>
          <p:cNvSpPr/>
          <p:nvPr/>
        </p:nvSpPr>
        <p:spPr>
          <a:xfrm>
            <a:off x="4490618"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∀x P(x)</a:t>
            </a:r>
            <a:endParaRPr lang="en-US" sz="1800" dirty="0"/>
          </a:p>
        </p:txBody>
      </p:sp>
      <p:sp>
        <p:nvSpPr>
          <p:cNvPr id="16" name="Text 14"/>
          <p:cNvSpPr/>
          <p:nvPr/>
        </p:nvSpPr>
        <p:spPr>
          <a:xfrm>
            <a:off x="4490618"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x está sob ∀ ou ∃. A fórmula é fechada.</a:t>
            </a:r>
            <a:endParaRPr lang="en-US" sz="1300" dirty="0"/>
          </a:p>
        </p:txBody>
      </p:sp>
      <p:sp>
        <p:nvSpPr>
          <p:cNvPr id="17" name="Shape 15"/>
          <p:cNvSpPr/>
          <p:nvPr/>
        </p:nvSpPr>
        <p:spPr>
          <a:xfrm>
            <a:off x="8112557" y="2194560"/>
            <a:ext cx="3576218" cy="2011680"/>
          </a:xfrm>
          <a:prstGeom prst="rect">
            <a:avLst/>
          </a:prstGeom>
          <a:solidFill>
            <a:srgbClr val="FFFFFF"/>
          </a:solidFill>
          <a:ln w="9525">
            <a:solidFill>
              <a:srgbClr val="CBBFA3"/>
            </a:solidFill>
            <a:prstDash val="solid"/>
          </a:ln>
        </p:spPr>
      </p:sp>
      <p:sp>
        <p:nvSpPr>
          <p:cNvPr id="18" name="Text 16"/>
          <p:cNvSpPr/>
          <p:nvPr/>
        </p:nvSpPr>
        <p:spPr>
          <a:xfrm>
            <a:off x="8295437"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SENTENÇA</a:t>
            </a:r>
            <a:endParaRPr lang="en-US" sz="900" dirty="0"/>
          </a:p>
        </p:txBody>
      </p:sp>
      <p:sp>
        <p:nvSpPr>
          <p:cNvPr id="19" name="Text 17"/>
          <p:cNvSpPr/>
          <p:nvPr/>
        </p:nvSpPr>
        <p:spPr>
          <a:xfrm>
            <a:off x="8295437"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Sem livres</a:t>
            </a:r>
            <a:endParaRPr lang="en-US" sz="1800" dirty="0"/>
          </a:p>
        </p:txBody>
      </p:sp>
      <p:sp>
        <p:nvSpPr>
          <p:cNvPr id="20" name="Text 18"/>
          <p:cNvSpPr/>
          <p:nvPr/>
        </p:nvSpPr>
        <p:spPr>
          <a:xfrm>
            <a:off x="8295437"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Apenas sentenças têm valor de verdade definido.</a:t>
            </a:r>
            <a:endParaRPr lang="en-US" sz="13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5">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07 / 16</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BASE DE HERBRAND</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4 · Lógica Relacional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Universo construído sintaticamente</a:t>
            </a:r>
            <a:endParaRPr lang="en-US" sz="3600" dirty="0"/>
          </a:p>
        </p:txBody>
      </p:sp>
      <p:sp>
        <p:nvSpPr>
          <p:cNvPr id="9" name="Text 7"/>
          <p:cNvSpPr/>
          <p:nvPr/>
        </p:nvSpPr>
        <p:spPr>
          <a:xfrm>
            <a:off x="502920" y="1554480"/>
            <a:ext cx="11185855" cy="457200"/>
          </a:xfrm>
          <a:prstGeom prst="rect">
            <a:avLst/>
          </a:prstGeom>
          <a:noFill/>
          <a:ln/>
        </p:spPr>
        <p:txBody>
          <a:bodyPr wrap="square" rtlCol="0" anchor="ctr"/>
          <a:lstStyle/>
          <a:p>
            <a:pPr marL="0" indent="0">
              <a:buNone/>
            </a:pPr>
            <a:r>
              <a:rPr lang="en-US" sz="1600" i="1" dirty="0">
                <a:solidFill>
                  <a:srgbClr val="2A3550"/>
                </a:solidFill>
                <a:latin typeface="Merriweather" pitchFamily="34" charset="0"/>
                <a:ea typeface="Merriweather" pitchFamily="34" charset="-122"/>
                <a:cs typeface="Merriweather" pitchFamily="34" charset="-120"/>
              </a:rPr>
              <a:t>Todos os termos sem variáveis formados a partir das constantes</a:t>
            </a:r>
            <a:endParaRPr lang="en-US" sz="16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6">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08 / 16</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ATRIBUIÇÃO RELACIONAL</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4 · Lógica Relacional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Modelo = domínio + interpretação</a:t>
            </a:r>
            <a:endParaRPr lang="en-US" sz="36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1295248" y="2103120"/>
          <a:ext cx="9144000" cy="914400"/>
        </p:xfrm>
        <a:graphic>
          <a:graphicData uri="http://schemas.openxmlformats.org/drawingml/2006/table">
            <a:tbl>
              <a:tblPr/>
              <a:tblGrid>
                <a:gridCol w="2743200">
                  <a:extLst>
                    <a:ext uri="{9D8B030D-6E8A-4147-A177-3AD203B41FA5}">
                      <a16:colId xmlns:a16="http://schemas.microsoft.com/office/drawing/2014/main" val="20000"/>
                    </a:ext>
                  </a:extLst>
                </a:gridCol>
                <a:gridCol w="6858000">
                  <a:extLst>
                    <a:ext uri="{9D8B030D-6E8A-4147-A177-3AD203B41FA5}">
                      <a16:colId xmlns:a16="http://schemas.microsoft.com/office/drawing/2014/main" val="20001"/>
                    </a:ext>
                  </a:extLst>
                </a:gridCol>
              </a:tblGrid>
              <a:tr h="384048">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Componente</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O que fixa</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extLst>
                  <a:ext uri="{0D108BD9-81ED-4DB2-BD59-A6C34878D82A}">
                    <a16:rowId xmlns:a16="http://schemas.microsoft.com/office/drawing/2014/main" val="10000"/>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Domínio D</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Conjunto de objetos do mundo</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Constantes</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A qual objeto cada nome se refere</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Predicados</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Quais tuplas tornam o predicado verdadeiro</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Text 7"/>
          <p:cNvSpPr/>
          <p:nvPr/>
        </p:nvSpPr>
        <p:spPr>
          <a:xfrm>
            <a:off x="1295248" y="3685032"/>
            <a:ext cx="9601200" cy="274320"/>
          </a:xfrm>
          <a:prstGeom prst="rect">
            <a:avLst/>
          </a:prstGeom>
          <a:noFill/>
          <a:ln/>
        </p:spPr>
        <p:txBody>
          <a:bodyPr wrap="square" rtlCol="0" anchor="ctr"/>
          <a:lstStyle/>
          <a:p>
            <a:pPr marL="0" indent="0" algn="ctr">
              <a:buNone/>
            </a:pPr>
            <a:r>
              <a:rPr lang="en-US" sz="1000" i="1" dirty="0">
                <a:solidFill>
                  <a:srgbClr val="6B6452"/>
                </a:solidFill>
                <a:latin typeface="Source Sans 3" pitchFamily="34" charset="0"/>
                <a:ea typeface="Source Sans 3" pitchFamily="34" charset="-122"/>
                <a:cs typeface="Source Sans 3" pitchFamily="34" charset="-120"/>
              </a:rPr>
              <a:t>Um modelo é uma "interpretação concreta" do vocabulário.</a:t>
            </a:r>
            <a:endParaRPr lang="en-US" sz="1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7">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09 / 16</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EXEMPLO DE MODELO</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4 · Lógica Relacional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Pequena base de alunos</a:t>
            </a:r>
            <a:endParaRPr lang="en-US" sz="3600" dirty="0"/>
          </a:p>
        </p:txBody>
      </p:sp>
      <p:sp>
        <p:nvSpPr>
          <p:cNvPr id="9" name="Shape 7"/>
          <p:cNvSpPr/>
          <p:nvPr/>
        </p:nvSpPr>
        <p:spPr>
          <a:xfrm>
            <a:off x="502920" y="1828800"/>
            <a:ext cx="11185855" cy="4206240"/>
          </a:xfrm>
          <a:prstGeom prst="rect">
            <a:avLst/>
          </a:prstGeom>
          <a:solidFill>
            <a:srgbClr val="1A2238"/>
          </a:solidFill>
          <a:ln w="12700">
            <a:solidFill>
              <a:srgbClr val="2A3550"/>
            </a:solidFill>
            <a:prstDash val="solid"/>
          </a:ln>
        </p:spPr>
      </p:sp>
      <p:sp>
        <p:nvSpPr>
          <p:cNvPr id="10" name="Shape 8"/>
          <p:cNvSpPr/>
          <p:nvPr/>
        </p:nvSpPr>
        <p:spPr>
          <a:xfrm>
            <a:off x="502920" y="1828800"/>
            <a:ext cx="64008" cy="4206240"/>
          </a:xfrm>
          <a:prstGeom prst="rect">
            <a:avLst/>
          </a:prstGeom>
          <a:solidFill>
            <a:srgbClr val="E07A1F"/>
          </a:solidFill>
          <a:ln w="12700">
            <a:solidFill>
              <a:srgbClr val="E07A1F"/>
            </a:solidFill>
            <a:prstDash val="solid"/>
          </a:ln>
        </p:spPr>
      </p:sp>
      <p:sp>
        <p:nvSpPr>
          <p:cNvPr id="11" name="Text 9"/>
          <p:cNvSpPr/>
          <p:nvPr/>
        </p:nvSpPr>
        <p:spPr>
          <a:xfrm>
            <a:off x="731520" y="1920240"/>
            <a:ext cx="10820095" cy="4023360"/>
          </a:xfrm>
          <a:prstGeom prst="rect">
            <a:avLst/>
          </a:prstGeom>
          <a:noFill/>
          <a:ln/>
        </p:spPr>
        <p:txBody>
          <a:bodyPr wrap="square" rtlCol="0" anchor="t"/>
          <a:lstStyle/>
          <a:p>
            <a:pPr marL="0" indent="0">
              <a:buNone/>
            </a:pPr>
            <a:r>
              <a:rPr lang="en-US" sz="1400" dirty="0">
                <a:solidFill>
                  <a:srgbClr val="F7F2E8"/>
                </a:solidFill>
                <a:latin typeface="Consolas" pitchFamily="34" charset="0"/>
                <a:ea typeface="Consolas" pitchFamily="34" charset="-122"/>
                <a:cs typeface="Consolas" pitchFamily="34" charset="-120"/>
              </a:rPr>
              <a:t>Domínio:   D = { ana, bob, cris }</a:t>
            </a:r>
            <a:endParaRPr lang="en-US" sz="1400" dirty="0"/>
          </a:p>
          <a:p>
            <a:pPr marL="0" indent="0">
              <a:buNone/>
            </a:pP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Aluno     = { ana, bob, cris }       — todos são alunos</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Aprovado  = { ana, cris }            — só ana e cris</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Reprovado = { bob }                  — só bob</a:t>
            </a:r>
            <a:endParaRPr lang="en-US" sz="1400" dirty="0"/>
          </a:p>
          <a:p>
            <a:pPr marL="0" indent="0">
              <a:buNone/>
            </a:pP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Avaliando:</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∀x (Aluno(x) ⇒ Aprovado(x) ∨ Reprovado(x))</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 para ana:  ✓   para bob:  ✓   para cris:  ✓</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 V em todos os casos. A sentença vale neste modelo.</a:t>
            </a:r>
            <a:endParaRPr lang="en-US" sz="14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8">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10 / 16</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PROPRIEDADES</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4 · Lógica Relacional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Igual ao proposicional</a:t>
            </a:r>
            <a:endParaRPr lang="en-US" sz="3600" dirty="0"/>
          </a:p>
        </p:txBody>
      </p:sp>
      <p:sp>
        <p:nvSpPr>
          <p:cNvPr id="9" name="Shape 7"/>
          <p:cNvSpPr/>
          <p:nvPr/>
        </p:nvSpPr>
        <p:spPr>
          <a:xfrm>
            <a:off x="502920" y="2194560"/>
            <a:ext cx="3576218" cy="2011680"/>
          </a:xfrm>
          <a:prstGeom prst="rect">
            <a:avLst/>
          </a:prstGeom>
          <a:solidFill>
            <a:srgbClr val="FFFFFF"/>
          </a:solidFill>
          <a:ln w="9525">
            <a:solidFill>
              <a:srgbClr val="CBBFA3"/>
            </a:solidFill>
            <a:prstDash val="solid"/>
          </a:ln>
        </p:spPr>
      </p:sp>
      <p:sp>
        <p:nvSpPr>
          <p:cNvPr id="10" name="Text 8"/>
          <p:cNvSpPr/>
          <p:nvPr/>
        </p:nvSpPr>
        <p:spPr>
          <a:xfrm>
            <a:off x="685800"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VÁLIDA</a:t>
            </a:r>
            <a:endParaRPr lang="en-US" sz="900" dirty="0"/>
          </a:p>
        </p:txBody>
      </p:sp>
      <p:sp>
        <p:nvSpPr>
          <p:cNvPr id="11" name="Text 9"/>
          <p:cNvSpPr/>
          <p:nvPr/>
        </p:nvSpPr>
        <p:spPr>
          <a:xfrm>
            <a:off x="685800"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Em todo modelo</a:t>
            </a:r>
            <a:endParaRPr lang="en-US" sz="1800" dirty="0"/>
          </a:p>
        </p:txBody>
      </p:sp>
      <p:sp>
        <p:nvSpPr>
          <p:cNvPr id="12" name="Text 10"/>
          <p:cNvSpPr/>
          <p:nvPr/>
        </p:nvSpPr>
        <p:spPr>
          <a:xfrm>
            <a:off x="685800"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∀x P(x) ∨ ¬P(x).</a:t>
            </a:r>
            <a:endParaRPr lang="en-US" sz="1300" dirty="0"/>
          </a:p>
        </p:txBody>
      </p:sp>
      <p:sp>
        <p:nvSpPr>
          <p:cNvPr id="13" name="Shape 11"/>
          <p:cNvSpPr/>
          <p:nvPr/>
        </p:nvSpPr>
        <p:spPr>
          <a:xfrm>
            <a:off x="4307738" y="2194560"/>
            <a:ext cx="3576218" cy="2011680"/>
          </a:xfrm>
          <a:prstGeom prst="rect">
            <a:avLst/>
          </a:prstGeom>
          <a:solidFill>
            <a:srgbClr val="FFFFFF"/>
          </a:solidFill>
          <a:ln w="9525">
            <a:solidFill>
              <a:srgbClr val="CBBFA3"/>
            </a:solidFill>
            <a:prstDash val="solid"/>
          </a:ln>
        </p:spPr>
      </p:sp>
      <p:sp>
        <p:nvSpPr>
          <p:cNvPr id="14" name="Text 12"/>
          <p:cNvSpPr/>
          <p:nvPr/>
        </p:nvSpPr>
        <p:spPr>
          <a:xfrm>
            <a:off x="4490618"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INSATISFATÍVEL</a:t>
            </a:r>
            <a:endParaRPr lang="en-US" sz="900" dirty="0"/>
          </a:p>
        </p:txBody>
      </p:sp>
      <p:sp>
        <p:nvSpPr>
          <p:cNvPr id="15" name="Text 13"/>
          <p:cNvSpPr/>
          <p:nvPr/>
        </p:nvSpPr>
        <p:spPr>
          <a:xfrm>
            <a:off x="4490618"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Em nenhum</a:t>
            </a:r>
            <a:endParaRPr lang="en-US" sz="1800" dirty="0"/>
          </a:p>
        </p:txBody>
      </p:sp>
      <p:sp>
        <p:nvSpPr>
          <p:cNvPr id="16" name="Text 14"/>
          <p:cNvSpPr/>
          <p:nvPr/>
        </p:nvSpPr>
        <p:spPr>
          <a:xfrm>
            <a:off x="4490618"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∃x (P(x) ∧ ¬P(x)).</a:t>
            </a:r>
            <a:endParaRPr lang="en-US" sz="1300" dirty="0"/>
          </a:p>
        </p:txBody>
      </p:sp>
      <p:sp>
        <p:nvSpPr>
          <p:cNvPr id="17" name="Shape 15"/>
          <p:cNvSpPr/>
          <p:nvPr/>
        </p:nvSpPr>
        <p:spPr>
          <a:xfrm>
            <a:off x="8112557" y="2194560"/>
            <a:ext cx="3576218" cy="2011680"/>
          </a:xfrm>
          <a:prstGeom prst="rect">
            <a:avLst/>
          </a:prstGeom>
          <a:solidFill>
            <a:srgbClr val="FFFFFF"/>
          </a:solidFill>
          <a:ln w="9525">
            <a:solidFill>
              <a:srgbClr val="CBBFA3"/>
            </a:solidFill>
            <a:prstDash val="solid"/>
          </a:ln>
        </p:spPr>
      </p:sp>
      <p:sp>
        <p:nvSpPr>
          <p:cNvPr id="18" name="Text 16"/>
          <p:cNvSpPr/>
          <p:nvPr/>
        </p:nvSpPr>
        <p:spPr>
          <a:xfrm>
            <a:off x="8295437"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CONTINGENTE</a:t>
            </a:r>
            <a:endParaRPr lang="en-US" sz="900" dirty="0"/>
          </a:p>
        </p:txBody>
      </p:sp>
      <p:sp>
        <p:nvSpPr>
          <p:cNvPr id="19" name="Text 17"/>
          <p:cNvSpPr/>
          <p:nvPr/>
        </p:nvSpPr>
        <p:spPr>
          <a:xfrm>
            <a:off x="8295437"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Em alguns</a:t>
            </a:r>
            <a:endParaRPr lang="en-US" sz="1800" dirty="0"/>
          </a:p>
        </p:txBody>
      </p:sp>
      <p:sp>
        <p:nvSpPr>
          <p:cNvPr id="20" name="Text 18"/>
          <p:cNvSpPr/>
          <p:nvPr/>
        </p:nvSpPr>
        <p:spPr>
          <a:xfrm>
            <a:off x="8295437"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∃x P(x).</a:t>
            </a:r>
            <a:endParaRPr lang="en-US" sz="13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69">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11 / 16</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EQUIVALÊNCIAS QUANTIFICADAS</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4 · Lógica Relacional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Negação atravessa quantificador</a:t>
            </a:r>
            <a:endParaRPr lang="en-US" sz="36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2438248" y="2103120"/>
          <a:ext cx="9144000" cy="914400"/>
        </p:xfrm>
        <a:graphic>
          <a:graphicData uri="http://schemas.openxmlformats.org/drawingml/2006/table">
            <a:tbl>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384048">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Original</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Equivalente</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extLst>
                  <a:ext uri="{0D108BD9-81ED-4DB2-BD59-A6C34878D82A}">
                    <a16:rowId xmlns:a16="http://schemas.microsoft.com/office/drawing/2014/main" val="10000"/>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¬∀x P(x)</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∃x ¬P(x)</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¬∃x P(x)</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∀x ¬P(x)</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∀x ∀y P(x,y)</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∀y ∀x P(x,y)</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∃x ∃y P(x,y)</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∃y ∃x P(x,y)</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0" name="Text 7"/>
          <p:cNvSpPr/>
          <p:nvPr/>
        </p:nvSpPr>
        <p:spPr>
          <a:xfrm>
            <a:off x="2438248" y="4069080"/>
            <a:ext cx="7315200" cy="274320"/>
          </a:xfrm>
          <a:prstGeom prst="rect">
            <a:avLst/>
          </a:prstGeom>
          <a:noFill/>
          <a:ln/>
        </p:spPr>
        <p:txBody>
          <a:bodyPr wrap="square" rtlCol="0" anchor="ctr"/>
          <a:lstStyle/>
          <a:p>
            <a:pPr marL="0" indent="0" algn="ctr">
              <a:buNone/>
            </a:pPr>
            <a:r>
              <a:rPr lang="en-US" sz="1000" i="1" dirty="0">
                <a:solidFill>
                  <a:srgbClr val="6B6452"/>
                </a:solidFill>
                <a:latin typeface="Source Sans 3" pitchFamily="34" charset="0"/>
                <a:ea typeface="Source Sans 3" pitchFamily="34" charset="-122"/>
                <a:cs typeface="Source Sans 3" pitchFamily="34" charset="-120"/>
              </a:rPr>
              <a:t>Negar um universal vira existencial — e vice-versa.</a:t>
            </a:r>
            <a:endParaRPr lang="en-US" sz="1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0">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12 / 16</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CUIDADO!</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4 · Lógica Relacional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Ordem importa em quantificadores mistos</a:t>
            </a:r>
            <a:endParaRPr lang="en-US" sz="3600" dirty="0"/>
          </a:p>
        </p:txBody>
      </p:sp>
      <p:sp>
        <p:nvSpPr>
          <p:cNvPr id="9" name="Shape 7"/>
          <p:cNvSpPr/>
          <p:nvPr/>
        </p:nvSpPr>
        <p:spPr>
          <a:xfrm>
            <a:off x="1981048" y="2377440"/>
            <a:ext cx="8229600" cy="1463040"/>
          </a:xfrm>
          <a:prstGeom prst="rect">
            <a:avLst/>
          </a:prstGeom>
          <a:solidFill>
            <a:srgbClr val="FFFFFF"/>
          </a:solidFill>
          <a:ln w="12700">
            <a:solidFill>
              <a:srgbClr val="CBBFA3"/>
            </a:solidFill>
            <a:prstDash val="solid"/>
          </a:ln>
        </p:spPr>
      </p:sp>
      <p:sp>
        <p:nvSpPr>
          <p:cNvPr id="10" name="Shape 8"/>
          <p:cNvSpPr/>
          <p:nvPr/>
        </p:nvSpPr>
        <p:spPr>
          <a:xfrm>
            <a:off x="1981048" y="2377440"/>
            <a:ext cx="64008" cy="1463040"/>
          </a:xfrm>
          <a:prstGeom prst="rect">
            <a:avLst/>
          </a:prstGeom>
          <a:solidFill>
            <a:srgbClr val="E07A1F"/>
          </a:solidFill>
          <a:ln w="12700">
            <a:solidFill>
              <a:srgbClr val="E07A1F"/>
            </a:solidFill>
            <a:prstDash val="solid"/>
          </a:ln>
        </p:spPr>
      </p:sp>
      <p:sp>
        <p:nvSpPr>
          <p:cNvPr id="11" name="Text 9"/>
          <p:cNvSpPr/>
          <p:nvPr/>
        </p:nvSpPr>
        <p:spPr>
          <a:xfrm>
            <a:off x="2163928" y="2377440"/>
            <a:ext cx="7955280" cy="1463040"/>
          </a:xfrm>
          <a:prstGeom prst="rect">
            <a:avLst/>
          </a:prstGeom>
          <a:noFill/>
          <a:ln/>
        </p:spPr>
        <p:txBody>
          <a:bodyPr wrap="square" rtlCol="0" anchor="ctr"/>
          <a:lstStyle/>
          <a:p>
            <a:pPr marL="0" indent="0" algn="ctr">
              <a:buNone/>
            </a:pPr>
            <a:r>
              <a:rPr lang="en-US" sz="2000" dirty="0">
                <a:solidFill>
                  <a:srgbClr val="1A2238"/>
                </a:solidFill>
                <a:latin typeface="Cambria" pitchFamily="34" charset="0"/>
                <a:ea typeface="Cambria" pitchFamily="34" charset="-122"/>
                <a:cs typeface="Cambria" pitchFamily="34" charset="-120"/>
              </a:rPr>
              <a:t>∀x ∃y Ama(x,y)   ≢   ∃y ∀x Ama(x,y)</a:t>
            </a:r>
            <a:endParaRPr lang="en-US" sz="2000" dirty="0"/>
          </a:p>
        </p:txBody>
      </p:sp>
      <p:sp>
        <p:nvSpPr>
          <p:cNvPr id="12" name="Text 10"/>
          <p:cNvSpPr/>
          <p:nvPr/>
        </p:nvSpPr>
        <p:spPr>
          <a:xfrm>
            <a:off x="502920" y="3931920"/>
            <a:ext cx="11185855" cy="365760"/>
          </a:xfrm>
          <a:prstGeom prst="rect">
            <a:avLst/>
          </a:prstGeom>
          <a:noFill/>
          <a:ln/>
        </p:spPr>
        <p:txBody>
          <a:bodyPr wrap="square" rtlCol="0" anchor="ctr"/>
          <a:lstStyle/>
          <a:p>
            <a:pPr marL="0" indent="0" algn="ctr">
              <a:buNone/>
            </a:pPr>
            <a:r>
              <a:rPr lang="en-US" sz="1200" i="1" dirty="0">
                <a:solidFill>
                  <a:srgbClr val="6B6452"/>
                </a:solidFill>
                <a:latin typeface="Source Sans 3" pitchFamily="34" charset="0"/>
                <a:ea typeface="Source Sans 3" pitchFamily="34" charset="-122"/>
                <a:cs typeface="Source Sans 3" pitchFamily="34" charset="-120"/>
              </a:rPr>
              <a:t>"Todos amam alguém" ≠ "Há alguém amado por todos"</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1">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13 / 16</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CENÁRIOS DE DADOS</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4 · Lógica Relacional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Formalizando uma base</a:t>
            </a:r>
            <a:endParaRPr lang="en-US" sz="3600" dirty="0"/>
          </a:p>
        </p:txBody>
      </p:sp>
      <p:sp>
        <p:nvSpPr>
          <p:cNvPr id="9" name="Text 7"/>
          <p:cNvSpPr/>
          <p:nvPr/>
        </p:nvSpPr>
        <p:spPr>
          <a:xfrm>
            <a:off x="502920" y="1554480"/>
            <a:ext cx="11185855" cy="457200"/>
          </a:xfrm>
          <a:prstGeom prst="rect">
            <a:avLst/>
          </a:prstGeom>
          <a:noFill/>
          <a:ln/>
        </p:spPr>
        <p:txBody>
          <a:bodyPr wrap="square" rtlCol="0" anchor="ctr"/>
          <a:lstStyle/>
          <a:p>
            <a:pPr marL="0" indent="0">
              <a:buNone/>
            </a:pPr>
            <a:r>
              <a:rPr lang="en-US" sz="1600" i="1" dirty="0">
                <a:solidFill>
                  <a:srgbClr val="2A3550"/>
                </a:solidFill>
                <a:latin typeface="Merriweather" pitchFamily="34" charset="0"/>
                <a:ea typeface="Merriweather" pitchFamily="34" charset="-122"/>
                <a:cs typeface="Merriweather" pitchFamily="34" charset="-120"/>
              </a:rPr>
              <a:t>Predicados ↔ tabelas · Tuplas ↔ linhas</a:t>
            </a:r>
            <a:endParaRPr lang="en-US" sz="16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2">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14 / 16</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SQL ↔ LÓGICA</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4 · Lógica Relacional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JOIN é conjunção quantificada</a:t>
            </a:r>
            <a:endParaRPr lang="en-US" sz="3600" dirty="0"/>
          </a:p>
        </p:txBody>
      </p:sp>
      <p:sp>
        <p:nvSpPr>
          <p:cNvPr id="9" name="Shape 7"/>
          <p:cNvSpPr/>
          <p:nvPr/>
        </p:nvSpPr>
        <p:spPr>
          <a:xfrm>
            <a:off x="502920" y="1828800"/>
            <a:ext cx="11185855" cy="4206240"/>
          </a:xfrm>
          <a:prstGeom prst="rect">
            <a:avLst/>
          </a:prstGeom>
          <a:solidFill>
            <a:srgbClr val="1A2238"/>
          </a:solidFill>
          <a:ln w="12700">
            <a:solidFill>
              <a:srgbClr val="2A3550"/>
            </a:solidFill>
            <a:prstDash val="solid"/>
          </a:ln>
        </p:spPr>
      </p:sp>
      <p:sp>
        <p:nvSpPr>
          <p:cNvPr id="10" name="Shape 8"/>
          <p:cNvSpPr/>
          <p:nvPr/>
        </p:nvSpPr>
        <p:spPr>
          <a:xfrm>
            <a:off x="502920" y="1828800"/>
            <a:ext cx="64008" cy="4206240"/>
          </a:xfrm>
          <a:prstGeom prst="rect">
            <a:avLst/>
          </a:prstGeom>
          <a:solidFill>
            <a:srgbClr val="E07A1F"/>
          </a:solidFill>
          <a:ln w="12700">
            <a:solidFill>
              <a:srgbClr val="E07A1F"/>
            </a:solidFill>
            <a:prstDash val="solid"/>
          </a:ln>
        </p:spPr>
      </p:sp>
      <p:sp>
        <p:nvSpPr>
          <p:cNvPr id="11" name="Text 9"/>
          <p:cNvSpPr/>
          <p:nvPr/>
        </p:nvSpPr>
        <p:spPr>
          <a:xfrm>
            <a:off x="731520" y="1920240"/>
            <a:ext cx="10820095" cy="4023360"/>
          </a:xfrm>
          <a:prstGeom prst="rect">
            <a:avLst/>
          </a:prstGeom>
          <a:noFill/>
          <a:ln/>
        </p:spPr>
        <p:txBody>
          <a:bodyPr wrap="square" rtlCol="0" anchor="t"/>
          <a:lstStyle/>
          <a:p>
            <a:pPr marL="0" indent="0">
              <a:buNone/>
            </a:pPr>
            <a:r>
              <a:rPr lang="en-US" sz="1400" dirty="0">
                <a:solidFill>
                  <a:srgbClr val="F7F2E8"/>
                </a:solidFill>
                <a:latin typeface="Consolas" pitchFamily="34" charset="0"/>
                <a:ea typeface="Consolas" pitchFamily="34" charset="-122"/>
                <a:cs typeface="Consolas" pitchFamily="34" charset="-120"/>
              </a:rPr>
              <a:t>SQL:</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SELECT a.nome</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FROM alunos a</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JOIN matriculas m ON m.aluno_id = a.id</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WHERE m.curso = 'Lógica';</a:t>
            </a:r>
            <a:endParaRPr lang="en-US" sz="1400" dirty="0"/>
          </a:p>
          <a:p>
            <a:pPr marL="0" indent="0">
              <a:buNone/>
            </a:pP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Lógica relacional equivalente:</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 x : ∃y ( Aluno(x, y) ∧ Matricula(y, 'Lógica') ) }</a:t>
            </a:r>
            <a:endParaRPr lang="en-US" sz="1400" dirty="0"/>
          </a:p>
          <a:p>
            <a:pPr marL="0" indent="0">
              <a:buNone/>
            </a:pP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Cada JOIN ≅ um existencial sobre a chave compartilhada.</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Cada WHERE ≅ uma conjunção adicional.</a:t>
            </a:r>
            <a:endParaRPr lang="en-US" sz="1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3">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15 / 16</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DECIDIBILIDADE</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4 · Lógica Relacional</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O preço da expressividade</a:t>
            </a:r>
            <a:endParaRPr lang="en-US" sz="3600" dirty="0"/>
          </a:p>
        </p:txBody>
      </p:sp>
      <p:sp>
        <p:nvSpPr>
          <p:cNvPr id="9" name="Shape 7"/>
          <p:cNvSpPr/>
          <p:nvPr/>
        </p:nvSpPr>
        <p:spPr>
          <a:xfrm>
            <a:off x="502920" y="2194560"/>
            <a:ext cx="3576218" cy="2011680"/>
          </a:xfrm>
          <a:prstGeom prst="rect">
            <a:avLst/>
          </a:prstGeom>
          <a:solidFill>
            <a:srgbClr val="FFFFFF"/>
          </a:solidFill>
          <a:ln w="9525">
            <a:solidFill>
              <a:srgbClr val="CBBFA3"/>
            </a:solidFill>
            <a:prstDash val="solid"/>
          </a:ln>
        </p:spPr>
      </p:sp>
      <p:sp>
        <p:nvSpPr>
          <p:cNvPr id="10" name="Text 8"/>
          <p:cNvSpPr/>
          <p:nvPr/>
        </p:nvSpPr>
        <p:spPr>
          <a:xfrm>
            <a:off x="685800"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PROPOSICIONAL</a:t>
            </a:r>
            <a:endParaRPr lang="en-US" sz="900" dirty="0"/>
          </a:p>
        </p:txBody>
      </p:sp>
      <p:sp>
        <p:nvSpPr>
          <p:cNvPr id="11" name="Text 9"/>
          <p:cNvSpPr/>
          <p:nvPr/>
        </p:nvSpPr>
        <p:spPr>
          <a:xfrm>
            <a:off x="685800"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Decidível</a:t>
            </a:r>
            <a:endParaRPr lang="en-US" sz="1800" dirty="0"/>
          </a:p>
        </p:txBody>
      </p:sp>
      <p:sp>
        <p:nvSpPr>
          <p:cNvPr id="12" name="Text 10"/>
          <p:cNvSpPr/>
          <p:nvPr/>
        </p:nvSpPr>
        <p:spPr>
          <a:xfrm>
            <a:off x="685800"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Sempre podemos responder em tempo finito.</a:t>
            </a:r>
            <a:endParaRPr lang="en-US" sz="1300" dirty="0"/>
          </a:p>
        </p:txBody>
      </p:sp>
      <p:sp>
        <p:nvSpPr>
          <p:cNvPr id="13" name="Shape 11"/>
          <p:cNvSpPr/>
          <p:nvPr/>
        </p:nvSpPr>
        <p:spPr>
          <a:xfrm>
            <a:off x="4307738" y="2194560"/>
            <a:ext cx="3576218" cy="2011680"/>
          </a:xfrm>
          <a:prstGeom prst="rect">
            <a:avLst/>
          </a:prstGeom>
          <a:solidFill>
            <a:srgbClr val="FFFFFF"/>
          </a:solidFill>
          <a:ln w="9525">
            <a:solidFill>
              <a:srgbClr val="CBBFA3"/>
            </a:solidFill>
            <a:prstDash val="solid"/>
          </a:ln>
        </p:spPr>
      </p:sp>
      <p:sp>
        <p:nvSpPr>
          <p:cNvPr id="14" name="Text 12"/>
          <p:cNvSpPr/>
          <p:nvPr/>
        </p:nvSpPr>
        <p:spPr>
          <a:xfrm>
            <a:off x="4490618"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RELACIONAL</a:t>
            </a:r>
            <a:endParaRPr lang="en-US" sz="900" dirty="0"/>
          </a:p>
        </p:txBody>
      </p:sp>
      <p:sp>
        <p:nvSpPr>
          <p:cNvPr id="15" name="Text 13"/>
          <p:cNvSpPr/>
          <p:nvPr/>
        </p:nvSpPr>
        <p:spPr>
          <a:xfrm>
            <a:off x="4490618"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Semi-decidível</a:t>
            </a:r>
            <a:endParaRPr lang="en-US" sz="1800" dirty="0"/>
          </a:p>
        </p:txBody>
      </p:sp>
      <p:sp>
        <p:nvSpPr>
          <p:cNvPr id="16" name="Text 14"/>
          <p:cNvSpPr/>
          <p:nvPr/>
        </p:nvSpPr>
        <p:spPr>
          <a:xfrm>
            <a:off x="4490618"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Se vale, terminamos; se não vale, pode rodar para sempre.</a:t>
            </a:r>
            <a:endParaRPr lang="en-US" sz="1300" dirty="0"/>
          </a:p>
        </p:txBody>
      </p:sp>
      <p:sp>
        <p:nvSpPr>
          <p:cNvPr id="17" name="Shape 15"/>
          <p:cNvSpPr/>
          <p:nvPr/>
        </p:nvSpPr>
        <p:spPr>
          <a:xfrm>
            <a:off x="8112557" y="2194560"/>
            <a:ext cx="3576218" cy="2011680"/>
          </a:xfrm>
          <a:prstGeom prst="rect">
            <a:avLst/>
          </a:prstGeom>
          <a:solidFill>
            <a:srgbClr val="FFFFFF"/>
          </a:solidFill>
          <a:ln w="9525">
            <a:solidFill>
              <a:srgbClr val="CBBFA3"/>
            </a:solidFill>
            <a:prstDash val="solid"/>
          </a:ln>
        </p:spPr>
      </p:sp>
      <p:sp>
        <p:nvSpPr>
          <p:cNvPr id="18" name="Text 16"/>
          <p:cNvSpPr/>
          <p:nvPr/>
        </p:nvSpPr>
        <p:spPr>
          <a:xfrm>
            <a:off x="8295437"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CONSEQUÊNCIA</a:t>
            </a:r>
            <a:endParaRPr lang="en-US" sz="900" dirty="0"/>
          </a:p>
        </p:txBody>
      </p:sp>
      <p:sp>
        <p:nvSpPr>
          <p:cNvPr id="19" name="Text 17"/>
          <p:cNvSpPr/>
          <p:nvPr/>
        </p:nvSpPr>
        <p:spPr>
          <a:xfrm>
            <a:off x="8295437"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Aproximações</a:t>
            </a:r>
            <a:endParaRPr lang="en-US" sz="1800" dirty="0"/>
          </a:p>
        </p:txBody>
      </p:sp>
      <p:sp>
        <p:nvSpPr>
          <p:cNvPr id="20" name="Text 18"/>
          <p:cNvSpPr/>
          <p:nvPr/>
        </p:nvSpPr>
        <p:spPr>
          <a:xfrm>
            <a:off x="8295437"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Heurísticas e fragmentos restritos.</a:t>
            </a:r>
            <a:endParaRPr lang="en-US" sz="13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4">
    <p:bg>
      <p:bgPr>
        <a:solidFill>
          <a:srgbClr val="1A223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Shape 1"/>
          <p:cNvSpPr/>
          <p:nvPr/>
        </p:nvSpPr>
        <p:spPr>
          <a:xfrm>
            <a:off x="4952848" y="1371600"/>
            <a:ext cx="2286000" cy="411480"/>
          </a:xfrm>
          <a:prstGeom prst="roundRect">
            <a:avLst>
              <a:gd name="adj" fmla="val 48889"/>
            </a:avLst>
          </a:prstGeom>
          <a:solidFill>
            <a:srgbClr val="E07A1F"/>
          </a:solidFill>
          <a:ln w="12700">
            <a:solidFill>
              <a:srgbClr val="E07A1F"/>
            </a:solidFill>
            <a:prstDash val="solid"/>
          </a:ln>
        </p:spPr>
      </p:sp>
      <p:sp>
        <p:nvSpPr>
          <p:cNvPr id="4" name="Text 2"/>
          <p:cNvSpPr/>
          <p:nvPr/>
        </p:nvSpPr>
        <p:spPr>
          <a:xfrm>
            <a:off x="4952848" y="1371600"/>
            <a:ext cx="2286000" cy="411480"/>
          </a:xfrm>
          <a:prstGeom prst="rect">
            <a:avLst/>
          </a:prstGeom>
          <a:noFill/>
          <a:ln/>
        </p:spPr>
        <p:txBody>
          <a:bodyPr wrap="square" rtlCol="0" anchor="ctr"/>
          <a:lstStyle/>
          <a:p>
            <a:pPr marL="0" indent="0" algn="ctr">
              <a:buNone/>
            </a:pPr>
            <a:r>
              <a:rPr lang="en-US" sz="1200" b="1" kern="0" spc="400" dirty="0">
                <a:solidFill>
                  <a:srgbClr val="FFFFFF"/>
                </a:solidFill>
                <a:latin typeface="Source Sans 3" pitchFamily="34" charset="0"/>
                <a:ea typeface="Source Sans 3" pitchFamily="34" charset="-122"/>
                <a:cs typeface="Source Sans 3" pitchFamily="34" charset="-120"/>
              </a:rPr>
              <a:t>FIM DO CAPÍTULO 4</a:t>
            </a:r>
            <a:endParaRPr lang="en-US" sz="1200" dirty="0"/>
          </a:p>
        </p:txBody>
      </p:sp>
      <p:sp>
        <p:nvSpPr>
          <p:cNvPr id="5" name="Text 3"/>
          <p:cNvSpPr/>
          <p:nvPr/>
        </p:nvSpPr>
        <p:spPr>
          <a:xfrm>
            <a:off x="502920" y="2103120"/>
            <a:ext cx="11185855" cy="1371600"/>
          </a:xfrm>
          <a:prstGeom prst="rect">
            <a:avLst/>
          </a:prstGeom>
          <a:noFill/>
          <a:ln/>
        </p:spPr>
        <p:txBody>
          <a:bodyPr wrap="square" rtlCol="0" anchor="ctr"/>
          <a:lstStyle/>
          <a:p>
            <a:pPr marL="0" indent="0" algn="ctr">
              <a:buNone/>
            </a:pPr>
            <a:r>
              <a:rPr lang="en-US" sz="4400" b="1" dirty="0">
                <a:solidFill>
                  <a:srgbClr val="F7F2E8"/>
                </a:solidFill>
                <a:latin typeface="Playfair Display" pitchFamily="34" charset="0"/>
                <a:ea typeface="Playfair Display" pitchFamily="34" charset="-122"/>
                <a:cs typeface="Playfair Display" pitchFamily="34" charset="-120"/>
              </a:rPr>
              <a:t>Falar de objetos, não só de fatos</a:t>
            </a:r>
            <a:endParaRPr lang="en-US" sz="4400" dirty="0"/>
          </a:p>
        </p:txBody>
      </p:sp>
      <p:sp>
        <p:nvSpPr>
          <p:cNvPr id="6" name="Text 4"/>
          <p:cNvSpPr/>
          <p:nvPr/>
        </p:nvSpPr>
        <p:spPr>
          <a:xfrm>
            <a:off x="1371600" y="3840480"/>
            <a:ext cx="9448495" cy="1371600"/>
          </a:xfrm>
          <a:prstGeom prst="rect">
            <a:avLst/>
          </a:prstGeom>
          <a:noFill/>
          <a:ln/>
        </p:spPr>
        <p:txBody>
          <a:bodyPr wrap="square" rtlCol="0" anchor="ctr"/>
          <a:lstStyle/>
          <a:p>
            <a:pPr marL="0" indent="0" algn="ctr">
              <a:buNone/>
            </a:pPr>
            <a:r>
              <a:rPr lang="en-US" sz="1800" i="1" dirty="0">
                <a:solidFill>
                  <a:srgbClr val="CBBFA3"/>
                </a:solidFill>
                <a:latin typeface="Merriweather" pitchFamily="34" charset="0"/>
                <a:ea typeface="Merriweather" pitchFamily="34" charset="-122"/>
                <a:cs typeface="Merriweather" pitchFamily="34" charset="-120"/>
              </a:rPr>
              <a:t>Variáveis e quantificadores transformam a lógica em uma linguagem para descrever mundos com estrutura — exatamente como bancos de dados.</a:t>
            </a:r>
            <a:endParaRPr lang="en-US" sz="1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5">
    <p:bg>
      <p:bgPr>
        <a:solidFill>
          <a:srgbClr val="1A223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A3550"/>
          </a:solidFill>
          <a:ln w="12700">
            <a:solidFill>
              <a:srgbClr val="2A3550"/>
            </a:solidFill>
            <a:prstDash val="solid"/>
          </a:ln>
        </p:spPr>
      </p:sp>
      <p:sp>
        <p:nvSpPr>
          <p:cNvPr id="3" name="Shape 1"/>
          <p:cNvSpPr/>
          <p:nvPr/>
        </p:nvSpPr>
        <p:spPr>
          <a:xfrm>
            <a:off x="0" y="0"/>
            <a:ext cx="164592" cy="6858000"/>
          </a:xfrm>
          <a:prstGeom prst="rect">
            <a:avLst/>
          </a:prstGeom>
          <a:solidFill>
            <a:srgbClr val="E07A1F"/>
          </a:solidFill>
          <a:ln w="12700">
            <a:solidFill>
              <a:srgbClr val="E07A1F"/>
            </a:solidFill>
            <a:prstDash val="solid"/>
          </a:ln>
        </p:spPr>
      </p:sp>
      <p:sp>
        <p:nvSpPr>
          <p:cNvPr id="4" name="Text 2"/>
          <p:cNvSpPr/>
          <p:nvPr/>
        </p:nvSpPr>
        <p:spPr>
          <a:xfrm>
            <a:off x="9905695" y="228600"/>
            <a:ext cx="2011680" cy="274320"/>
          </a:xfrm>
          <a:prstGeom prst="rect">
            <a:avLst/>
          </a:prstGeom>
          <a:noFill/>
          <a:ln/>
        </p:spPr>
        <p:txBody>
          <a:bodyPr wrap="square" rtlCol="0" anchor="ctr"/>
          <a:lstStyle/>
          <a:p>
            <a:pPr marL="0" indent="0" algn="r">
              <a:buNone/>
            </a:pPr>
            <a:r>
              <a:rPr lang="en-US" sz="1100" b="1" kern="0" spc="400" dirty="0">
                <a:solidFill>
                  <a:srgbClr val="F3A96B"/>
                </a:solidFill>
                <a:latin typeface="Playfair Display" pitchFamily="34" charset="0"/>
                <a:ea typeface="Playfair Display" pitchFamily="34" charset="-122"/>
                <a:cs typeface="Playfair Display" pitchFamily="34" charset="-120"/>
              </a:rPr>
              <a:t>CAP. 05 · 01/13</a:t>
            </a:r>
            <a:endParaRPr lang="en-US" sz="1100" dirty="0"/>
          </a:p>
        </p:txBody>
      </p:sp>
      <p:sp>
        <p:nvSpPr>
          <p:cNvPr id="5" name="Text 3"/>
          <p:cNvSpPr/>
          <p:nvPr/>
        </p:nvSpPr>
        <p:spPr>
          <a:xfrm>
            <a:off x="502920" y="1371600"/>
            <a:ext cx="11185855" cy="365760"/>
          </a:xfrm>
          <a:prstGeom prst="rect">
            <a:avLst/>
          </a:prstGeom>
          <a:noFill/>
          <a:ln/>
        </p:spPr>
        <p:txBody>
          <a:bodyPr wrap="square" rtlCol="0" anchor="ctr"/>
          <a:lstStyle/>
          <a:p>
            <a:pPr marL="0" indent="0">
              <a:buNone/>
            </a:pPr>
            <a:r>
              <a:rPr lang="en-US" sz="1100" b="1" kern="0" spc="600" dirty="0">
                <a:solidFill>
                  <a:srgbClr val="F3A96B"/>
                </a:solidFill>
                <a:latin typeface="Source Sans 3" pitchFamily="34" charset="0"/>
                <a:ea typeface="Source Sans 3" pitchFamily="34" charset="-122"/>
                <a:cs typeface="Source Sans 3" pitchFamily="34" charset="-120"/>
              </a:rPr>
              <a:t>FUNDAMENTOS DE LÓGICA APLICADA À CIÊNCIA DE DADOS</a:t>
            </a:r>
            <a:endParaRPr lang="en-US" sz="1100" dirty="0"/>
          </a:p>
        </p:txBody>
      </p:sp>
      <p:sp>
        <p:nvSpPr>
          <p:cNvPr id="6" name="Text 4"/>
          <p:cNvSpPr/>
          <p:nvPr/>
        </p:nvSpPr>
        <p:spPr>
          <a:xfrm>
            <a:off x="502920" y="1828800"/>
            <a:ext cx="11185855" cy="2286000"/>
          </a:xfrm>
          <a:prstGeom prst="rect">
            <a:avLst/>
          </a:prstGeom>
          <a:noFill/>
          <a:ln/>
        </p:spPr>
        <p:txBody>
          <a:bodyPr wrap="square" rtlCol="0" anchor="ctr"/>
          <a:lstStyle/>
          <a:p>
            <a:pPr marL="0" indent="0">
              <a:buNone/>
            </a:pPr>
            <a:r>
              <a:rPr lang="en-US" sz="6000" b="1" dirty="0">
                <a:solidFill>
                  <a:srgbClr val="F7F2E8"/>
                </a:solidFill>
                <a:latin typeface="Playfair Display" pitchFamily="34" charset="0"/>
                <a:ea typeface="Playfair Display" pitchFamily="34" charset="-122"/>
                <a:cs typeface="Playfair Display" pitchFamily="34" charset="-120"/>
              </a:rPr>
              <a:t>Validação,</a:t>
            </a:r>
            <a:endParaRPr lang="en-US" sz="6000" dirty="0"/>
          </a:p>
          <a:p>
            <a:pPr marL="0" indent="0">
              <a:buNone/>
            </a:pPr>
            <a:r>
              <a:rPr lang="en-US" sz="6000" b="1" dirty="0">
                <a:solidFill>
                  <a:srgbClr val="F7F2E8"/>
                </a:solidFill>
                <a:latin typeface="Playfair Display" pitchFamily="34" charset="0"/>
                <a:ea typeface="Playfair Display" pitchFamily="34" charset="-122"/>
                <a:cs typeface="Playfair Display" pitchFamily="34" charset="-120"/>
              </a:rPr>
              <a:t>Modelos e Provas</a:t>
            </a:r>
            <a:endParaRPr lang="en-US" sz="6000" dirty="0"/>
          </a:p>
        </p:txBody>
      </p:sp>
      <p:sp>
        <p:nvSpPr>
          <p:cNvPr id="7" name="Text 5"/>
          <p:cNvSpPr/>
          <p:nvPr/>
        </p:nvSpPr>
        <p:spPr>
          <a:xfrm>
            <a:off x="502920" y="4297680"/>
            <a:ext cx="11185855" cy="914400"/>
          </a:xfrm>
          <a:prstGeom prst="rect">
            <a:avLst/>
          </a:prstGeom>
          <a:noFill/>
          <a:ln/>
        </p:spPr>
        <p:txBody>
          <a:bodyPr wrap="square" rtlCol="0" anchor="ctr"/>
          <a:lstStyle/>
          <a:p>
            <a:pPr marL="0" indent="0">
              <a:buNone/>
            </a:pPr>
            <a:r>
              <a:rPr lang="en-US" sz="1800" i="1" dirty="0">
                <a:solidFill>
                  <a:srgbClr val="CBBFA3"/>
                </a:solidFill>
                <a:latin typeface="Merriweather" pitchFamily="34" charset="0"/>
                <a:ea typeface="Merriweather" pitchFamily="34" charset="-122"/>
                <a:cs typeface="Merriweather" pitchFamily="34" charset="-120"/>
              </a:rPr>
              <a:t>Como verificar consequência lógica em primeira ordem</a:t>
            </a:r>
            <a:endParaRPr lang="en-US" sz="1800" dirty="0"/>
          </a:p>
        </p:txBody>
      </p:sp>
      <p:sp>
        <p:nvSpPr>
          <p:cNvPr id="8" name="Shape 6"/>
          <p:cNvSpPr/>
          <p:nvPr/>
        </p:nvSpPr>
        <p:spPr>
          <a:xfrm>
            <a:off x="502920" y="6446520"/>
            <a:ext cx="11185855" cy="0"/>
          </a:xfrm>
          <a:prstGeom prst="line">
            <a:avLst/>
          </a:prstGeom>
          <a:noFill/>
          <a:ln w="6350">
            <a:solidFill>
              <a:srgbClr val="4B5563"/>
            </a:solidFill>
            <a:prstDash val="solid"/>
          </a:ln>
        </p:spPr>
      </p:sp>
      <p:sp>
        <p:nvSpPr>
          <p:cNvPr id="9" name="Text 7"/>
          <p:cNvSpPr/>
          <p:nvPr/>
        </p:nvSpPr>
        <p:spPr>
          <a:xfrm>
            <a:off x="502920" y="6492240"/>
            <a:ext cx="11185855" cy="274320"/>
          </a:xfrm>
          <a:prstGeom prst="rect">
            <a:avLst/>
          </a:prstGeom>
          <a:noFill/>
          <a:ln/>
        </p:spPr>
        <p:txBody>
          <a:bodyPr wrap="square" rtlCol="0" anchor="ctr"/>
          <a:lstStyle/>
          <a:p>
            <a:r>
              <a:rPr lang="en-US" sz="900" b="1" kern="0" spc="300" dirty="0">
                <a:solidFill>
                  <a:srgbClr val="9CA3AF"/>
                </a:solidFill>
                <a:latin typeface="Source Sans 3" pitchFamily="34" charset="0"/>
                <a:ea typeface="Source Sans 3" pitchFamily="34" charset="-122"/>
                <a:cs typeface="Source Sans 3" pitchFamily="34" charset="-120"/>
              </a:rPr>
              <a:t>ALICCE · Helena Reis &amp; Anderson Marcolino</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6">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02 / 13</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DUAS ABORDAGENS</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5 · Validação, Modelos e Provas Relacionais</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Modelo vs. Prova</a:t>
            </a:r>
            <a:endParaRPr lang="en-US" sz="3600" dirty="0"/>
          </a:p>
        </p:txBody>
      </p:sp>
      <p:sp>
        <p:nvSpPr>
          <p:cNvPr id="9" name="Text 7"/>
          <p:cNvSpPr/>
          <p:nvPr/>
        </p:nvSpPr>
        <p:spPr>
          <a:xfrm>
            <a:off x="502920" y="1554480"/>
            <a:ext cx="11185855" cy="457200"/>
          </a:xfrm>
          <a:prstGeom prst="rect">
            <a:avLst/>
          </a:prstGeom>
          <a:noFill/>
          <a:ln/>
        </p:spPr>
        <p:txBody>
          <a:bodyPr wrap="square" rtlCol="0" anchor="ctr"/>
          <a:lstStyle/>
          <a:p>
            <a:pPr marL="0" indent="0">
              <a:buNone/>
            </a:pPr>
            <a:r>
              <a:rPr lang="en-US" sz="1600" i="1" dirty="0">
                <a:solidFill>
                  <a:srgbClr val="2A3550"/>
                </a:solidFill>
                <a:latin typeface="Merriweather" pitchFamily="34" charset="0"/>
                <a:ea typeface="Merriweather" pitchFamily="34" charset="-122"/>
                <a:cs typeface="Merriweather" pitchFamily="34" charset="-120"/>
              </a:rPr>
              <a:t>Verificar em interpretações concretas · ou derivar formalmente</a:t>
            </a:r>
            <a:endParaRPr lang="en-US" sz="16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7">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03 / 13</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VERIFICAÇÃO POR MODELOS</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5 · Validação, Modelos e Provas Relacionais</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 relacional</a:t>
            </a:r>
            <a:endParaRPr lang="en-US" sz="3600" dirty="0"/>
          </a:p>
        </p:txBody>
      </p:sp>
      <p:sp>
        <p:nvSpPr>
          <p:cNvPr id="9" name="Shape 7"/>
          <p:cNvSpPr/>
          <p:nvPr/>
        </p:nvSpPr>
        <p:spPr>
          <a:xfrm>
            <a:off x="1981048" y="2377440"/>
            <a:ext cx="8229600" cy="1371600"/>
          </a:xfrm>
          <a:prstGeom prst="rect">
            <a:avLst/>
          </a:prstGeom>
          <a:solidFill>
            <a:srgbClr val="FFFFFF"/>
          </a:solidFill>
          <a:ln w="12700">
            <a:solidFill>
              <a:srgbClr val="CBBFA3"/>
            </a:solidFill>
            <a:prstDash val="solid"/>
          </a:ln>
        </p:spPr>
      </p:sp>
      <p:sp>
        <p:nvSpPr>
          <p:cNvPr id="10" name="Shape 8"/>
          <p:cNvSpPr/>
          <p:nvPr/>
        </p:nvSpPr>
        <p:spPr>
          <a:xfrm>
            <a:off x="1981048" y="2377440"/>
            <a:ext cx="64008" cy="1371600"/>
          </a:xfrm>
          <a:prstGeom prst="rect">
            <a:avLst/>
          </a:prstGeom>
          <a:solidFill>
            <a:srgbClr val="E07A1F"/>
          </a:solidFill>
          <a:ln w="12700">
            <a:solidFill>
              <a:srgbClr val="E07A1F"/>
            </a:solidFill>
            <a:prstDash val="solid"/>
          </a:ln>
        </p:spPr>
      </p:sp>
      <p:sp>
        <p:nvSpPr>
          <p:cNvPr id="11" name="Text 9"/>
          <p:cNvSpPr/>
          <p:nvPr/>
        </p:nvSpPr>
        <p:spPr>
          <a:xfrm>
            <a:off x="2163928" y="2377440"/>
            <a:ext cx="7955280" cy="1371600"/>
          </a:xfrm>
          <a:prstGeom prst="rect">
            <a:avLst/>
          </a:prstGeom>
          <a:noFill/>
          <a:ln/>
        </p:spPr>
        <p:txBody>
          <a:bodyPr wrap="square" rtlCol="0" anchor="ctr"/>
          <a:lstStyle/>
          <a:p>
            <a:pPr marL="0" indent="0" algn="ctr">
              <a:buNone/>
            </a:pPr>
            <a:r>
              <a:rPr lang="en-US" sz="2800" dirty="0">
                <a:solidFill>
                  <a:srgbClr val="1A2238"/>
                </a:solidFill>
                <a:latin typeface="Cambria" pitchFamily="34" charset="0"/>
                <a:ea typeface="Cambria" pitchFamily="34" charset="-122"/>
                <a:cs typeface="Cambria" pitchFamily="34" charset="-120"/>
              </a:rPr>
              <a:t>M ⊨ φ</a:t>
            </a:r>
            <a:endParaRPr lang="en-US" sz="2800" dirty="0"/>
          </a:p>
        </p:txBody>
      </p:sp>
      <p:sp>
        <p:nvSpPr>
          <p:cNvPr id="12" name="Text 10"/>
          <p:cNvSpPr/>
          <p:nvPr/>
        </p:nvSpPr>
        <p:spPr>
          <a:xfrm>
            <a:off x="502920" y="3840480"/>
            <a:ext cx="11185855" cy="365760"/>
          </a:xfrm>
          <a:prstGeom prst="rect">
            <a:avLst/>
          </a:prstGeom>
          <a:noFill/>
          <a:ln/>
        </p:spPr>
        <p:txBody>
          <a:bodyPr wrap="square" rtlCol="0" anchor="ctr"/>
          <a:lstStyle/>
          <a:p>
            <a:pPr marL="0" indent="0" algn="ctr">
              <a:buNone/>
            </a:pPr>
            <a:r>
              <a:rPr lang="en-US" sz="1200" i="1" dirty="0">
                <a:solidFill>
                  <a:srgbClr val="6B6452"/>
                </a:solidFill>
                <a:latin typeface="Source Sans 3" pitchFamily="34" charset="0"/>
                <a:ea typeface="Source Sans 3" pitchFamily="34" charset="-122"/>
                <a:cs typeface="Source Sans 3" pitchFamily="34" charset="-120"/>
              </a:rPr>
              <a:t>A sentença φ é verdadeira no modelo M</a:t>
            </a:r>
            <a:endParaRPr lang="en-US" sz="12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8">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04 / 13</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VERIFICAÇÃO · ALGORITMO</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5 · Validação, Modelos e Provas Relacionais</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Avaliando ∀ e ∃ em domínio finito</a:t>
            </a:r>
            <a:endParaRPr lang="en-US" sz="3600" dirty="0"/>
          </a:p>
        </p:txBody>
      </p:sp>
      <p:sp>
        <p:nvSpPr>
          <p:cNvPr id="9" name="Shape 7"/>
          <p:cNvSpPr/>
          <p:nvPr/>
        </p:nvSpPr>
        <p:spPr>
          <a:xfrm>
            <a:off x="502920" y="1828800"/>
            <a:ext cx="11185855" cy="4206240"/>
          </a:xfrm>
          <a:prstGeom prst="rect">
            <a:avLst/>
          </a:prstGeom>
          <a:solidFill>
            <a:srgbClr val="1A2238"/>
          </a:solidFill>
          <a:ln w="12700">
            <a:solidFill>
              <a:srgbClr val="2A3550"/>
            </a:solidFill>
            <a:prstDash val="solid"/>
          </a:ln>
        </p:spPr>
      </p:sp>
      <p:sp>
        <p:nvSpPr>
          <p:cNvPr id="10" name="Shape 8"/>
          <p:cNvSpPr/>
          <p:nvPr/>
        </p:nvSpPr>
        <p:spPr>
          <a:xfrm>
            <a:off x="502920" y="1828800"/>
            <a:ext cx="64008" cy="4206240"/>
          </a:xfrm>
          <a:prstGeom prst="rect">
            <a:avLst/>
          </a:prstGeom>
          <a:solidFill>
            <a:srgbClr val="E07A1F"/>
          </a:solidFill>
          <a:ln w="12700">
            <a:solidFill>
              <a:srgbClr val="E07A1F"/>
            </a:solidFill>
            <a:prstDash val="solid"/>
          </a:ln>
        </p:spPr>
      </p:sp>
      <p:sp>
        <p:nvSpPr>
          <p:cNvPr id="11" name="Text 9"/>
          <p:cNvSpPr/>
          <p:nvPr/>
        </p:nvSpPr>
        <p:spPr>
          <a:xfrm>
            <a:off x="731520" y="1920240"/>
            <a:ext cx="10820095" cy="4023360"/>
          </a:xfrm>
          <a:prstGeom prst="rect">
            <a:avLst/>
          </a:prstGeom>
          <a:noFill/>
          <a:ln/>
        </p:spPr>
        <p:txBody>
          <a:bodyPr wrap="square" rtlCol="0" anchor="t"/>
          <a:lstStyle/>
          <a:p>
            <a:pPr marL="0" indent="0">
              <a:buNone/>
            </a:pPr>
            <a:r>
              <a:rPr lang="en-US" sz="1400" dirty="0">
                <a:solidFill>
                  <a:srgbClr val="F7F2E8"/>
                </a:solidFill>
                <a:latin typeface="Consolas" pitchFamily="34" charset="0"/>
                <a:ea typeface="Consolas" pitchFamily="34" charset="-122"/>
                <a:cs typeface="Consolas" pitchFamily="34" charset="-120"/>
              </a:rPr>
              <a:t>def eval_fol(phi, model, env):</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"""Avalia fórmula em modelo. env mapeia variáveis livres → objetos."""</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op = phi[0]</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if op == 'pred':</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 ('pred', 'Aluno', ['x'])</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args = tuple(env[v] if isinstance(v,str) else v for v in phi[2])</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return args in model[phi[1]]</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if op == 'forall':</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x, body = phi[1], phi[2]</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return all(eval_fol(body, model, {**env, x: o}) for o in model['domain'])</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if op == 'exists':</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x, body = phi[1], phi[2]</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return any(eval_fol(body, model, {**env, x: o}) for o in model['domain'])</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 ... casos para and, or, not, imp ...</a:t>
            </a:r>
            <a:endParaRPr lang="en-US" sz="14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79">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05 / 13</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CONSEQUÊNCIA RELACIONAL</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5 · Validação, Modelos e Provas Relacionais</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Δ ⊨ ψ em primeira ordem</a:t>
            </a:r>
            <a:endParaRPr lang="en-US" sz="3600" dirty="0"/>
          </a:p>
        </p:txBody>
      </p:sp>
      <p:sp>
        <p:nvSpPr>
          <p:cNvPr id="9" name="Text 7"/>
          <p:cNvSpPr/>
          <p:nvPr/>
        </p:nvSpPr>
        <p:spPr>
          <a:xfrm>
            <a:off x="502920" y="1554480"/>
            <a:ext cx="11185855" cy="457200"/>
          </a:xfrm>
          <a:prstGeom prst="rect">
            <a:avLst/>
          </a:prstGeom>
          <a:noFill/>
          <a:ln/>
        </p:spPr>
        <p:txBody>
          <a:bodyPr wrap="square" rtlCol="0" anchor="ctr"/>
          <a:lstStyle/>
          <a:p>
            <a:pPr marL="0" indent="0">
              <a:buNone/>
            </a:pPr>
            <a:r>
              <a:rPr lang="en-US" sz="1600" i="1" dirty="0">
                <a:solidFill>
                  <a:srgbClr val="2A3550"/>
                </a:solidFill>
                <a:latin typeface="Merriweather" pitchFamily="34" charset="0"/>
                <a:ea typeface="Merriweather" pitchFamily="34" charset="-122"/>
                <a:cs typeface="Merriweather" pitchFamily="34" charset="-120"/>
              </a:rPr>
              <a:t>Em todo modelo onde Δ vale, ψ também vale</a:t>
            </a:r>
            <a:endParaRPr lang="en-US" sz="16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0">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06 / 13</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PROVAS FORMAIS</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5 · Validação, Modelos e Provas Relacionais</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Demonstrabilidade</a:t>
            </a:r>
            <a:endParaRPr lang="en-US" sz="3600" dirty="0"/>
          </a:p>
        </p:txBody>
      </p:sp>
      <p:sp>
        <p:nvSpPr>
          <p:cNvPr id="9" name="Text 7"/>
          <p:cNvSpPr/>
          <p:nvPr/>
        </p:nvSpPr>
        <p:spPr>
          <a:xfrm>
            <a:off x="502920" y="1554480"/>
            <a:ext cx="11185855" cy="457200"/>
          </a:xfrm>
          <a:prstGeom prst="rect">
            <a:avLst/>
          </a:prstGeom>
          <a:noFill/>
          <a:ln/>
        </p:spPr>
        <p:txBody>
          <a:bodyPr wrap="square" rtlCol="0" anchor="ctr"/>
          <a:lstStyle/>
          <a:p>
            <a:pPr marL="0" indent="0">
              <a:buNone/>
            </a:pPr>
            <a:r>
              <a:rPr lang="en-US" sz="1600" i="1" dirty="0">
                <a:solidFill>
                  <a:srgbClr val="2A3550"/>
                </a:solidFill>
                <a:latin typeface="Merriweather" pitchFamily="34" charset="0"/>
                <a:ea typeface="Merriweather" pitchFamily="34" charset="-122"/>
                <a:cs typeface="Merriweather" pitchFamily="34" charset="-120"/>
              </a:rPr>
              <a:t>Δ ⊢ ψ — derivar via regras de inferência</a:t>
            </a:r>
            <a:endParaRPr lang="en-US" sz="16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1">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07 / 13</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FITCH · QUANTIFICADORES</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5 · Validação, Modelos e Provas Relacionais</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Quatro novas regras</a:t>
            </a:r>
            <a:endParaRPr lang="en-US" sz="3600" dirty="0"/>
          </a:p>
        </p:txBody>
      </p:sp>
      <p:graphicFrame>
        <p:nvGraphicFramePr>
          <p:cNvPr id="82" name="Table 0"/>
          <p:cNvGraphicFramePr>
            <a:graphicFrameLocks noGrp="1"/>
          </p:cNvGraphicFramePr>
          <p:nvPr>
            <p:extLst>
              <p:ext uri="{D42A27DB-BD31-4B8C-83A1-F6EECF244321}">
                <p14:modId xmlns:p14="http://schemas.microsoft.com/office/powerpoint/2010/main" val="1579011935"/>
              </p:ext>
            </p:extLst>
          </p:nvPr>
        </p:nvGraphicFramePr>
        <p:xfrm>
          <a:off x="1295248" y="2103120"/>
          <a:ext cx="9601200" cy="1920240"/>
        </p:xfrm>
        <a:graphic>
          <a:graphicData uri="http://schemas.openxmlformats.org/drawingml/2006/table">
            <a:tbl>
              <a:tblPr/>
              <a:tblGrid>
                <a:gridCol w="27432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84048">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Regra</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Quando usar</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Restrição</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extLst>
                  <a:ext uri="{0D108BD9-81ED-4DB2-BD59-A6C34878D82A}">
                    <a16:rowId xmlns:a16="http://schemas.microsoft.com/office/drawing/2014/main" val="10000"/>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∀E (universal-elim)</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de ∀x P(x) : P(t)</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t pode ser qualquer termo</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∀I (universal-intro)</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prova P(c) para c arbitrário : ∀x P(x)</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c não aparece em premissas</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∃I (existencial-intro)</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de P(t) : ∃x P(x)</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sempre permitido</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∃E (existencial-elim)</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de ∃x P(x), assume P(c), deriva χ : χ</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c novo (testemunha fresca)</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0" name="Text 7"/>
          <p:cNvSpPr/>
          <p:nvPr/>
        </p:nvSpPr>
        <p:spPr>
          <a:xfrm>
            <a:off x="1295248" y="4069080"/>
            <a:ext cx="9601200" cy="274320"/>
          </a:xfrm>
          <a:prstGeom prst="rect">
            <a:avLst/>
          </a:prstGeom>
          <a:noFill/>
          <a:ln/>
        </p:spPr>
        <p:txBody>
          <a:bodyPr wrap="square" rtlCol="0" anchor="ctr"/>
          <a:lstStyle/>
          <a:p>
            <a:pPr marL="0" indent="0" algn="ctr">
              <a:buNone/>
            </a:pPr>
            <a:r>
              <a:rPr lang="en-US" sz="1000" i="1" dirty="0">
                <a:solidFill>
                  <a:srgbClr val="6B6452"/>
                </a:solidFill>
                <a:latin typeface="Source Sans 3" pitchFamily="34" charset="0"/>
                <a:ea typeface="Source Sans 3" pitchFamily="34" charset="-122"/>
                <a:cs typeface="Source Sans 3" pitchFamily="34" charset="-120"/>
              </a:rPr>
              <a:t>Cuidado com as restrições — elas evitam falácias.</a:t>
            </a:r>
            <a:endParaRPr lang="en-US" sz="10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2">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08 / 13</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EXEMPLO · ∀E + ∀I</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5 · Validação, Modelos e Provas Relacionais</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∀x P(x) ⊢ ∀y P(y) (renomear)</a:t>
            </a:r>
            <a:endParaRPr lang="en-US" sz="3600" dirty="0"/>
          </a:p>
        </p:txBody>
      </p:sp>
      <p:sp>
        <p:nvSpPr>
          <p:cNvPr id="9" name="Shape 7"/>
          <p:cNvSpPr/>
          <p:nvPr/>
        </p:nvSpPr>
        <p:spPr>
          <a:xfrm>
            <a:off x="502920" y="1828800"/>
            <a:ext cx="11185855" cy="4206240"/>
          </a:xfrm>
          <a:prstGeom prst="rect">
            <a:avLst/>
          </a:prstGeom>
          <a:solidFill>
            <a:srgbClr val="1A2238"/>
          </a:solidFill>
          <a:ln w="12700">
            <a:solidFill>
              <a:srgbClr val="2A3550"/>
            </a:solidFill>
            <a:prstDash val="solid"/>
          </a:ln>
        </p:spPr>
      </p:sp>
      <p:sp>
        <p:nvSpPr>
          <p:cNvPr id="10" name="Shape 8"/>
          <p:cNvSpPr/>
          <p:nvPr/>
        </p:nvSpPr>
        <p:spPr>
          <a:xfrm>
            <a:off x="502920" y="1828800"/>
            <a:ext cx="64008" cy="4206240"/>
          </a:xfrm>
          <a:prstGeom prst="rect">
            <a:avLst/>
          </a:prstGeom>
          <a:solidFill>
            <a:srgbClr val="E07A1F"/>
          </a:solidFill>
          <a:ln w="12700">
            <a:solidFill>
              <a:srgbClr val="E07A1F"/>
            </a:solidFill>
            <a:prstDash val="solid"/>
          </a:ln>
        </p:spPr>
      </p:sp>
      <p:sp>
        <p:nvSpPr>
          <p:cNvPr id="11" name="Text 9"/>
          <p:cNvSpPr/>
          <p:nvPr/>
        </p:nvSpPr>
        <p:spPr>
          <a:xfrm>
            <a:off x="731520" y="1920240"/>
            <a:ext cx="10820095" cy="4023360"/>
          </a:xfrm>
          <a:prstGeom prst="rect">
            <a:avLst/>
          </a:prstGeom>
          <a:noFill/>
          <a:ln/>
        </p:spPr>
        <p:txBody>
          <a:bodyPr wrap="square" rtlCol="0" anchor="t"/>
          <a:lstStyle/>
          <a:p>
            <a:pPr marL="0" indent="0">
              <a:buNone/>
            </a:pPr>
            <a:r>
              <a:rPr lang="en-US" sz="1400" dirty="0">
                <a:solidFill>
                  <a:srgbClr val="F7F2E8"/>
                </a:solidFill>
                <a:latin typeface="Consolas" pitchFamily="34" charset="0"/>
                <a:ea typeface="Consolas" pitchFamily="34" charset="-122"/>
                <a:cs typeface="Consolas" pitchFamily="34" charset="-120"/>
              </a:rPr>
              <a:t>1.  ∀x P(x)         premissa</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2.  | c             constante arbitrária</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3.  | P(c)          ∀E (1) — instancia x := c</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4.  ∀y P(y)         ∀I (2-3) — generaliza c para y</a:t>
            </a:r>
            <a:endParaRPr lang="en-US" sz="14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3">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09 / 13</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EXEMPLO · EXISTENCIAL</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5 · Validação, Modelos e Provas Relacionais</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∃x P(x), ∀x (P(x) ⇒ Q(x)) ⊢ ∃x Q(x)</a:t>
            </a:r>
            <a:endParaRPr lang="en-US" sz="3600" dirty="0"/>
          </a:p>
        </p:txBody>
      </p:sp>
      <p:sp>
        <p:nvSpPr>
          <p:cNvPr id="9" name="Shape 7"/>
          <p:cNvSpPr/>
          <p:nvPr/>
        </p:nvSpPr>
        <p:spPr>
          <a:xfrm>
            <a:off x="502920" y="1828800"/>
            <a:ext cx="11185855" cy="4206240"/>
          </a:xfrm>
          <a:prstGeom prst="rect">
            <a:avLst/>
          </a:prstGeom>
          <a:solidFill>
            <a:srgbClr val="1A2238"/>
          </a:solidFill>
          <a:ln w="12700">
            <a:solidFill>
              <a:srgbClr val="2A3550"/>
            </a:solidFill>
            <a:prstDash val="solid"/>
          </a:ln>
        </p:spPr>
      </p:sp>
      <p:sp>
        <p:nvSpPr>
          <p:cNvPr id="10" name="Shape 8"/>
          <p:cNvSpPr/>
          <p:nvPr/>
        </p:nvSpPr>
        <p:spPr>
          <a:xfrm>
            <a:off x="502920" y="1828800"/>
            <a:ext cx="64008" cy="4206240"/>
          </a:xfrm>
          <a:prstGeom prst="rect">
            <a:avLst/>
          </a:prstGeom>
          <a:solidFill>
            <a:srgbClr val="E07A1F"/>
          </a:solidFill>
          <a:ln w="12700">
            <a:solidFill>
              <a:srgbClr val="E07A1F"/>
            </a:solidFill>
            <a:prstDash val="solid"/>
          </a:ln>
        </p:spPr>
      </p:sp>
      <p:sp>
        <p:nvSpPr>
          <p:cNvPr id="11" name="Text 9"/>
          <p:cNvSpPr/>
          <p:nvPr/>
        </p:nvSpPr>
        <p:spPr>
          <a:xfrm>
            <a:off x="731520" y="1920240"/>
            <a:ext cx="10820095" cy="4023360"/>
          </a:xfrm>
          <a:prstGeom prst="rect">
            <a:avLst/>
          </a:prstGeom>
          <a:noFill/>
          <a:ln/>
        </p:spPr>
        <p:txBody>
          <a:bodyPr wrap="square" rtlCol="0" anchor="t"/>
          <a:lstStyle/>
          <a:p>
            <a:pPr marL="0" indent="0">
              <a:buNone/>
            </a:pPr>
            <a:r>
              <a:rPr lang="en-US" sz="1400" dirty="0">
                <a:solidFill>
                  <a:srgbClr val="F7F2E8"/>
                </a:solidFill>
                <a:latin typeface="Consolas" pitchFamily="34" charset="0"/>
                <a:ea typeface="Consolas" pitchFamily="34" charset="-122"/>
                <a:cs typeface="Consolas" pitchFamily="34" charset="-120"/>
              </a:rPr>
              <a:t>1.  ∃x P(x)                   premissa</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2.  ∀x (P(x) ⇒ Q(x))         premissa</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3.  | P(c)                   hipótese (∃E, c novo)</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4.  | P(c) ⇒ Q(c)            ∀E (2)</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5.  | Q(c)                   ⇒E (3, 4)</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6.  | ∃x Q(x)                ∃I (5)</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7.  ∃x Q(x)                  ∃E (1, 3-6)</a:t>
            </a:r>
            <a:endParaRPr lang="en-US" sz="14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4">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10 / 13</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CORREÇÃO E COMPLETUDE</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5 · Validação, Modelos e Provas Relacionais</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Teorema de Gödel (1929)</a:t>
            </a:r>
            <a:endParaRPr lang="en-US" sz="3600" dirty="0"/>
          </a:p>
        </p:txBody>
      </p:sp>
      <p:sp>
        <p:nvSpPr>
          <p:cNvPr id="9" name="Shape 7"/>
          <p:cNvSpPr/>
          <p:nvPr/>
        </p:nvSpPr>
        <p:spPr>
          <a:xfrm>
            <a:off x="1981048" y="2377440"/>
            <a:ext cx="8229600" cy="1645920"/>
          </a:xfrm>
          <a:prstGeom prst="rect">
            <a:avLst/>
          </a:prstGeom>
          <a:solidFill>
            <a:srgbClr val="FFFFFF"/>
          </a:solidFill>
          <a:ln w="12700">
            <a:solidFill>
              <a:srgbClr val="CBBFA3"/>
            </a:solidFill>
            <a:prstDash val="solid"/>
          </a:ln>
        </p:spPr>
      </p:sp>
      <p:sp>
        <p:nvSpPr>
          <p:cNvPr id="10" name="Shape 8"/>
          <p:cNvSpPr/>
          <p:nvPr/>
        </p:nvSpPr>
        <p:spPr>
          <a:xfrm>
            <a:off x="1981048" y="2377440"/>
            <a:ext cx="64008" cy="1645920"/>
          </a:xfrm>
          <a:prstGeom prst="rect">
            <a:avLst/>
          </a:prstGeom>
          <a:solidFill>
            <a:srgbClr val="E07A1F"/>
          </a:solidFill>
          <a:ln w="12700">
            <a:solidFill>
              <a:srgbClr val="E07A1F"/>
            </a:solidFill>
            <a:prstDash val="solid"/>
          </a:ln>
        </p:spPr>
      </p:sp>
      <p:sp>
        <p:nvSpPr>
          <p:cNvPr id="11" name="Text 9"/>
          <p:cNvSpPr/>
          <p:nvPr/>
        </p:nvSpPr>
        <p:spPr>
          <a:xfrm>
            <a:off x="2163928" y="2377440"/>
            <a:ext cx="7955280" cy="1645920"/>
          </a:xfrm>
          <a:prstGeom prst="rect">
            <a:avLst/>
          </a:prstGeom>
          <a:noFill/>
          <a:ln/>
        </p:spPr>
        <p:txBody>
          <a:bodyPr wrap="square" rtlCol="0" anchor="ctr"/>
          <a:lstStyle/>
          <a:p>
            <a:pPr marL="0" indent="0" algn="ctr">
              <a:buNone/>
            </a:pPr>
            <a:r>
              <a:rPr lang="en-US" sz="2400" dirty="0">
                <a:solidFill>
                  <a:srgbClr val="1A2238"/>
                </a:solidFill>
                <a:latin typeface="Cambria" pitchFamily="34" charset="0"/>
                <a:ea typeface="Cambria" pitchFamily="34" charset="-122"/>
                <a:cs typeface="Cambria" pitchFamily="34" charset="-120"/>
              </a:rPr>
              <a:t>Δ ⊢ ψ   ⇔   Δ ⊨ ψ</a:t>
            </a:r>
            <a:endParaRPr lang="en-US" sz="2400" dirty="0"/>
          </a:p>
        </p:txBody>
      </p:sp>
      <p:sp>
        <p:nvSpPr>
          <p:cNvPr id="12" name="Text 10"/>
          <p:cNvSpPr/>
          <p:nvPr/>
        </p:nvSpPr>
        <p:spPr>
          <a:xfrm>
            <a:off x="502920" y="4114800"/>
            <a:ext cx="11185855" cy="365760"/>
          </a:xfrm>
          <a:prstGeom prst="rect">
            <a:avLst/>
          </a:prstGeom>
          <a:noFill/>
          <a:ln/>
        </p:spPr>
        <p:txBody>
          <a:bodyPr wrap="square" rtlCol="0" anchor="ctr"/>
          <a:lstStyle/>
          <a:p>
            <a:pPr marL="0" indent="0" algn="ctr">
              <a:buNone/>
            </a:pPr>
            <a:r>
              <a:rPr lang="en-US" sz="1200" i="1" dirty="0">
                <a:solidFill>
                  <a:srgbClr val="6B6452"/>
                </a:solidFill>
                <a:latin typeface="Source Sans 3" pitchFamily="34" charset="0"/>
                <a:ea typeface="Source Sans 3" pitchFamily="34" charset="-122"/>
                <a:cs typeface="Source Sans 3" pitchFamily="34" charset="-120"/>
              </a:rPr>
              <a:t>Em primeira ordem clássica, prova e verdade coincidem.</a:t>
            </a:r>
            <a:endParaRPr lang="en-US" sz="12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5">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11 / 13</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CUIDADO</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5 · Validação, Modelos e Provas Relacionais</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Limites importantes</a:t>
            </a:r>
            <a:endParaRPr lang="en-US" sz="3600" dirty="0"/>
          </a:p>
        </p:txBody>
      </p:sp>
      <p:sp>
        <p:nvSpPr>
          <p:cNvPr id="9" name="Shape 7"/>
          <p:cNvSpPr/>
          <p:nvPr/>
        </p:nvSpPr>
        <p:spPr>
          <a:xfrm>
            <a:off x="502920" y="2194560"/>
            <a:ext cx="3576218" cy="2011680"/>
          </a:xfrm>
          <a:prstGeom prst="rect">
            <a:avLst/>
          </a:prstGeom>
          <a:solidFill>
            <a:srgbClr val="FFFFFF"/>
          </a:solidFill>
          <a:ln w="9525">
            <a:solidFill>
              <a:srgbClr val="CBBFA3"/>
            </a:solidFill>
            <a:prstDash val="solid"/>
          </a:ln>
        </p:spPr>
      </p:sp>
      <p:sp>
        <p:nvSpPr>
          <p:cNvPr id="10" name="Text 8"/>
          <p:cNvSpPr/>
          <p:nvPr/>
        </p:nvSpPr>
        <p:spPr>
          <a:xfrm>
            <a:off x="685800"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VALIDADE</a:t>
            </a:r>
            <a:endParaRPr lang="en-US" sz="900" dirty="0"/>
          </a:p>
        </p:txBody>
      </p:sp>
      <p:sp>
        <p:nvSpPr>
          <p:cNvPr id="11" name="Text 9"/>
          <p:cNvSpPr/>
          <p:nvPr/>
        </p:nvSpPr>
        <p:spPr>
          <a:xfrm>
            <a:off x="685800"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Indecidível</a:t>
            </a:r>
            <a:endParaRPr lang="en-US" sz="1800" dirty="0"/>
          </a:p>
        </p:txBody>
      </p:sp>
      <p:sp>
        <p:nvSpPr>
          <p:cNvPr id="12" name="Text 10"/>
          <p:cNvSpPr/>
          <p:nvPr/>
        </p:nvSpPr>
        <p:spPr>
          <a:xfrm>
            <a:off x="685800"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Não há algoritmo que sempre responda.</a:t>
            </a:r>
            <a:endParaRPr lang="en-US" sz="1300" dirty="0"/>
          </a:p>
        </p:txBody>
      </p:sp>
      <p:sp>
        <p:nvSpPr>
          <p:cNvPr id="13" name="Shape 11"/>
          <p:cNvSpPr/>
          <p:nvPr/>
        </p:nvSpPr>
        <p:spPr>
          <a:xfrm>
            <a:off x="4307738" y="2194560"/>
            <a:ext cx="3576218" cy="2011680"/>
          </a:xfrm>
          <a:prstGeom prst="rect">
            <a:avLst/>
          </a:prstGeom>
          <a:solidFill>
            <a:srgbClr val="FFFFFF"/>
          </a:solidFill>
          <a:ln w="9525">
            <a:solidFill>
              <a:srgbClr val="CBBFA3"/>
            </a:solidFill>
            <a:prstDash val="solid"/>
          </a:ln>
        </p:spPr>
      </p:sp>
      <p:sp>
        <p:nvSpPr>
          <p:cNvPr id="14" name="Text 12"/>
          <p:cNvSpPr/>
          <p:nvPr/>
        </p:nvSpPr>
        <p:spPr>
          <a:xfrm>
            <a:off x="4490618"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SEMI-DECIDÍVEL</a:t>
            </a:r>
            <a:endParaRPr lang="en-US" sz="900" dirty="0"/>
          </a:p>
        </p:txBody>
      </p:sp>
      <p:sp>
        <p:nvSpPr>
          <p:cNvPr id="15" name="Text 13"/>
          <p:cNvSpPr/>
          <p:nvPr/>
        </p:nvSpPr>
        <p:spPr>
          <a:xfrm>
            <a:off x="4490618"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Se válida</a:t>
            </a:r>
            <a:endParaRPr lang="en-US" sz="1800" dirty="0"/>
          </a:p>
        </p:txBody>
      </p:sp>
      <p:sp>
        <p:nvSpPr>
          <p:cNvPr id="16" name="Text 14"/>
          <p:cNvSpPr/>
          <p:nvPr/>
        </p:nvSpPr>
        <p:spPr>
          <a:xfrm>
            <a:off x="4490618"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Existe procedimento que termina.</a:t>
            </a:r>
            <a:endParaRPr lang="en-US" sz="1300" dirty="0"/>
          </a:p>
        </p:txBody>
      </p:sp>
      <p:sp>
        <p:nvSpPr>
          <p:cNvPr id="17" name="Shape 15"/>
          <p:cNvSpPr/>
          <p:nvPr/>
        </p:nvSpPr>
        <p:spPr>
          <a:xfrm>
            <a:off x="8112557" y="2194560"/>
            <a:ext cx="3576218" cy="2011680"/>
          </a:xfrm>
          <a:prstGeom prst="rect">
            <a:avLst/>
          </a:prstGeom>
          <a:solidFill>
            <a:srgbClr val="FFFFFF"/>
          </a:solidFill>
          <a:ln w="9525">
            <a:solidFill>
              <a:srgbClr val="CBBFA3"/>
            </a:solidFill>
            <a:prstDash val="solid"/>
          </a:ln>
        </p:spPr>
      </p:sp>
      <p:sp>
        <p:nvSpPr>
          <p:cNvPr id="18" name="Text 16"/>
          <p:cNvSpPr/>
          <p:nvPr/>
        </p:nvSpPr>
        <p:spPr>
          <a:xfrm>
            <a:off x="8295437"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NÃO-VALIDADE</a:t>
            </a:r>
            <a:endParaRPr lang="en-US" sz="900" dirty="0"/>
          </a:p>
        </p:txBody>
      </p:sp>
      <p:sp>
        <p:nvSpPr>
          <p:cNvPr id="19" name="Text 17"/>
          <p:cNvSpPr/>
          <p:nvPr/>
        </p:nvSpPr>
        <p:spPr>
          <a:xfrm>
            <a:off x="8295437"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Pode rodar ∞</a:t>
            </a:r>
            <a:endParaRPr lang="en-US" sz="1800" dirty="0"/>
          </a:p>
        </p:txBody>
      </p:sp>
      <p:sp>
        <p:nvSpPr>
          <p:cNvPr id="20" name="Text 18"/>
          <p:cNvSpPr/>
          <p:nvPr/>
        </p:nvSpPr>
        <p:spPr>
          <a:xfrm>
            <a:off x="8295437"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Sem garantia de detectar.</a:t>
            </a:r>
            <a:endParaRPr lang="en-US" sz="13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6">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12 / 13</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NA PRÁTICA</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5 · Validação, Modelos e Provas Relacionais</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Validar restrições em uma base</a:t>
            </a:r>
            <a:endParaRPr lang="en-US" sz="3600" dirty="0"/>
          </a:p>
        </p:txBody>
      </p:sp>
      <p:sp>
        <p:nvSpPr>
          <p:cNvPr id="9" name="Shape 7"/>
          <p:cNvSpPr/>
          <p:nvPr/>
        </p:nvSpPr>
        <p:spPr>
          <a:xfrm>
            <a:off x="502920" y="1828800"/>
            <a:ext cx="11185855" cy="4206240"/>
          </a:xfrm>
          <a:prstGeom prst="rect">
            <a:avLst/>
          </a:prstGeom>
          <a:solidFill>
            <a:srgbClr val="1A2238"/>
          </a:solidFill>
          <a:ln w="12700">
            <a:solidFill>
              <a:srgbClr val="2A3550"/>
            </a:solidFill>
            <a:prstDash val="solid"/>
          </a:ln>
        </p:spPr>
      </p:sp>
      <p:sp>
        <p:nvSpPr>
          <p:cNvPr id="10" name="Shape 8"/>
          <p:cNvSpPr/>
          <p:nvPr/>
        </p:nvSpPr>
        <p:spPr>
          <a:xfrm>
            <a:off x="502920" y="1828800"/>
            <a:ext cx="64008" cy="4206240"/>
          </a:xfrm>
          <a:prstGeom prst="rect">
            <a:avLst/>
          </a:prstGeom>
          <a:solidFill>
            <a:srgbClr val="E07A1F"/>
          </a:solidFill>
          <a:ln w="12700">
            <a:solidFill>
              <a:srgbClr val="E07A1F"/>
            </a:solidFill>
            <a:prstDash val="solid"/>
          </a:ln>
        </p:spPr>
      </p:sp>
      <p:sp>
        <p:nvSpPr>
          <p:cNvPr id="11" name="Text 9"/>
          <p:cNvSpPr/>
          <p:nvPr/>
        </p:nvSpPr>
        <p:spPr>
          <a:xfrm>
            <a:off x="731520" y="1920240"/>
            <a:ext cx="10820095" cy="4023360"/>
          </a:xfrm>
          <a:prstGeom prst="rect">
            <a:avLst/>
          </a:prstGeom>
          <a:noFill/>
          <a:ln/>
        </p:spPr>
        <p:txBody>
          <a:bodyPr wrap="square" rtlCol="0" anchor="t"/>
          <a:lstStyle/>
          <a:p>
            <a:pPr marL="0" indent="0">
              <a:buNone/>
            </a:pPr>
            <a:r>
              <a:rPr lang="en-US" sz="1400" dirty="0">
                <a:solidFill>
                  <a:srgbClr val="F7F2E8"/>
                </a:solidFill>
                <a:latin typeface="Consolas" pitchFamily="34" charset="0"/>
                <a:ea typeface="Consolas" pitchFamily="34" charset="-122"/>
                <a:cs typeface="Consolas" pitchFamily="34" charset="-120"/>
              </a:rPr>
              <a:t># Restrição: todo aluno tem matrícula em pelo menos um curso.</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restricao = ('forall', 'x',</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('imp',</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('pred', 'Aluno', ['x']),</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('exists', 'y', ('pred', 'Matricula', ['x', 'y']))))</a:t>
            </a:r>
            <a:endParaRPr lang="en-US" sz="1400" dirty="0"/>
          </a:p>
          <a:p>
            <a:pPr marL="0" indent="0">
              <a:buNone/>
            </a:pP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Se eval_fol(restricao, modelo, {}) == False:</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há aluno sem matrícula  →  violação de integridade.</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Esta é a essência do que ferramentas como Alloy e</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verificadores de schema fazem.</a:t>
            </a:r>
            <a:endParaRPr lang="en-US" sz="14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7">
    <p:bg>
      <p:bgPr>
        <a:solidFill>
          <a:srgbClr val="1A223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Shape 1"/>
          <p:cNvSpPr/>
          <p:nvPr/>
        </p:nvSpPr>
        <p:spPr>
          <a:xfrm>
            <a:off x="4952848" y="1371600"/>
            <a:ext cx="2286000" cy="411480"/>
          </a:xfrm>
          <a:prstGeom prst="roundRect">
            <a:avLst>
              <a:gd name="adj" fmla="val 48889"/>
            </a:avLst>
          </a:prstGeom>
          <a:solidFill>
            <a:srgbClr val="E07A1F"/>
          </a:solidFill>
          <a:ln w="12700">
            <a:solidFill>
              <a:srgbClr val="E07A1F"/>
            </a:solidFill>
            <a:prstDash val="solid"/>
          </a:ln>
        </p:spPr>
      </p:sp>
      <p:sp>
        <p:nvSpPr>
          <p:cNvPr id="4" name="Text 2"/>
          <p:cNvSpPr/>
          <p:nvPr/>
        </p:nvSpPr>
        <p:spPr>
          <a:xfrm>
            <a:off x="4952848" y="1371600"/>
            <a:ext cx="2286000" cy="411480"/>
          </a:xfrm>
          <a:prstGeom prst="rect">
            <a:avLst/>
          </a:prstGeom>
          <a:noFill/>
          <a:ln/>
        </p:spPr>
        <p:txBody>
          <a:bodyPr wrap="square" rtlCol="0" anchor="ctr"/>
          <a:lstStyle/>
          <a:p>
            <a:pPr marL="0" indent="0" algn="ctr">
              <a:buNone/>
            </a:pPr>
            <a:r>
              <a:rPr lang="en-US" sz="1200" b="1" kern="0" spc="400" dirty="0">
                <a:solidFill>
                  <a:srgbClr val="FFFFFF"/>
                </a:solidFill>
                <a:latin typeface="Source Sans 3" pitchFamily="34" charset="0"/>
                <a:ea typeface="Source Sans 3" pitchFamily="34" charset="-122"/>
                <a:cs typeface="Source Sans 3" pitchFamily="34" charset="-120"/>
              </a:rPr>
              <a:t>FIM DO CAPÍTULO 5</a:t>
            </a:r>
            <a:endParaRPr lang="en-US" sz="1200" dirty="0"/>
          </a:p>
        </p:txBody>
      </p:sp>
      <p:sp>
        <p:nvSpPr>
          <p:cNvPr id="5" name="Text 3"/>
          <p:cNvSpPr/>
          <p:nvPr/>
        </p:nvSpPr>
        <p:spPr>
          <a:xfrm>
            <a:off x="502920" y="2103120"/>
            <a:ext cx="11185855" cy="1371600"/>
          </a:xfrm>
          <a:prstGeom prst="rect">
            <a:avLst/>
          </a:prstGeom>
          <a:noFill/>
          <a:ln/>
        </p:spPr>
        <p:txBody>
          <a:bodyPr wrap="square" rtlCol="0" anchor="ctr"/>
          <a:lstStyle/>
          <a:p>
            <a:pPr marL="0" indent="0" algn="ctr">
              <a:buNone/>
            </a:pPr>
            <a:r>
              <a:rPr lang="en-US" sz="4400" b="1" dirty="0">
                <a:solidFill>
                  <a:srgbClr val="F7F2E8"/>
                </a:solidFill>
                <a:latin typeface="Playfair Display" pitchFamily="34" charset="0"/>
                <a:ea typeface="Playfair Display" pitchFamily="34" charset="-122"/>
                <a:cs typeface="Playfair Display" pitchFamily="34" charset="-120"/>
              </a:rPr>
              <a:t>Provar e verificar em primeira ordem</a:t>
            </a:r>
            <a:endParaRPr lang="en-US" sz="4400" dirty="0"/>
          </a:p>
        </p:txBody>
      </p:sp>
      <p:sp>
        <p:nvSpPr>
          <p:cNvPr id="6" name="Text 4"/>
          <p:cNvSpPr/>
          <p:nvPr/>
        </p:nvSpPr>
        <p:spPr>
          <a:xfrm>
            <a:off x="1371600" y="3840480"/>
            <a:ext cx="9448495" cy="1371600"/>
          </a:xfrm>
          <a:prstGeom prst="rect">
            <a:avLst/>
          </a:prstGeom>
          <a:noFill/>
          <a:ln/>
        </p:spPr>
        <p:txBody>
          <a:bodyPr wrap="square" rtlCol="0" anchor="ctr"/>
          <a:lstStyle/>
          <a:p>
            <a:pPr marL="0" indent="0" algn="ctr">
              <a:buNone/>
            </a:pPr>
            <a:r>
              <a:rPr lang="en-US" sz="1800" i="1" dirty="0">
                <a:solidFill>
                  <a:srgbClr val="CBBFA3"/>
                </a:solidFill>
                <a:latin typeface="Merriweather" pitchFamily="34" charset="0"/>
                <a:ea typeface="Merriweather" pitchFamily="34" charset="-122"/>
                <a:cs typeface="Merriweather" pitchFamily="34" charset="-120"/>
              </a:rPr>
              <a:t>Modelos validam contextualmente; provas garantem universalmente. Juntos, dão fundamento ao raciocínio formal aplicado.</a:t>
            </a:r>
            <a:endParaRPr lang="en-US" sz="18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8">
    <p:bg>
      <p:bgPr>
        <a:solidFill>
          <a:srgbClr val="1A223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A3550"/>
          </a:solidFill>
          <a:ln w="12700">
            <a:solidFill>
              <a:srgbClr val="2A3550"/>
            </a:solidFill>
            <a:prstDash val="solid"/>
          </a:ln>
        </p:spPr>
        <p:txBody>
          <a:bodyPr/>
          <a:lstStyle/>
          <a:p>
            <a:endParaRPr lang="pt-BR" dirty="0"/>
          </a:p>
        </p:txBody>
      </p:sp>
      <p:sp>
        <p:nvSpPr>
          <p:cNvPr id="3" name="Shape 1"/>
          <p:cNvSpPr/>
          <p:nvPr/>
        </p:nvSpPr>
        <p:spPr>
          <a:xfrm>
            <a:off x="0" y="0"/>
            <a:ext cx="164592" cy="6858000"/>
          </a:xfrm>
          <a:prstGeom prst="rect">
            <a:avLst/>
          </a:prstGeom>
          <a:solidFill>
            <a:srgbClr val="E07A1F"/>
          </a:solidFill>
          <a:ln w="12700">
            <a:solidFill>
              <a:srgbClr val="E07A1F"/>
            </a:solidFill>
            <a:prstDash val="solid"/>
          </a:ln>
        </p:spPr>
      </p:sp>
      <p:sp>
        <p:nvSpPr>
          <p:cNvPr id="4" name="Text 2"/>
          <p:cNvSpPr/>
          <p:nvPr/>
        </p:nvSpPr>
        <p:spPr>
          <a:xfrm>
            <a:off x="9905695" y="228600"/>
            <a:ext cx="2011680" cy="274320"/>
          </a:xfrm>
          <a:prstGeom prst="rect">
            <a:avLst/>
          </a:prstGeom>
          <a:noFill/>
          <a:ln/>
        </p:spPr>
        <p:txBody>
          <a:bodyPr wrap="square" rtlCol="0" anchor="ctr"/>
          <a:lstStyle/>
          <a:p>
            <a:pPr marL="0" indent="0" algn="r">
              <a:buNone/>
            </a:pPr>
            <a:r>
              <a:rPr lang="en-US" sz="1100" b="1" kern="0" spc="400" dirty="0">
                <a:solidFill>
                  <a:srgbClr val="F3A96B"/>
                </a:solidFill>
                <a:latin typeface="Playfair Display" pitchFamily="34" charset="0"/>
                <a:ea typeface="Playfair Display" pitchFamily="34" charset="-122"/>
                <a:cs typeface="Playfair Display" pitchFamily="34" charset="-120"/>
              </a:rPr>
              <a:t>CAP. 06 · 01/10</a:t>
            </a:r>
            <a:endParaRPr lang="en-US" sz="1100" dirty="0"/>
          </a:p>
        </p:txBody>
      </p:sp>
      <p:sp>
        <p:nvSpPr>
          <p:cNvPr id="5" name="Text 3"/>
          <p:cNvSpPr/>
          <p:nvPr/>
        </p:nvSpPr>
        <p:spPr>
          <a:xfrm>
            <a:off x="502920" y="1371600"/>
            <a:ext cx="11185855" cy="365760"/>
          </a:xfrm>
          <a:prstGeom prst="rect">
            <a:avLst/>
          </a:prstGeom>
          <a:noFill/>
          <a:ln/>
        </p:spPr>
        <p:txBody>
          <a:bodyPr wrap="square" rtlCol="0" anchor="ctr"/>
          <a:lstStyle/>
          <a:p>
            <a:pPr marL="0" indent="0">
              <a:buNone/>
            </a:pPr>
            <a:r>
              <a:rPr lang="en-US" sz="1100" b="1" kern="0" spc="600" dirty="0">
                <a:solidFill>
                  <a:srgbClr val="F3A96B"/>
                </a:solidFill>
                <a:latin typeface="Source Sans 3" pitchFamily="34" charset="0"/>
                <a:ea typeface="Source Sans 3" pitchFamily="34" charset="-122"/>
                <a:cs typeface="Source Sans 3" pitchFamily="34" charset="-120"/>
              </a:rPr>
              <a:t>FUNDAMENTOS DE LÓGICA APLICADA À CIÊNCIA DE DADOS</a:t>
            </a:r>
            <a:endParaRPr lang="en-US" sz="1100" dirty="0"/>
          </a:p>
        </p:txBody>
      </p:sp>
      <p:sp>
        <p:nvSpPr>
          <p:cNvPr id="6" name="Text 4"/>
          <p:cNvSpPr/>
          <p:nvPr/>
        </p:nvSpPr>
        <p:spPr>
          <a:xfrm>
            <a:off x="502920" y="1828800"/>
            <a:ext cx="11185855" cy="2286000"/>
          </a:xfrm>
          <a:prstGeom prst="rect">
            <a:avLst/>
          </a:prstGeom>
          <a:noFill/>
          <a:ln/>
        </p:spPr>
        <p:txBody>
          <a:bodyPr wrap="square" rtlCol="0" anchor="ctr"/>
          <a:lstStyle/>
          <a:p>
            <a:pPr marL="0" indent="0">
              <a:buNone/>
            </a:pPr>
            <a:r>
              <a:rPr lang="en-US" sz="6000" b="1" dirty="0">
                <a:solidFill>
                  <a:srgbClr val="F7F2E8"/>
                </a:solidFill>
                <a:latin typeface="Playfair Display" pitchFamily="34" charset="0"/>
                <a:ea typeface="Playfair Display" pitchFamily="34" charset="-122"/>
                <a:cs typeface="Playfair Display" pitchFamily="34" charset="-120"/>
              </a:rPr>
              <a:t>Resolução e</a:t>
            </a:r>
            <a:endParaRPr lang="en-US" sz="6000" dirty="0"/>
          </a:p>
          <a:p>
            <a:pPr marL="0" indent="0">
              <a:buNone/>
            </a:pPr>
            <a:r>
              <a:rPr lang="en-US" sz="6000" b="1" dirty="0">
                <a:solidFill>
                  <a:srgbClr val="F7F2E8"/>
                </a:solidFill>
                <a:latin typeface="Playfair Display" pitchFamily="34" charset="0"/>
                <a:ea typeface="Playfair Display" pitchFamily="34" charset="-122"/>
                <a:cs typeface="Playfair Display" pitchFamily="34" charset="-120"/>
              </a:rPr>
              <a:t>Refutação</a:t>
            </a:r>
            <a:endParaRPr lang="en-US" sz="6000" dirty="0"/>
          </a:p>
        </p:txBody>
      </p:sp>
      <p:sp>
        <p:nvSpPr>
          <p:cNvPr id="7" name="Text 5"/>
          <p:cNvSpPr/>
          <p:nvPr/>
        </p:nvSpPr>
        <p:spPr>
          <a:xfrm>
            <a:off x="502920" y="4297680"/>
            <a:ext cx="11185855" cy="914400"/>
          </a:xfrm>
          <a:prstGeom prst="rect">
            <a:avLst/>
          </a:prstGeom>
          <a:noFill/>
          <a:ln/>
        </p:spPr>
        <p:txBody>
          <a:bodyPr wrap="square" rtlCol="0" anchor="ctr"/>
          <a:lstStyle/>
          <a:p>
            <a:pPr marL="0" indent="0">
              <a:buNone/>
            </a:pPr>
            <a:r>
              <a:rPr lang="en-US" sz="1800" i="1" dirty="0">
                <a:solidFill>
                  <a:srgbClr val="CBBFA3"/>
                </a:solidFill>
                <a:latin typeface="Merriweather" pitchFamily="34" charset="0"/>
                <a:ea typeface="Merriweather" pitchFamily="34" charset="-122"/>
                <a:cs typeface="Merriweather" pitchFamily="34" charset="-120"/>
              </a:rPr>
              <a:t>A técnica que tornou a prova automática viável</a:t>
            </a:r>
            <a:endParaRPr lang="en-US" sz="1800" dirty="0"/>
          </a:p>
        </p:txBody>
      </p:sp>
      <p:sp>
        <p:nvSpPr>
          <p:cNvPr id="8" name="Shape 6"/>
          <p:cNvSpPr/>
          <p:nvPr/>
        </p:nvSpPr>
        <p:spPr>
          <a:xfrm>
            <a:off x="502920" y="6446520"/>
            <a:ext cx="11185855" cy="0"/>
          </a:xfrm>
          <a:prstGeom prst="line">
            <a:avLst/>
          </a:prstGeom>
          <a:noFill/>
          <a:ln w="6350">
            <a:solidFill>
              <a:srgbClr val="4B5563"/>
            </a:solidFill>
            <a:prstDash val="solid"/>
          </a:ln>
        </p:spPr>
      </p:sp>
      <p:sp>
        <p:nvSpPr>
          <p:cNvPr id="9" name="Text 7"/>
          <p:cNvSpPr/>
          <p:nvPr/>
        </p:nvSpPr>
        <p:spPr>
          <a:xfrm>
            <a:off x="502920" y="6492240"/>
            <a:ext cx="11185855" cy="274320"/>
          </a:xfrm>
          <a:prstGeom prst="rect">
            <a:avLst/>
          </a:prstGeom>
          <a:noFill/>
          <a:ln/>
        </p:spPr>
        <p:txBody>
          <a:bodyPr wrap="square" rtlCol="0" anchor="ctr"/>
          <a:lstStyle/>
          <a:p>
            <a:r>
              <a:rPr lang="en-US" sz="900" b="1" kern="0" spc="300" dirty="0">
                <a:solidFill>
                  <a:srgbClr val="9CA3AF"/>
                </a:solidFill>
                <a:latin typeface="Source Sans 3" pitchFamily="34" charset="0"/>
                <a:ea typeface="Source Sans 3" pitchFamily="34" charset="-122"/>
                <a:cs typeface="Source Sans 3" pitchFamily="34" charset="-120"/>
              </a:rPr>
              <a:t>ALICCE · Helena Reis &amp; Anderson Marcolino</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89">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02 / 10</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IDEIA CENTRAL</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6 · Resolução e Prova por Refutação</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Provar = derivar a cláusula vazia</a:t>
            </a:r>
            <a:endParaRPr lang="en-US" sz="3600" dirty="0"/>
          </a:p>
        </p:txBody>
      </p:sp>
      <p:sp>
        <p:nvSpPr>
          <p:cNvPr id="9" name="Text 7"/>
          <p:cNvSpPr/>
          <p:nvPr/>
        </p:nvSpPr>
        <p:spPr>
          <a:xfrm>
            <a:off x="502920" y="1554480"/>
            <a:ext cx="11185855" cy="457200"/>
          </a:xfrm>
          <a:prstGeom prst="rect">
            <a:avLst/>
          </a:prstGeom>
          <a:noFill/>
          <a:ln/>
        </p:spPr>
        <p:txBody>
          <a:bodyPr wrap="square" rtlCol="0" anchor="ctr"/>
          <a:lstStyle/>
          <a:p>
            <a:pPr marL="0" indent="0">
              <a:buNone/>
            </a:pPr>
            <a:r>
              <a:rPr lang="en-US" sz="1600" i="1" dirty="0">
                <a:solidFill>
                  <a:srgbClr val="2A3550"/>
                </a:solidFill>
                <a:latin typeface="Merriweather" pitchFamily="34" charset="0"/>
                <a:ea typeface="Merriweather" pitchFamily="34" charset="-122"/>
                <a:cs typeface="Merriweather" pitchFamily="34" charset="-120"/>
              </a:rPr>
              <a:t>Negue a conclusão · derive ⊥ · está provado</a:t>
            </a:r>
            <a:endParaRPr lang="en-US" sz="16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0">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03 / 10</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FORMA CLAUSAL</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6 · Resolução e Prova por Refutação</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Tudo vira conjunção de cláusulas</a:t>
            </a:r>
            <a:endParaRPr lang="en-US" sz="3600" dirty="0"/>
          </a:p>
        </p:txBody>
      </p:sp>
      <p:sp>
        <p:nvSpPr>
          <p:cNvPr id="9" name="Shape 7"/>
          <p:cNvSpPr/>
          <p:nvPr/>
        </p:nvSpPr>
        <p:spPr>
          <a:xfrm>
            <a:off x="502920" y="2194560"/>
            <a:ext cx="3576218" cy="2011680"/>
          </a:xfrm>
          <a:prstGeom prst="rect">
            <a:avLst/>
          </a:prstGeom>
          <a:solidFill>
            <a:srgbClr val="FFFFFF"/>
          </a:solidFill>
          <a:ln w="9525">
            <a:solidFill>
              <a:srgbClr val="CBBFA3"/>
            </a:solidFill>
            <a:prstDash val="solid"/>
          </a:ln>
        </p:spPr>
      </p:sp>
      <p:sp>
        <p:nvSpPr>
          <p:cNvPr id="10" name="Text 8"/>
          <p:cNvSpPr/>
          <p:nvPr/>
        </p:nvSpPr>
        <p:spPr>
          <a:xfrm>
            <a:off x="685800"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LITERAL</a:t>
            </a:r>
            <a:endParaRPr lang="en-US" sz="900" dirty="0"/>
          </a:p>
        </p:txBody>
      </p:sp>
      <p:sp>
        <p:nvSpPr>
          <p:cNvPr id="11" name="Text 9"/>
          <p:cNvSpPr/>
          <p:nvPr/>
        </p:nvSpPr>
        <p:spPr>
          <a:xfrm>
            <a:off x="685800"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p, ¬q</a:t>
            </a:r>
            <a:endParaRPr lang="en-US" sz="1800" dirty="0"/>
          </a:p>
        </p:txBody>
      </p:sp>
      <p:sp>
        <p:nvSpPr>
          <p:cNvPr id="12" name="Text 10"/>
          <p:cNvSpPr/>
          <p:nvPr/>
        </p:nvSpPr>
        <p:spPr>
          <a:xfrm>
            <a:off x="685800"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Átomo ou negação de átomo.</a:t>
            </a:r>
            <a:endParaRPr lang="en-US" sz="1300" dirty="0"/>
          </a:p>
        </p:txBody>
      </p:sp>
      <p:sp>
        <p:nvSpPr>
          <p:cNvPr id="13" name="Shape 11"/>
          <p:cNvSpPr/>
          <p:nvPr/>
        </p:nvSpPr>
        <p:spPr>
          <a:xfrm>
            <a:off x="4307738" y="2194560"/>
            <a:ext cx="3576218" cy="2011680"/>
          </a:xfrm>
          <a:prstGeom prst="rect">
            <a:avLst/>
          </a:prstGeom>
          <a:solidFill>
            <a:srgbClr val="FFFFFF"/>
          </a:solidFill>
          <a:ln w="9525">
            <a:solidFill>
              <a:srgbClr val="CBBFA3"/>
            </a:solidFill>
            <a:prstDash val="solid"/>
          </a:ln>
        </p:spPr>
      </p:sp>
      <p:sp>
        <p:nvSpPr>
          <p:cNvPr id="14" name="Text 12"/>
          <p:cNvSpPr/>
          <p:nvPr/>
        </p:nvSpPr>
        <p:spPr>
          <a:xfrm>
            <a:off x="4490618"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CLÁUSULA</a:t>
            </a:r>
            <a:endParaRPr lang="en-US" sz="900" dirty="0"/>
          </a:p>
        </p:txBody>
      </p:sp>
      <p:sp>
        <p:nvSpPr>
          <p:cNvPr id="15" name="Text 13"/>
          <p:cNvSpPr/>
          <p:nvPr/>
        </p:nvSpPr>
        <p:spPr>
          <a:xfrm>
            <a:off x="4490618"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p ∨ ¬q ∨ r</a:t>
            </a:r>
            <a:endParaRPr lang="en-US" sz="1800" dirty="0"/>
          </a:p>
        </p:txBody>
      </p:sp>
      <p:sp>
        <p:nvSpPr>
          <p:cNvPr id="16" name="Text 14"/>
          <p:cNvSpPr/>
          <p:nvPr/>
        </p:nvSpPr>
        <p:spPr>
          <a:xfrm>
            <a:off x="4490618"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Disjunção de literais.</a:t>
            </a:r>
            <a:endParaRPr lang="en-US" sz="1300" dirty="0"/>
          </a:p>
        </p:txBody>
      </p:sp>
      <p:sp>
        <p:nvSpPr>
          <p:cNvPr id="17" name="Shape 15"/>
          <p:cNvSpPr/>
          <p:nvPr/>
        </p:nvSpPr>
        <p:spPr>
          <a:xfrm>
            <a:off x="8112557" y="2194560"/>
            <a:ext cx="3576218" cy="2011680"/>
          </a:xfrm>
          <a:prstGeom prst="rect">
            <a:avLst/>
          </a:prstGeom>
          <a:solidFill>
            <a:srgbClr val="FFFFFF"/>
          </a:solidFill>
          <a:ln w="9525">
            <a:solidFill>
              <a:srgbClr val="CBBFA3"/>
            </a:solidFill>
            <a:prstDash val="solid"/>
          </a:ln>
        </p:spPr>
      </p:sp>
      <p:sp>
        <p:nvSpPr>
          <p:cNvPr id="18" name="Text 16"/>
          <p:cNvSpPr/>
          <p:nvPr/>
        </p:nvSpPr>
        <p:spPr>
          <a:xfrm>
            <a:off x="8295437"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CNF</a:t>
            </a:r>
            <a:endParaRPr lang="en-US" sz="900" dirty="0"/>
          </a:p>
        </p:txBody>
      </p:sp>
      <p:sp>
        <p:nvSpPr>
          <p:cNvPr id="19" name="Text 17"/>
          <p:cNvSpPr/>
          <p:nvPr/>
        </p:nvSpPr>
        <p:spPr>
          <a:xfrm>
            <a:off x="8295437"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C₁ ∧ C₂ ∧ …</a:t>
            </a:r>
            <a:endParaRPr lang="en-US" sz="1800" dirty="0"/>
          </a:p>
        </p:txBody>
      </p:sp>
      <p:sp>
        <p:nvSpPr>
          <p:cNvPr id="20" name="Text 18"/>
          <p:cNvSpPr/>
          <p:nvPr/>
        </p:nvSpPr>
        <p:spPr>
          <a:xfrm>
            <a:off x="8295437"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Conjunção de cláusulas.</a:t>
            </a:r>
            <a:endParaRPr lang="en-US" sz="13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1">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04 / 10</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REGRA ÚNICA</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6 · Resolução e Prova por Refutação</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Resolução</a:t>
            </a:r>
            <a:endParaRPr lang="en-US" sz="3600" dirty="0"/>
          </a:p>
        </p:txBody>
      </p:sp>
      <p:sp>
        <p:nvSpPr>
          <p:cNvPr id="9" name="Shape 7"/>
          <p:cNvSpPr/>
          <p:nvPr/>
        </p:nvSpPr>
        <p:spPr>
          <a:xfrm>
            <a:off x="1981048" y="2377440"/>
            <a:ext cx="8229600" cy="1828800"/>
          </a:xfrm>
          <a:prstGeom prst="rect">
            <a:avLst/>
          </a:prstGeom>
          <a:solidFill>
            <a:srgbClr val="FFFFFF"/>
          </a:solidFill>
          <a:ln w="12700">
            <a:solidFill>
              <a:srgbClr val="CBBFA3"/>
            </a:solidFill>
            <a:prstDash val="solid"/>
          </a:ln>
        </p:spPr>
      </p:sp>
      <p:sp>
        <p:nvSpPr>
          <p:cNvPr id="10" name="Shape 8"/>
          <p:cNvSpPr/>
          <p:nvPr/>
        </p:nvSpPr>
        <p:spPr>
          <a:xfrm>
            <a:off x="1981048" y="2377440"/>
            <a:ext cx="64008" cy="1828800"/>
          </a:xfrm>
          <a:prstGeom prst="rect">
            <a:avLst/>
          </a:prstGeom>
          <a:solidFill>
            <a:srgbClr val="E07A1F"/>
          </a:solidFill>
          <a:ln w="12700">
            <a:solidFill>
              <a:srgbClr val="E07A1F"/>
            </a:solidFill>
            <a:prstDash val="solid"/>
          </a:ln>
        </p:spPr>
      </p:sp>
      <p:sp>
        <p:nvSpPr>
          <p:cNvPr id="11" name="Text 9"/>
          <p:cNvSpPr/>
          <p:nvPr/>
        </p:nvSpPr>
        <p:spPr>
          <a:xfrm>
            <a:off x="2163928" y="2377440"/>
            <a:ext cx="7955280" cy="1828800"/>
          </a:xfrm>
          <a:prstGeom prst="rect">
            <a:avLst/>
          </a:prstGeom>
          <a:noFill/>
          <a:ln/>
        </p:spPr>
        <p:txBody>
          <a:bodyPr wrap="square" rtlCol="0" anchor="ctr"/>
          <a:lstStyle/>
          <a:p>
            <a:pPr marL="0" indent="0" algn="ctr">
              <a:buNone/>
            </a:pPr>
            <a:r>
              <a:rPr lang="en-US" sz="2200" dirty="0">
                <a:solidFill>
                  <a:srgbClr val="1A2238"/>
                </a:solidFill>
                <a:latin typeface="Cambria" pitchFamily="34" charset="0"/>
                <a:ea typeface="Cambria" pitchFamily="34" charset="-122"/>
                <a:cs typeface="Cambria" pitchFamily="34" charset="-120"/>
              </a:rPr>
              <a:t>C₁ ∨ p        C₂ ∨ ¬p</a:t>
            </a:r>
            <a:endParaRPr lang="en-US" sz="2200" dirty="0"/>
          </a:p>
          <a:p>
            <a:pPr marL="0" indent="0" algn="ctr">
              <a:buNone/>
            </a:pPr>
            <a:r>
              <a:rPr lang="en-US" sz="2200" dirty="0">
                <a:solidFill>
                  <a:srgbClr val="1A2238"/>
                </a:solidFill>
                <a:latin typeface="Cambria" pitchFamily="34" charset="0"/>
                <a:ea typeface="Cambria" pitchFamily="34" charset="-122"/>
                <a:cs typeface="Cambria" pitchFamily="34" charset="-120"/>
              </a:rPr>
              <a:t>———————————————</a:t>
            </a:r>
            <a:endParaRPr lang="en-US" sz="2200" dirty="0"/>
          </a:p>
          <a:p>
            <a:pPr marL="0" indent="0" algn="ctr">
              <a:buNone/>
            </a:pPr>
            <a:r>
              <a:rPr lang="en-US" sz="2200" dirty="0">
                <a:solidFill>
                  <a:srgbClr val="1A2238"/>
                </a:solidFill>
                <a:latin typeface="Cambria" pitchFamily="34" charset="0"/>
                <a:ea typeface="Cambria" pitchFamily="34" charset="-122"/>
                <a:cs typeface="Cambria" pitchFamily="34" charset="-120"/>
              </a:rPr>
              <a:t>        C₁ ∨ C₂</a:t>
            </a:r>
            <a:endParaRPr lang="en-US" sz="2200" dirty="0"/>
          </a:p>
        </p:txBody>
      </p:sp>
      <p:sp>
        <p:nvSpPr>
          <p:cNvPr id="12" name="Text 10"/>
          <p:cNvSpPr/>
          <p:nvPr/>
        </p:nvSpPr>
        <p:spPr>
          <a:xfrm>
            <a:off x="502920" y="4297680"/>
            <a:ext cx="11185855" cy="365760"/>
          </a:xfrm>
          <a:prstGeom prst="rect">
            <a:avLst/>
          </a:prstGeom>
          <a:noFill/>
          <a:ln/>
        </p:spPr>
        <p:txBody>
          <a:bodyPr wrap="square" rtlCol="0" anchor="ctr"/>
          <a:lstStyle/>
          <a:p>
            <a:pPr marL="0" indent="0" algn="ctr">
              <a:buNone/>
            </a:pPr>
            <a:r>
              <a:rPr lang="en-US" sz="1200" i="1" dirty="0">
                <a:solidFill>
                  <a:srgbClr val="6B6452"/>
                </a:solidFill>
                <a:latin typeface="Source Sans 3" pitchFamily="34" charset="0"/>
                <a:ea typeface="Source Sans 3" pitchFamily="34" charset="-122"/>
                <a:cs typeface="Source Sans 3" pitchFamily="34" charset="-120"/>
              </a:rPr>
              <a:t>Cancelar literais opostos · juntar o que sobra.</a:t>
            </a:r>
            <a:endParaRPr lang="en-US" sz="12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2">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05 / 10</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EXEMPLO PROPOSICIONAL</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6 · Resolução e Prova por Refutação</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Refutar {p, ¬p ∨ q, ¬q}</a:t>
            </a:r>
            <a:endParaRPr lang="en-US" sz="3600" dirty="0"/>
          </a:p>
        </p:txBody>
      </p:sp>
      <p:sp>
        <p:nvSpPr>
          <p:cNvPr id="9" name="Shape 7"/>
          <p:cNvSpPr/>
          <p:nvPr/>
        </p:nvSpPr>
        <p:spPr>
          <a:xfrm>
            <a:off x="502920" y="1828800"/>
            <a:ext cx="11185855" cy="4206240"/>
          </a:xfrm>
          <a:prstGeom prst="rect">
            <a:avLst/>
          </a:prstGeom>
          <a:solidFill>
            <a:srgbClr val="1A2238"/>
          </a:solidFill>
          <a:ln w="12700">
            <a:solidFill>
              <a:srgbClr val="2A3550"/>
            </a:solidFill>
            <a:prstDash val="solid"/>
          </a:ln>
        </p:spPr>
      </p:sp>
      <p:sp>
        <p:nvSpPr>
          <p:cNvPr id="10" name="Shape 8"/>
          <p:cNvSpPr/>
          <p:nvPr/>
        </p:nvSpPr>
        <p:spPr>
          <a:xfrm>
            <a:off x="502920" y="1828800"/>
            <a:ext cx="64008" cy="4206240"/>
          </a:xfrm>
          <a:prstGeom prst="rect">
            <a:avLst/>
          </a:prstGeom>
          <a:solidFill>
            <a:srgbClr val="E07A1F"/>
          </a:solidFill>
          <a:ln w="12700">
            <a:solidFill>
              <a:srgbClr val="E07A1F"/>
            </a:solidFill>
            <a:prstDash val="solid"/>
          </a:ln>
        </p:spPr>
      </p:sp>
      <p:sp>
        <p:nvSpPr>
          <p:cNvPr id="11" name="Text 9"/>
          <p:cNvSpPr/>
          <p:nvPr/>
        </p:nvSpPr>
        <p:spPr>
          <a:xfrm>
            <a:off x="731520" y="1920240"/>
            <a:ext cx="10820095" cy="4023360"/>
          </a:xfrm>
          <a:prstGeom prst="rect">
            <a:avLst/>
          </a:prstGeom>
          <a:noFill/>
          <a:ln/>
        </p:spPr>
        <p:txBody>
          <a:bodyPr wrap="square" rtlCol="0" anchor="t"/>
          <a:lstStyle/>
          <a:p>
            <a:pPr marL="0" indent="0">
              <a:buNone/>
            </a:pPr>
            <a:r>
              <a:rPr lang="en-US" sz="1400" dirty="0">
                <a:solidFill>
                  <a:srgbClr val="F7F2E8"/>
                </a:solidFill>
                <a:latin typeface="Consolas" pitchFamily="34" charset="0"/>
                <a:ea typeface="Consolas" pitchFamily="34" charset="-122"/>
                <a:cs typeface="Consolas" pitchFamily="34" charset="-120"/>
              </a:rPr>
              <a:t>Cláusulas iniciais:</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C1: p</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C2: ¬p ∨ q</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C3: ¬q</a:t>
            </a:r>
            <a:endParaRPr lang="en-US" sz="1400" dirty="0"/>
          </a:p>
          <a:p>
            <a:pPr marL="0" indent="0">
              <a:buNone/>
            </a:pP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Passos:</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C4 = resolver(C1, C2) sobre p   →   q</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C5 = resolver(C4, C3) sobre q   →   ⊥  (cláusula vazia)</a:t>
            </a:r>
            <a:endParaRPr lang="en-US" sz="1400" dirty="0"/>
          </a:p>
          <a:p>
            <a:pPr marL="0" indent="0">
              <a:buNone/>
            </a:pP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Como derivamos ⊥, o conjunto é insatisfatível.</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Portanto {p, ¬p ∨ q} ⊨ q.</a:t>
            </a:r>
            <a:endParaRPr lang="en-US" sz="14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3">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06 / 10</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VARIÁVEIS</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6 · Resolução e Prova por Refutação</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Resolução de primeira ordem</a:t>
            </a:r>
            <a:endParaRPr lang="en-US" sz="3600" dirty="0"/>
          </a:p>
        </p:txBody>
      </p:sp>
      <p:sp>
        <p:nvSpPr>
          <p:cNvPr id="9" name="Text 7"/>
          <p:cNvSpPr/>
          <p:nvPr/>
        </p:nvSpPr>
        <p:spPr>
          <a:xfrm>
            <a:off x="502920" y="1554480"/>
            <a:ext cx="11185855" cy="457200"/>
          </a:xfrm>
          <a:prstGeom prst="rect">
            <a:avLst/>
          </a:prstGeom>
          <a:noFill/>
          <a:ln/>
        </p:spPr>
        <p:txBody>
          <a:bodyPr wrap="square" rtlCol="0" anchor="ctr"/>
          <a:lstStyle/>
          <a:p>
            <a:pPr marL="0" indent="0">
              <a:buNone/>
            </a:pPr>
            <a:r>
              <a:rPr lang="en-US" sz="1600" i="1" dirty="0">
                <a:solidFill>
                  <a:srgbClr val="2A3550"/>
                </a:solidFill>
                <a:latin typeface="Merriweather" pitchFamily="34" charset="0"/>
                <a:ea typeface="Merriweather" pitchFamily="34" charset="-122"/>
                <a:cs typeface="Merriweather" pitchFamily="34" charset="-120"/>
              </a:rPr>
              <a:t>Mesma regra + unificação</a:t>
            </a:r>
            <a:endParaRPr lang="en-US" sz="16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4">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07 / 10</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UNIFICAÇÃO</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6 · Resolução e Prova por Refutação</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Casando termos</a:t>
            </a:r>
            <a:endParaRPr lang="en-US" sz="3600" dirty="0"/>
          </a:p>
        </p:txBody>
      </p:sp>
      <p:graphicFrame>
        <p:nvGraphicFramePr>
          <p:cNvPr id="95" name="Table 0"/>
          <p:cNvGraphicFramePr>
            <a:graphicFrameLocks noGrp="1"/>
          </p:cNvGraphicFramePr>
          <p:nvPr>
            <p:extLst>
              <p:ext uri="{D42A27DB-BD31-4B8C-83A1-F6EECF244321}">
                <p14:modId xmlns:p14="http://schemas.microsoft.com/office/powerpoint/2010/main" val="1579011935"/>
              </p:ext>
            </p:extLst>
          </p:nvPr>
        </p:nvGraphicFramePr>
        <p:xfrm>
          <a:off x="1752448" y="2103120"/>
          <a:ext cx="8686800" cy="1920240"/>
        </p:xfrm>
        <a:graphic>
          <a:graphicData uri="http://schemas.openxmlformats.org/drawingml/2006/table">
            <a:tbl>
              <a:tblPr/>
              <a:tblGrid>
                <a:gridCol w="45720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84048">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Termos</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Unificador (mgu)</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extLst>
                  <a:ext uri="{0D108BD9-81ED-4DB2-BD59-A6C34878D82A}">
                    <a16:rowId xmlns:a16="http://schemas.microsoft.com/office/drawing/2014/main" val="10000"/>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P(x), P(ana)</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 x ↦ ana }</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P(x,y), P(ana,bob)</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 x ↦ ana, y ↦ bob }</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P(x,x), P(ana,bob)</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não unificam</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P(f(x)), P(f(g(y)))</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 x ↦ g(y) }</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0" name="Text 7"/>
          <p:cNvSpPr/>
          <p:nvPr/>
        </p:nvSpPr>
        <p:spPr>
          <a:xfrm>
            <a:off x="1752448" y="4069080"/>
            <a:ext cx="8686800" cy="274320"/>
          </a:xfrm>
          <a:prstGeom prst="rect">
            <a:avLst/>
          </a:prstGeom>
          <a:noFill/>
          <a:ln/>
        </p:spPr>
        <p:txBody>
          <a:bodyPr wrap="square" rtlCol="0" anchor="ctr"/>
          <a:lstStyle/>
          <a:p>
            <a:pPr marL="0" indent="0" algn="ctr">
              <a:buNone/>
            </a:pPr>
            <a:r>
              <a:rPr lang="en-US" sz="1000" i="1" dirty="0">
                <a:solidFill>
                  <a:srgbClr val="6B6452"/>
                </a:solidFill>
                <a:latin typeface="Source Sans 3" pitchFamily="34" charset="0"/>
                <a:ea typeface="Source Sans 3" pitchFamily="34" charset="-122"/>
                <a:cs typeface="Source Sans 3" pitchFamily="34" charset="-120"/>
              </a:rPr>
              <a:t>mgu = substituição mais geral que iguala os termos.</a:t>
            </a:r>
            <a:endParaRPr lang="en-US" sz="10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5">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08 / 10</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APLICAÇÃO</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6 · Resolução e Prova por Refutação</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Resolução com unificação</a:t>
            </a:r>
            <a:endParaRPr lang="en-US" sz="3600" dirty="0"/>
          </a:p>
        </p:txBody>
      </p:sp>
      <p:sp>
        <p:nvSpPr>
          <p:cNvPr id="9" name="Shape 7"/>
          <p:cNvSpPr/>
          <p:nvPr/>
        </p:nvSpPr>
        <p:spPr>
          <a:xfrm>
            <a:off x="502920" y="1828800"/>
            <a:ext cx="11185855" cy="4206240"/>
          </a:xfrm>
          <a:prstGeom prst="rect">
            <a:avLst/>
          </a:prstGeom>
          <a:solidFill>
            <a:srgbClr val="1A2238"/>
          </a:solidFill>
          <a:ln w="12700">
            <a:solidFill>
              <a:srgbClr val="2A3550"/>
            </a:solidFill>
            <a:prstDash val="solid"/>
          </a:ln>
        </p:spPr>
      </p:sp>
      <p:sp>
        <p:nvSpPr>
          <p:cNvPr id="10" name="Shape 8"/>
          <p:cNvSpPr/>
          <p:nvPr/>
        </p:nvSpPr>
        <p:spPr>
          <a:xfrm>
            <a:off x="502920" y="1828800"/>
            <a:ext cx="64008" cy="4206240"/>
          </a:xfrm>
          <a:prstGeom prst="rect">
            <a:avLst/>
          </a:prstGeom>
          <a:solidFill>
            <a:srgbClr val="E07A1F"/>
          </a:solidFill>
          <a:ln w="12700">
            <a:solidFill>
              <a:srgbClr val="E07A1F"/>
            </a:solidFill>
            <a:prstDash val="solid"/>
          </a:ln>
        </p:spPr>
      </p:sp>
      <p:sp>
        <p:nvSpPr>
          <p:cNvPr id="11" name="Text 9"/>
          <p:cNvSpPr/>
          <p:nvPr/>
        </p:nvSpPr>
        <p:spPr>
          <a:xfrm>
            <a:off x="731520" y="1920240"/>
            <a:ext cx="10820095" cy="4023360"/>
          </a:xfrm>
          <a:prstGeom prst="rect">
            <a:avLst/>
          </a:prstGeom>
          <a:noFill/>
          <a:ln/>
        </p:spPr>
        <p:txBody>
          <a:bodyPr wrap="square" rtlCol="0" anchor="t"/>
          <a:lstStyle/>
          <a:p>
            <a:pPr marL="0" indent="0">
              <a:buNone/>
            </a:pPr>
            <a:r>
              <a:rPr lang="en-US" sz="1400" dirty="0">
                <a:solidFill>
                  <a:srgbClr val="F7F2E8"/>
                </a:solidFill>
                <a:latin typeface="Consolas" pitchFamily="34" charset="0"/>
                <a:ea typeface="Consolas" pitchFamily="34" charset="-122"/>
                <a:cs typeface="Consolas" pitchFamily="34" charset="-120"/>
              </a:rPr>
              <a:t>Premissas (CNF):</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∀x (Humano(x) ⇒ Mortal(x))   →   ¬Humano(x) ∨ Mortal(x)</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Humano(socrates)</a:t>
            </a:r>
            <a:endParaRPr lang="en-US" sz="1400" dirty="0"/>
          </a:p>
          <a:p>
            <a:pPr marL="0" indent="0">
              <a:buNone/>
            </a:pP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Negar a conclusão Mortal(socrates):</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¬Mortal(socrates)</a:t>
            </a:r>
            <a:endParaRPr lang="en-US" sz="1400" dirty="0"/>
          </a:p>
          <a:p>
            <a:pPr marL="0" indent="0">
              <a:buNone/>
            </a:pP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Resolução:</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resolver(¬Humano(x) ∨ Mortal(x), Humano(socrates))</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com mgu { x ↦ socrates }   →   Mortal(socrates)</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resolver(Mortal(socrates), ¬Mortal(socrates))   →   ⊥</a:t>
            </a:r>
            <a:endParaRPr lang="en-US" sz="1400" dirty="0"/>
          </a:p>
          <a:p>
            <a:pPr marL="0" indent="0">
              <a:buNone/>
            </a:pP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Logo {∀x(Humano(x)⇒Mortal(x)), Humano(socrates)} ⊨ Mortal(socrates).</a:t>
            </a:r>
            <a:endParaRPr lang="en-US" sz="14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6">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09 / 10</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APLICAÇÕES EM CD</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6 · Resolução e Prova por Refutação</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Onde a resolução aparece</a:t>
            </a:r>
            <a:endParaRPr lang="en-US" sz="3600" dirty="0"/>
          </a:p>
        </p:txBody>
      </p:sp>
      <p:sp>
        <p:nvSpPr>
          <p:cNvPr id="9" name="Shape 7"/>
          <p:cNvSpPr/>
          <p:nvPr/>
        </p:nvSpPr>
        <p:spPr>
          <a:xfrm>
            <a:off x="502920" y="2194560"/>
            <a:ext cx="3576218" cy="2011680"/>
          </a:xfrm>
          <a:prstGeom prst="rect">
            <a:avLst/>
          </a:prstGeom>
          <a:solidFill>
            <a:srgbClr val="FFFFFF"/>
          </a:solidFill>
          <a:ln w="9525">
            <a:solidFill>
              <a:srgbClr val="CBBFA3"/>
            </a:solidFill>
            <a:prstDash val="solid"/>
          </a:ln>
        </p:spPr>
      </p:sp>
      <p:sp>
        <p:nvSpPr>
          <p:cNvPr id="10" name="Text 8"/>
          <p:cNvSpPr/>
          <p:nvPr/>
        </p:nvSpPr>
        <p:spPr>
          <a:xfrm>
            <a:off x="685800"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SAT SOLVERS</a:t>
            </a:r>
            <a:endParaRPr lang="en-US" sz="900" dirty="0"/>
          </a:p>
        </p:txBody>
      </p:sp>
      <p:sp>
        <p:nvSpPr>
          <p:cNvPr id="11" name="Text 9"/>
          <p:cNvSpPr/>
          <p:nvPr/>
        </p:nvSpPr>
        <p:spPr>
          <a:xfrm>
            <a:off x="685800"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CDCL</a:t>
            </a:r>
            <a:endParaRPr lang="en-US" sz="1800" dirty="0"/>
          </a:p>
        </p:txBody>
      </p:sp>
      <p:sp>
        <p:nvSpPr>
          <p:cNvPr id="12" name="Text 10"/>
          <p:cNvSpPr/>
          <p:nvPr/>
        </p:nvSpPr>
        <p:spPr>
          <a:xfrm>
            <a:off x="685800"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Resolução + aprendizado de cláusulas.</a:t>
            </a:r>
            <a:endParaRPr lang="en-US" sz="1300" dirty="0"/>
          </a:p>
        </p:txBody>
      </p:sp>
      <p:sp>
        <p:nvSpPr>
          <p:cNvPr id="13" name="Shape 11"/>
          <p:cNvSpPr/>
          <p:nvPr/>
        </p:nvSpPr>
        <p:spPr>
          <a:xfrm>
            <a:off x="4307738" y="2194560"/>
            <a:ext cx="3576218" cy="2011680"/>
          </a:xfrm>
          <a:prstGeom prst="rect">
            <a:avLst/>
          </a:prstGeom>
          <a:solidFill>
            <a:srgbClr val="FFFFFF"/>
          </a:solidFill>
          <a:ln w="9525">
            <a:solidFill>
              <a:srgbClr val="CBBFA3"/>
            </a:solidFill>
            <a:prstDash val="solid"/>
          </a:ln>
        </p:spPr>
      </p:sp>
      <p:sp>
        <p:nvSpPr>
          <p:cNvPr id="14" name="Text 12"/>
          <p:cNvSpPr/>
          <p:nvPr/>
        </p:nvSpPr>
        <p:spPr>
          <a:xfrm>
            <a:off x="4490618"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PROLOG</a:t>
            </a:r>
            <a:endParaRPr lang="en-US" sz="900" dirty="0"/>
          </a:p>
        </p:txBody>
      </p:sp>
      <p:sp>
        <p:nvSpPr>
          <p:cNvPr id="15" name="Text 13"/>
          <p:cNvSpPr/>
          <p:nvPr/>
        </p:nvSpPr>
        <p:spPr>
          <a:xfrm>
            <a:off x="4490618"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Resolução SLD</a:t>
            </a:r>
            <a:endParaRPr lang="en-US" sz="1800" dirty="0"/>
          </a:p>
        </p:txBody>
      </p:sp>
      <p:sp>
        <p:nvSpPr>
          <p:cNvPr id="16" name="Text 14"/>
          <p:cNvSpPr/>
          <p:nvPr/>
        </p:nvSpPr>
        <p:spPr>
          <a:xfrm>
            <a:off x="4490618"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Restrição eficiente a cláusulas Horn.</a:t>
            </a:r>
            <a:endParaRPr lang="en-US" sz="1300" dirty="0"/>
          </a:p>
        </p:txBody>
      </p:sp>
      <p:sp>
        <p:nvSpPr>
          <p:cNvPr id="17" name="Shape 15"/>
          <p:cNvSpPr/>
          <p:nvPr/>
        </p:nvSpPr>
        <p:spPr>
          <a:xfrm>
            <a:off x="8112557" y="2194560"/>
            <a:ext cx="3576218" cy="2011680"/>
          </a:xfrm>
          <a:prstGeom prst="rect">
            <a:avLst/>
          </a:prstGeom>
          <a:solidFill>
            <a:srgbClr val="FFFFFF"/>
          </a:solidFill>
          <a:ln w="9525">
            <a:solidFill>
              <a:srgbClr val="CBBFA3"/>
            </a:solidFill>
            <a:prstDash val="solid"/>
          </a:ln>
        </p:spPr>
      </p:sp>
      <p:sp>
        <p:nvSpPr>
          <p:cNvPr id="18" name="Text 16"/>
          <p:cNvSpPr/>
          <p:nvPr/>
        </p:nvSpPr>
        <p:spPr>
          <a:xfrm>
            <a:off x="8295437"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VERIFICAÇÃO</a:t>
            </a:r>
            <a:endParaRPr lang="en-US" sz="900" dirty="0"/>
          </a:p>
        </p:txBody>
      </p:sp>
      <p:sp>
        <p:nvSpPr>
          <p:cNvPr id="19" name="Text 17"/>
          <p:cNvSpPr/>
          <p:nvPr/>
        </p:nvSpPr>
        <p:spPr>
          <a:xfrm>
            <a:off x="8295437"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SMT</a:t>
            </a:r>
            <a:endParaRPr lang="en-US" sz="1800" dirty="0"/>
          </a:p>
        </p:txBody>
      </p:sp>
      <p:sp>
        <p:nvSpPr>
          <p:cNvPr id="20" name="Text 18"/>
          <p:cNvSpPr/>
          <p:nvPr/>
        </p:nvSpPr>
        <p:spPr>
          <a:xfrm>
            <a:off x="8295437"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Resolução + teorias (aritmética, arrays).</a:t>
            </a:r>
            <a:endParaRPr lang="en-US" sz="13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7">
    <p:bg>
      <p:bgPr>
        <a:solidFill>
          <a:srgbClr val="1A223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Shape 1"/>
          <p:cNvSpPr/>
          <p:nvPr/>
        </p:nvSpPr>
        <p:spPr>
          <a:xfrm>
            <a:off x="4952848" y="1371600"/>
            <a:ext cx="2286000" cy="411480"/>
          </a:xfrm>
          <a:prstGeom prst="roundRect">
            <a:avLst>
              <a:gd name="adj" fmla="val 48889"/>
            </a:avLst>
          </a:prstGeom>
          <a:solidFill>
            <a:srgbClr val="E07A1F"/>
          </a:solidFill>
          <a:ln w="12700">
            <a:solidFill>
              <a:srgbClr val="E07A1F"/>
            </a:solidFill>
            <a:prstDash val="solid"/>
          </a:ln>
        </p:spPr>
      </p:sp>
      <p:sp>
        <p:nvSpPr>
          <p:cNvPr id="4" name="Text 2"/>
          <p:cNvSpPr/>
          <p:nvPr/>
        </p:nvSpPr>
        <p:spPr>
          <a:xfrm>
            <a:off x="4952848" y="1371600"/>
            <a:ext cx="2286000" cy="411480"/>
          </a:xfrm>
          <a:prstGeom prst="rect">
            <a:avLst/>
          </a:prstGeom>
          <a:noFill/>
          <a:ln/>
        </p:spPr>
        <p:txBody>
          <a:bodyPr wrap="square" rtlCol="0" anchor="ctr"/>
          <a:lstStyle/>
          <a:p>
            <a:pPr marL="0" indent="0" algn="ctr">
              <a:buNone/>
            </a:pPr>
            <a:r>
              <a:rPr lang="en-US" sz="1200" b="1" kern="0" spc="400" dirty="0">
                <a:solidFill>
                  <a:srgbClr val="FFFFFF"/>
                </a:solidFill>
                <a:latin typeface="Source Sans 3" pitchFamily="34" charset="0"/>
                <a:ea typeface="Source Sans 3" pitchFamily="34" charset="-122"/>
                <a:cs typeface="Source Sans 3" pitchFamily="34" charset="-120"/>
              </a:rPr>
              <a:t>FIM DO CAPÍTULO 6</a:t>
            </a:r>
            <a:endParaRPr lang="en-US" sz="1200" dirty="0"/>
          </a:p>
        </p:txBody>
      </p:sp>
      <p:sp>
        <p:nvSpPr>
          <p:cNvPr id="5" name="Text 3"/>
          <p:cNvSpPr/>
          <p:nvPr/>
        </p:nvSpPr>
        <p:spPr>
          <a:xfrm>
            <a:off x="502920" y="2103120"/>
            <a:ext cx="11185855" cy="1371600"/>
          </a:xfrm>
          <a:prstGeom prst="rect">
            <a:avLst/>
          </a:prstGeom>
          <a:noFill/>
          <a:ln/>
        </p:spPr>
        <p:txBody>
          <a:bodyPr wrap="square" rtlCol="0" anchor="ctr"/>
          <a:lstStyle/>
          <a:p>
            <a:pPr marL="0" indent="0" algn="ctr">
              <a:buNone/>
            </a:pPr>
            <a:r>
              <a:rPr lang="en-US" sz="4400" b="1" dirty="0">
                <a:solidFill>
                  <a:srgbClr val="F7F2E8"/>
                </a:solidFill>
                <a:latin typeface="Playfair Display" pitchFamily="34" charset="0"/>
                <a:ea typeface="Playfair Display" pitchFamily="34" charset="-122"/>
                <a:cs typeface="Playfair Display" pitchFamily="34" charset="-120"/>
              </a:rPr>
              <a:t>Uma regra para domá-las todas</a:t>
            </a:r>
            <a:endParaRPr lang="en-US" sz="4400" dirty="0"/>
          </a:p>
        </p:txBody>
      </p:sp>
      <p:sp>
        <p:nvSpPr>
          <p:cNvPr id="6" name="Text 4"/>
          <p:cNvSpPr/>
          <p:nvPr/>
        </p:nvSpPr>
        <p:spPr>
          <a:xfrm>
            <a:off x="1371600" y="3840480"/>
            <a:ext cx="9448495" cy="1371600"/>
          </a:xfrm>
          <a:prstGeom prst="rect">
            <a:avLst/>
          </a:prstGeom>
          <a:noFill/>
          <a:ln/>
        </p:spPr>
        <p:txBody>
          <a:bodyPr wrap="square" rtlCol="0" anchor="ctr"/>
          <a:lstStyle/>
          <a:p>
            <a:pPr marL="0" indent="0" algn="ctr">
              <a:buNone/>
            </a:pPr>
            <a:r>
              <a:rPr lang="en-US" sz="1800" i="1" dirty="0">
                <a:solidFill>
                  <a:srgbClr val="CBBFA3"/>
                </a:solidFill>
                <a:latin typeface="Merriweather" pitchFamily="34" charset="0"/>
                <a:ea typeface="Merriweather" pitchFamily="34" charset="-122"/>
                <a:cs typeface="Merriweather" pitchFamily="34" charset="-120"/>
              </a:rPr>
              <a:t>Resolução por refutação transformou a lógica em ferramenta computacional prática.</a:t>
            </a:r>
            <a:endParaRPr lang="en-US" sz="18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8">
    <p:bg>
      <p:bgPr>
        <a:solidFill>
          <a:srgbClr val="1A223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A3550"/>
          </a:solidFill>
          <a:ln w="12700">
            <a:solidFill>
              <a:srgbClr val="2A3550"/>
            </a:solidFill>
            <a:prstDash val="solid"/>
          </a:ln>
        </p:spPr>
        <p:txBody>
          <a:bodyPr/>
          <a:lstStyle/>
          <a:p>
            <a:endParaRPr lang="pt-BR" dirty="0"/>
          </a:p>
        </p:txBody>
      </p:sp>
      <p:sp>
        <p:nvSpPr>
          <p:cNvPr id="3" name="Shape 1"/>
          <p:cNvSpPr/>
          <p:nvPr/>
        </p:nvSpPr>
        <p:spPr>
          <a:xfrm>
            <a:off x="0" y="0"/>
            <a:ext cx="164592" cy="6858000"/>
          </a:xfrm>
          <a:prstGeom prst="rect">
            <a:avLst/>
          </a:prstGeom>
          <a:solidFill>
            <a:srgbClr val="E07A1F"/>
          </a:solidFill>
          <a:ln w="12700">
            <a:solidFill>
              <a:srgbClr val="E07A1F"/>
            </a:solidFill>
            <a:prstDash val="solid"/>
          </a:ln>
        </p:spPr>
      </p:sp>
      <p:sp>
        <p:nvSpPr>
          <p:cNvPr id="4" name="Text 2"/>
          <p:cNvSpPr/>
          <p:nvPr/>
        </p:nvSpPr>
        <p:spPr>
          <a:xfrm>
            <a:off x="9905695" y="228600"/>
            <a:ext cx="2011680" cy="274320"/>
          </a:xfrm>
          <a:prstGeom prst="rect">
            <a:avLst/>
          </a:prstGeom>
          <a:noFill/>
          <a:ln/>
        </p:spPr>
        <p:txBody>
          <a:bodyPr wrap="square" rtlCol="0" anchor="ctr"/>
          <a:lstStyle/>
          <a:p>
            <a:pPr marL="0" indent="0" algn="r">
              <a:buNone/>
            </a:pPr>
            <a:r>
              <a:rPr lang="en-US" sz="1100" b="1" kern="0" spc="400" dirty="0">
                <a:solidFill>
                  <a:srgbClr val="F3A96B"/>
                </a:solidFill>
                <a:latin typeface="Playfair Display" pitchFamily="34" charset="0"/>
                <a:ea typeface="Playfair Display" pitchFamily="34" charset="-122"/>
                <a:cs typeface="Playfair Display" pitchFamily="34" charset="-120"/>
              </a:rPr>
              <a:t>CAP. 07 · 01/7</a:t>
            </a:r>
            <a:endParaRPr lang="en-US" sz="1100" dirty="0"/>
          </a:p>
        </p:txBody>
      </p:sp>
      <p:sp>
        <p:nvSpPr>
          <p:cNvPr id="5" name="Text 3"/>
          <p:cNvSpPr/>
          <p:nvPr/>
        </p:nvSpPr>
        <p:spPr>
          <a:xfrm>
            <a:off x="502920" y="1371600"/>
            <a:ext cx="11185855" cy="365760"/>
          </a:xfrm>
          <a:prstGeom prst="rect">
            <a:avLst/>
          </a:prstGeom>
          <a:noFill/>
          <a:ln/>
        </p:spPr>
        <p:txBody>
          <a:bodyPr wrap="square" rtlCol="0" anchor="ctr"/>
          <a:lstStyle/>
          <a:p>
            <a:pPr marL="0" indent="0">
              <a:buNone/>
            </a:pPr>
            <a:r>
              <a:rPr lang="en-US" sz="1100" b="1" kern="0" spc="600" dirty="0">
                <a:solidFill>
                  <a:srgbClr val="F3A96B"/>
                </a:solidFill>
                <a:latin typeface="Source Sans 3" pitchFamily="34" charset="0"/>
                <a:ea typeface="Source Sans 3" pitchFamily="34" charset="-122"/>
                <a:cs typeface="Source Sans 3" pitchFamily="34" charset="-120"/>
              </a:rPr>
              <a:t>FUNDAMENTOS DE LÓGICA APLICADA À CIÊNCIA DE DADOS</a:t>
            </a:r>
            <a:endParaRPr lang="en-US" sz="1100" dirty="0"/>
          </a:p>
        </p:txBody>
      </p:sp>
      <p:sp>
        <p:nvSpPr>
          <p:cNvPr id="6" name="Text 4"/>
          <p:cNvSpPr/>
          <p:nvPr/>
        </p:nvSpPr>
        <p:spPr>
          <a:xfrm>
            <a:off x="502920" y="1828800"/>
            <a:ext cx="11185855" cy="2286000"/>
          </a:xfrm>
          <a:prstGeom prst="rect">
            <a:avLst/>
          </a:prstGeom>
          <a:noFill/>
          <a:ln/>
        </p:spPr>
        <p:txBody>
          <a:bodyPr wrap="square" rtlCol="0" anchor="ctr"/>
          <a:lstStyle/>
          <a:p>
            <a:pPr marL="0" indent="0">
              <a:buNone/>
            </a:pPr>
            <a:r>
              <a:rPr lang="en-US" sz="6000" b="1" dirty="0">
                <a:solidFill>
                  <a:srgbClr val="F7F2E8"/>
                </a:solidFill>
                <a:latin typeface="Playfair Display" pitchFamily="34" charset="0"/>
                <a:ea typeface="Playfair Display" pitchFamily="34" charset="-122"/>
                <a:cs typeface="Playfair Display" pitchFamily="34" charset="-120"/>
              </a:rPr>
              <a:t>IA Simbólica</a:t>
            </a:r>
            <a:endParaRPr lang="en-US" sz="6000" dirty="0"/>
          </a:p>
        </p:txBody>
      </p:sp>
      <p:sp>
        <p:nvSpPr>
          <p:cNvPr id="7" name="Text 5"/>
          <p:cNvSpPr/>
          <p:nvPr/>
        </p:nvSpPr>
        <p:spPr>
          <a:xfrm>
            <a:off x="502920" y="4297680"/>
            <a:ext cx="11185855" cy="914400"/>
          </a:xfrm>
          <a:prstGeom prst="rect">
            <a:avLst/>
          </a:prstGeom>
          <a:noFill/>
          <a:ln/>
        </p:spPr>
        <p:txBody>
          <a:bodyPr wrap="square" rtlCol="0" anchor="ctr"/>
          <a:lstStyle/>
          <a:p>
            <a:pPr marL="0" indent="0">
              <a:buNone/>
            </a:pPr>
            <a:r>
              <a:rPr lang="en-US" sz="1800" i="1" dirty="0">
                <a:solidFill>
                  <a:srgbClr val="CBBFA3"/>
                </a:solidFill>
                <a:latin typeface="Merriweather" pitchFamily="34" charset="0"/>
                <a:ea typeface="Merriweather" pitchFamily="34" charset="-122"/>
                <a:cs typeface="Merriweather" pitchFamily="34" charset="-120"/>
              </a:rPr>
              <a:t>Bases de conhecimento, sistemas especialistas e Prolog</a:t>
            </a:r>
            <a:endParaRPr lang="en-US" sz="1800" dirty="0"/>
          </a:p>
        </p:txBody>
      </p:sp>
      <p:sp>
        <p:nvSpPr>
          <p:cNvPr id="8" name="Shape 6"/>
          <p:cNvSpPr/>
          <p:nvPr/>
        </p:nvSpPr>
        <p:spPr>
          <a:xfrm>
            <a:off x="502920" y="6446520"/>
            <a:ext cx="11185855" cy="0"/>
          </a:xfrm>
          <a:prstGeom prst="line">
            <a:avLst/>
          </a:prstGeom>
          <a:noFill/>
          <a:ln w="6350">
            <a:solidFill>
              <a:srgbClr val="4B5563"/>
            </a:solidFill>
            <a:prstDash val="solid"/>
          </a:ln>
        </p:spPr>
      </p:sp>
      <p:sp>
        <p:nvSpPr>
          <p:cNvPr id="9" name="Text 7"/>
          <p:cNvSpPr/>
          <p:nvPr/>
        </p:nvSpPr>
        <p:spPr>
          <a:xfrm>
            <a:off x="502920" y="6492240"/>
            <a:ext cx="11185855" cy="274320"/>
          </a:xfrm>
          <a:prstGeom prst="rect">
            <a:avLst/>
          </a:prstGeom>
          <a:noFill/>
          <a:ln/>
        </p:spPr>
        <p:txBody>
          <a:bodyPr wrap="square" rtlCol="0" anchor="ctr"/>
          <a:lstStyle/>
          <a:p>
            <a:r>
              <a:rPr lang="en-US" sz="900" b="1" kern="0" spc="300" dirty="0">
                <a:solidFill>
                  <a:srgbClr val="9CA3AF"/>
                </a:solidFill>
                <a:latin typeface="Source Sans 3" pitchFamily="34" charset="0"/>
                <a:ea typeface="Source Sans 3" pitchFamily="34" charset="-122"/>
                <a:cs typeface="Source Sans 3" pitchFamily="34" charset="-120"/>
              </a:rPr>
              <a:t>ALICCE · Helena Reis &amp; Anderson Marcolino</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99">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02 / 7</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COMPONENTES</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7 · IA Simbólica e Bases de Conhecimento</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Anatomia de um sistema simbólico</a:t>
            </a:r>
            <a:endParaRPr lang="en-US" sz="3600" dirty="0"/>
          </a:p>
        </p:txBody>
      </p:sp>
      <p:sp>
        <p:nvSpPr>
          <p:cNvPr id="9" name="Shape 7"/>
          <p:cNvSpPr/>
          <p:nvPr/>
        </p:nvSpPr>
        <p:spPr>
          <a:xfrm>
            <a:off x="502920" y="2194560"/>
            <a:ext cx="3576218" cy="2011680"/>
          </a:xfrm>
          <a:prstGeom prst="rect">
            <a:avLst/>
          </a:prstGeom>
          <a:solidFill>
            <a:srgbClr val="FFFFFF"/>
          </a:solidFill>
          <a:ln w="9525">
            <a:solidFill>
              <a:srgbClr val="CBBFA3"/>
            </a:solidFill>
            <a:prstDash val="solid"/>
          </a:ln>
        </p:spPr>
      </p:sp>
      <p:sp>
        <p:nvSpPr>
          <p:cNvPr id="10" name="Text 8"/>
          <p:cNvSpPr/>
          <p:nvPr/>
        </p:nvSpPr>
        <p:spPr>
          <a:xfrm>
            <a:off x="685800"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KB</a:t>
            </a:r>
            <a:endParaRPr lang="en-US" sz="900" dirty="0"/>
          </a:p>
        </p:txBody>
      </p:sp>
      <p:sp>
        <p:nvSpPr>
          <p:cNvPr id="11" name="Text 9"/>
          <p:cNvSpPr/>
          <p:nvPr/>
        </p:nvSpPr>
        <p:spPr>
          <a:xfrm>
            <a:off x="685800"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Base de conhecimento</a:t>
            </a:r>
            <a:endParaRPr lang="en-US" sz="1800" dirty="0"/>
          </a:p>
        </p:txBody>
      </p:sp>
      <p:sp>
        <p:nvSpPr>
          <p:cNvPr id="12" name="Text 10"/>
          <p:cNvSpPr/>
          <p:nvPr/>
        </p:nvSpPr>
        <p:spPr>
          <a:xfrm>
            <a:off x="685800"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Fatos e regras em lógica.</a:t>
            </a:r>
            <a:endParaRPr lang="en-US" sz="1300" dirty="0"/>
          </a:p>
        </p:txBody>
      </p:sp>
      <p:sp>
        <p:nvSpPr>
          <p:cNvPr id="13" name="Shape 11"/>
          <p:cNvSpPr/>
          <p:nvPr/>
        </p:nvSpPr>
        <p:spPr>
          <a:xfrm>
            <a:off x="4307738" y="2194560"/>
            <a:ext cx="3576218" cy="2011680"/>
          </a:xfrm>
          <a:prstGeom prst="rect">
            <a:avLst/>
          </a:prstGeom>
          <a:solidFill>
            <a:srgbClr val="FFFFFF"/>
          </a:solidFill>
          <a:ln w="9525">
            <a:solidFill>
              <a:srgbClr val="CBBFA3"/>
            </a:solidFill>
            <a:prstDash val="solid"/>
          </a:ln>
        </p:spPr>
      </p:sp>
      <p:sp>
        <p:nvSpPr>
          <p:cNvPr id="14" name="Text 12"/>
          <p:cNvSpPr/>
          <p:nvPr/>
        </p:nvSpPr>
        <p:spPr>
          <a:xfrm>
            <a:off x="4490618"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MOTOR</a:t>
            </a:r>
            <a:endParaRPr lang="en-US" sz="900" dirty="0"/>
          </a:p>
        </p:txBody>
      </p:sp>
      <p:sp>
        <p:nvSpPr>
          <p:cNvPr id="15" name="Text 13"/>
          <p:cNvSpPr/>
          <p:nvPr/>
        </p:nvSpPr>
        <p:spPr>
          <a:xfrm>
            <a:off x="4490618"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Inferência</a:t>
            </a:r>
            <a:endParaRPr lang="en-US" sz="1800" dirty="0"/>
          </a:p>
        </p:txBody>
      </p:sp>
      <p:sp>
        <p:nvSpPr>
          <p:cNvPr id="16" name="Text 14"/>
          <p:cNvSpPr/>
          <p:nvPr/>
        </p:nvSpPr>
        <p:spPr>
          <a:xfrm>
            <a:off x="4490618"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Resolução, encadeamento, etc.</a:t>
            </a:r>
            <a:endParaRPr lang="en-US" sz="1300" dirty="0"/>
          </a:p>
        </p:txBody>
      </p:sp>
      <p:sp>
        <p:nvSpPr>
          <p:cNvPr id="17" name="Shape 15"/>
          <p:cNvSpPr/>
          <p:nvPr/>
        </p:nvSpPr>
        <p:spPr>
          <a:xfrm>
            <a:off x="8112557" y="2194560"/>
            <a:ext cx="3576218" cy="2011680"/>
          </a:xfrm>
          <a:prstGeom prst="rect">
            <a:avLst/>
          </a:prstGeom>
          <a:solidFill>
            <a:srgbClr val="FFFFFF"/>
          </a:solidFill>
          <a:ln w="9525">
            <a:solidFill>
              <a:srgbClr val="CBBFA3"/>
            </a:solidFill>
            <a:prstDash val="solid"/>
          </a:ln>
        </p:spPr>
      </p:sp>
      <p:sp>
        <p:nvSpPr>
          <p:cNvPr id="18" name="Text 16"/>
          <p:cNvSpPr/>
          <p:nvPr/>
        </p:nvSpPr>
        <p:spPr>
          <a:xfrm>
            <a:off x="8295437"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INTERFACE</a:t>
            </a:r>
            <a:endParaRPr lang="en-US" sz="900" dirty="0"/>
          </a:p>
        </p:txBody>
      </p:sp>
      <p:sp>
        <p:nvSpPr>
          <p:cNvPr id="19" name="Text 17"/>
          <p:cNvSpPr/>
          <p:nvPr/>
        </p:nvSpPr>
        <p:spPr>
          <a:xfrm>
            <a:off x="8295437"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Consulta</a:t>
            </a:r>
            <a:endParaRPr lang="en-US" sz="1800" dirty="0"/>
          </a:p>
        </p:txBody>
      </p:sp>
      <p:sp>
        <p:nvSpPr>
          <p:cNvPr id="20" name="Text 18"/>
          <p:cNvSpPr/>
          <p:nvPr/>
        </p:nvSpPr>
        <p:spPr>
          <a:xfrm>
            <a:off x="8295437"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Pergunta → resposta justificada.</a:t>
            </a:r>
            <a:endParaRPr lang="en-US" sz="13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0">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03 / 7</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ENCADEAMENTO</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7 · IA Simbólica e Bases de Conhecimento</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Frente vs. trás</a:t>
            </a:r>
            <a:endParaRPr lang="en-US" sz="3600" dirty="0"/>
          </a:p>
        </p:txBody>
      </p:sp>
      <p:graphicFrame>
        <p:nvGraphicFramePr>
          <p:cNvPr id="101" name="Table 0"/>
          <p:cNvGraphicFramePr>
            <a:graphicFrameLocks noGrp="1"/>
          </p:cNvGraphicFramePr>
          <p:nvPr>
            <p:extLst>
              <p:ext uri="{D42A27DB-BD31-4B8C-83A1-F6EECF244321}">
                <p14:modId xmlns:p14="http://schemas.microsoft.com/office/powerpoint/2010/main" val="1579011935"/>
              </p:ext>
            </p:extLst>
          </p:nvPr>
        </p:nvGraphicFramePr>
        <p:xfrm>
          <a:off x="1295248" y="2103120"/>
          <a:ext cx="9601200" cy="1152144"/>
        </p:xfrm>
        <a:graphic>
          <a:graphicData uri="http://schemas.openxmlformats.org/drawingml/2006/table">
            <a:tbl>
              <a:tblPr/>
              <a:tblGrid>
                <a:gridCol w="32004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384048">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Estratégia</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Direção</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Quando usar</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extLst>
                  <a:ext uri="{0D108BD9-81ED-4DB2-BD59-A6C34878D82A}">
                    <a16:rowId xmlns:a16="http://schemas.microsoft.com/office/drawing/2014/main" val="10000"/>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Forward chaining</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Fatos → conclusões</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Monitoramento, alertas</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Backward chaining</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Objetivo → premissas</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Diagnóstico, consultas</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0" name="Text 7"/>
          <p:cNvSpPr/>
          <p:nvPr/>
        </p:nvSpPr>
        <p:spPr>
          <a:xfrm>
            <a:off x="1295248" y="3300984"/>
            <a:ext cx="9601200" cy="274320"/>
          </a:xfrm>
          <a:prstGeom prst="rect">
            <a:avLst/>
          </a:prstGeom>
          <a:noFill/>
          <a:ln/>
        </p:spPr>
        <p:txBody>
          <a:bodyPr wrap="square" rtlCol="0" anchor="ctr"/>
          <a:lstStyle/>
          <a:p>
            <a:pPr marL="0" indent="0" algn="ctr">
              <a:buNone/>
            </a:pPr>
            <a:r>
              <a:rPr lang="en-US" sz="1000" i="1" dirty="0">
                <a:solidFill>
                  <a:srgbClr val="6B6452"/>
                </a:solidFill>
                <a:latin typeface="Source Sans 3" pitchFamily="34" charset="0"/>
                <a:ea typeface="Source Sans 3" pitchFamily="34" charset="-122"/>
                <a:cs typeface="Source Sans 3" pitchFamily="34" charset="-120"/>
              </a:rPr>
              <a:t>Mesma lógica, direções opostas.</a:t>
            </a:r>
            <a:endParaRPr lang="en-US" sz="10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1">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04 / 7</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PROLOG</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7 · IA Simbólica e Bases de Conhecimento</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Programa-exemplo: parentesco</a:t>
            </a:r>
            <a:endParaRPr lang="en-US" sz="3600" dirty="0"/>
          </a:p>
        </p:txBody>
      </p:sp>
      <p:sp>
        <p:nvSpPr>
          <p:cNvPr id="9" name="Shape 7"/>
          <p:cNvSpPr/>
          <p:nvPr/>
        </p:nvSpPr>
        <p:spPr>
          <a:xfrm>
            <a:off x="502920" y="1828800"/>
            <a:ext cx="11185855" cy="4206240"/>
          </a:xfrm>
          <a:prstGeom prst="rect">
            <a:avLst/>
          </a:prstGeom>
          <a:solidFill>
            <a:srgbClr val="1A2238"/>
          </a:solidFill>
          <a:ln w="12700">
            <a:solidFill>
              <a:srgbClr val="2A3550"/>
            </a:solidFill>
            <a:prstDash val="solid"/>
          </a:ln>
        </p:spPr>
      </p:sp>
      <p:sp>
        <p:nvSpPr>
          <p:cNvPr id="10" name="Shape 8"/>
          <p:cNvSpPr/>
          <p:nvPr/>
        </p:nvSpPr>
        <p:spPr>
          <a:xfrm>
            <a:off x="502920" y="1828800"/>
            <a:ext cx="64008" cy="4206240"/>
          </a:xfrm>
          <a:prstGeom prst="rect">
            <a:avLst/>
          </a:prstGeom>
          <a:solidFill>
            <a:srgbClr val="E07A1F"/>
          </a:solidFill>
          <a:ln w="12700">
            <a:solidFill>
              <a:srgbClr val="E07A1F"/>
            </a:solidFill>
            <a:prstDash val="solid"/>
          </a:ln>
        </p:spPr>
      </p:sp>
      <p:sp>
        <p:nvSpPr>
          <p:cNvPr id="11" name="Text 9"/>
          <p:cNvSpPr/>
          <p:nvPr/>
        </p:nvSpPr>
        <p:spPr>
          <a:xfrm>
            <a:off x="731520" y="1920240"/>
            <a:ext cx="10820095" cy="4023360"/>
          </a:xfrm>
          <a:prstGeom prst="rect">
            <a:avLst/>
          </a:prstGeom>
          <a:noFill/>
          <a:ln/>
        </p:spPr>
        <p:txBody>
          <a:bodyPr wrap="square" rtlCol="0" anchor="t"/>
          <a:lstStyle/>
          <a:p>
            <a:pPr marL="0" indent="0">
              <a:buNone/>
            </a:pPr>
            <a:r>
              <a:rPr lang="en-US" sz="1400" dirty="0">
                <a:solidFill>
                  <a:srgbClr val="F7F2E8"/>
                </a:solidFill>
                <a:latin typeface="Consolas" pitchFamily="34" charset="0"/>
                <a:ea typeface="Consolas" pitchFamily="34" charset="-122"/>
                <a:cs typeface="Consolas" pitchFamily="34" charset="-120"/>
              </a:rPr>
              <a:t>% Fatos</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pai(joao, maria).</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pai(joao, pedro).</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pai(maria, ana).</a:t>
            </a:r>
            <a:endParaRPr lang="en-US" sz="1400" dirty="0"/>
          </a:p>
          <a:p>
            <a:pPr marL="0" indent="0">
              <a:buNone/>
            </a:pP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Regra: avô = pai do pai</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avo(X, Z) :- pai(X, Y), pai(Y, Z).</a:t>
            </a:r>
            <a:endParaRPr lang="en-US" sz="1400" dirty="0"/>
          </a:p>
          <a:p>
            <a:pPr marL="0" indent="0">
              <a:buNone/>
            </a:pP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Consulta</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avo(joao, ana).</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true.</a:t>
            </a:r>
            <a:endParaRPr lang="en-US" sz="1400" dirty="0"/>
          </a:p>
          <a:p>
            <a:pPr marL="0" indent="0">
              <a:buNone/>
            </a:pP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avo(joao, Q).</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Q = ana.</a:t>
            </a:r>
            <a:endParaRPr lang="en-US" sz="14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2">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05 / 7</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SISTEMAS ESPECIALISTAS</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7 · IA Simbólica e Bases de Conhecimento</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Arquitetura clássica (anos 80)</a:t>
            </a:r>
            <a:endParaRPr lang="en-US" sz="3600" dirty="0"/>
          </a:p>
        </p:txBody>
      </p:sp>
      <p:sp>
        <p:nvSpPr>
          <p:cNvPr id="9" name="Shape 7"/>
          <p:cNvSpPr/>
          <p:nvPr/>
        </p:nvSpPr>
        <p:spPr>
          <a:xfrm>
            <a:off x="502920" y="2194560"/>
            <a:ext cx="3576218" cy="2011680"/>
          </a:xfrm>
          <a:prstGeom prst="rect">
            <a:avLst/>
          </a:prstGeom>
          <a:solidFill>
            <a:srgbClr val="FFFFFF"/>
          </a:solidFill>
          <a:ln w="9525">
            <a:solidFill>
              <a:srgbClr val="CBBFA3"/>
            </a:solidFill>
            <a:prstDash val="solid"/>
          </a:ln>
        </p:spPr>
      </p:sp>
      <p:sp>
        <p:nvSpPr>
          <p:cNvPr id="10" name="Text 8"/>
          <p:cNvSpPr/>
          <p:nvPr/>
        </p:nvSpPr>
        <p:spPr>
          <a:xfrm>
            <a:off x="685800"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MYCIN</a:t>
            </a:r>
            <a:endParaRPr lang="en-US" sz="900" dirty="0"/>
          </a:p>
        </p:txBody>
      </p:sp>
      <p:sp>
        <p:nvSpPr>
          <p:cNvPr id="11" name="Text 9"/>
          <p:cNvSpPr/>
          <p:nvPr/>
        </p:nvSpPr>
        <p:spPr>
          <a:xfrm>
            <a:off x="685800"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Diagnóstico</a:t>
            </a:r>
            <a:endParaRPr lang="en-US" sz="1800" dirty="0"/>
          </a:p>
        </p:txBody>
      </p:sp>
      <p:sp>
        <p:nvSpPr>
          <p:cNvPr id="12" name="Text 10"/>
          <p:cNvSpPr/>
          <p:nvPr/>
        </p:nvSpPr>
        <p:spPr>
          <a:xfrm>
            <a:off x="685800"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Infecções bacterianas. Regras + certeza.</a:t>
            </a:r>
            <a:endParaRPr lang="en-US" sz="1300" dirty="0"/>
          </a:p>
        </p:txBody>
      </p:sp>
      <p:sp>
        <p:nvSpPr>
          <p:cNvPr id="13" name="Shape 11"/>
          <p:cNvSpPr/>
          <p:nvPr/>
        </p:nvSpPr>
        <p:spPr>
          <a:xfrm>
            <a:off x="4307738" y="2194560"/>
            <a:ext cx="3576218" cy="2011680"/>
          </a:xfrm>
          <a:prstGeom prst="rect">
            <a:avLst/>
          </a:prstGeom>
          <a:solidFill>
            <a:srgbClr val="FFFFFF"/>
          </a:solidFill>
          <a:ln w="9525">
            <a:solidFill>
              <a:srgbClr val="CBBFA3"/>
            </a:solidFill>
            <a:prstDash val="solid"/>
          </a:ln>
        </p:spPr>
      </p:sp>
      <p:sp>
        <p:nvSpPr>
          <p:cNvPr id="14" name="Text 12"/>
          <p:cNvSpPr/>
          <p:nvPr/>
        </p:nvSpPr>
        <p:spPr>
          <a:xfrm>
            <a:off x="4490618"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XCON</a:t>
            </a:r>
            <a:endParaRPr lang="en-US" sz="900" dirty="0"/>
          </a:p>
        </p:txBody>
      </p:sp>
      <p:sp>
        <p:nvSpPr>
          <p:cNvPr id="15" name="Text 13"/>
          <p:cNvSpPr/>
          <p:nvPr/>
        </p:nvSpPr>
        <p:spPr>
          <a:xfrm>
            <a:off x="4490618"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Configuração</a:t>
            </a:r>
            <a:endParaRPr lang="en-US" sz="1800" dirty="0"/>
          </a:p>
        </p:txBody>
      </p:sp>
      <p:sp>
        <p:nvSpPr>
          <p:cNvPr id="16" name="Text 14"/>
          <p:cNvSpPr/>
          <p:nvPr/>
        </p:nvSpPr>
        <p:spPr>
          <a:xfrm>
            <a:off x="4490618"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Sistemas DEC. Milhares de regras.</a:t>
            </a:r>
            <a:endParaRPr lang="en-US" sz="1300" dirty="0"/>
          </a:p>
        </p:txBody>
      </p:sp>
      <p:sp>
        <p:nvSpPr>
          <p:cNvPr id="17" name="Shape 15"/>
          <p:cNvSpPr/>
          <p:nvPr/>
        </p:nvSpPr>
        <p:spPr>
          <a:xfrm>
            <a:off x="8112557" y="2194560"/>
            <a:ext cx="3576218" cy="2011680"/>
          </a:xfrm>
          <a:prstGeom prst="rect">
            <a:avLst/>
          </a:prstGeom>
          <a:solidFill>
            <a:srgbClr val="FFFFFF"/>
          </a:solidFill>
          <a:ln w="9525">
            <a:solidFill>
              <a:srgbClr val="CBBFA3"/>
            </a:solidFill>
            <a:prstDash val="solid"/>
          </a:ln>
        </p:spPr>
      </p:sp>
      <p:sp>
        <p:nvSpPr>
          <p:cNvPr id="18" name="Text 16"/>
          <p:cNvSpPr/>
          <p:nvPr/>
        </p:nvSpPr>
        <p:spPr>
          <a:xfrm>
            <a:off x="8295437"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CYC</a:t>
            </a:r>
            <a:endParaRPr lang="en-US" sz="900" dirty="0"/>
          </a:p>
        </p:txBody>
      </p:sp>
      <p:sp>
        <p:nvSpPr>
          <p:cNvPr id="19" name="Text 17"/>
          <p:cNvSpPr/>
          <p:nvPr/>
        </p:nvSpPr>
        <p:spPr>
          <a:xfrm>
            <a:off x="8295437"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Senso comum</a:t>
            </a:r>
            <a:endParaRPr lang="en-US" sz="1800" dirty="0"/>
          </a:p>
        </p:txBody>
      </p:sp>
      <p:sp>
        <p:nvSpPr>
          <p:cNvPr id="20" name="Text 18"/>
          <p:cNvSpPr/>
          <p:nvPr/>
        </p:nvSpPr>
        <p:spPr>
          <a:xfrm>
            <a:off x="8295437"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KB enciclopédica de longo prazo.</a:t>
            </a:r>
            <a:endParaRPr lang="en-US" sz="13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3">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06 / 7</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HOJE</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7 · IA Simbólica e Bases de Conhecimento</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IA híbrida: simbólico + estatístico</a:t>
            </a:r>
            <a:endParaRPr lang="en-US" sz="3600" dirty="0"/>
          </a:p>
        </p:txBody>
      </p:sp>
      <p:sp>
        <p:nvSpPr>
          <p:cNvPr id="9" name="Text 7"/>
          <p:cNvSpPr/>
          <p:nvPr/>
        </p:nvSpPr>
        <p:spPr>
          <a:xfrm>
            <a:off x="502920" y="1554480"/>
            <a:ext cx="11185855" cy="457200"/>
          </a:xfrm>
          <a:prstGeom prst="rect">
            <a:avLst/>
          </a:prstGeom>
          <a:noFill/>
          <a:ln/>
        </p:spPr>
        <p:txBody>
          <a:bodyPr wrap="square" rtlCol="0" anchor="ctr"/>
          <a:lstStyle/>
          <a:p>
            <a:pPr marL="0" indent="0">
              <a:buNone/>
            </a:pPr>
            <a:r>
              <a:rPr lang="en-US" sz="1600" i="1" dirty="0">
                <a:solidFill>
                  <a:srgbClr val="2A3550"/>
                </a:solidFill>
                <a:latin typeface="Merriweather" pitchFamily="34" charset="0"/>
                <a:ea typeface="Merriweather" pitchFamily="34" charset="-122"/>
                <a:cs typeface="Merriweather" pitchFamily="34" charset="-120"/>
              </a:rPr>
              <a:t>Redes neurais aprendem padrões · lógica garante consistência</a:t>
            </a:r>
            <a:endParaRPr lang="en-US" sz="16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4">
    <p:bg>
      <p:bgPr>
        <a:solidFill>
          <a:srgbClr val="1A223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Shape 1"/>
          <p:cNvSpPr/>
          <p:nvPr/>
        </p:nvSpPr>
        <p:spPr>
          <a:xfrm>
            <a:off x="4952848" y="1371600"/>
            <a:ext cx="2286000" cy="411480"/>
          </a:xfrm>
          <a:prstGeom prst="roundRect">
            <a:avLst>
              <a:gd name="adj" fmla="val 48889"/>
            </a:avLst>
          </a:prstGeom>
          <a:solidFill>
            <a:srgbClr val="E07A1F"/>
          </a:solidFill>
          <a:ln w="12700">
            <a:solidFill>
              <a:srgbClr val="E07A1F"/>
            </a:solidFill>
            <a:prstDash val="solid"/>
          </a:ln>
        </p:spPr>
      </p:sp>
      <p:sp>
        <p:nvSpPr>
          <p:cNvPr id="4" name="Text 2"/>
          <p:cNvSpPr/>
          <p:nvPr/>
        </p:nvSpPr>
        <p:spPr>
          <a:xfrm>
            <a:off x="4952848" y="1371600"/>
            <a:ext cx="2286000" cy="411480"/>
          </a:xfrm>
          <a:prstGeom prst="rect">
            <a:avLst/>
          </a:prstGeom>
          <a:noFill/>
          <a:ln/>
        </p:spPr>
        <p:txBody>
          <a:bodyPr wrap="square" rtlCol="0" anchor="ctr"/>
          <a:lstStyle/>
          <a:p>
            <a:pPr marL="0" indent="0" algn="ctr">
              <a:buNone/>
            </a:pPr>
            <a:r>
              <a:rPr lang="en-US" sz="1200" b="1" kern="0" spc="400" dirty="0">
                <a:solidFill>
                  <a:srgbClr val="FFFFFF"/>
                </a:solidFill>
                <a:latin typeface="Source Sans 3" pitchFamily="34" charset="0"/>
                <a:ea typeface="Source Sans 3" pitchFamily="34" charset="-122"/>
                <a:cs typeface="Source Sans 3" pitchFamily="34" charset="-120"/>
              </a:rPr>
              <a:t>FIM DO CAPÍTULO 7</a:t>
            </a:r>
            <a:endParaRPr lang="en-US" sz="1200" dirty="0"/>
          </a:p>
        </p:txBody>
      </p:sp>
      <p:sp>
        <p:nvSpPr>
          <p:cNvPr id="5" name="Text 3"/>
          <p:cNvSpPr/>
          <p:nvPr/>
        </p:nvSpPr>
        <p:spPr>
          <a:xfrm>
            <a:off x="502920" y="2103120"/>
            <a:ext cx="11185855" cy="1371600"/>
          </a:xfrm>
          <a:prstGeom prst="rect">
            <a:avLst/>
          </a:prstGeom>
          <a:noFill/>
          <a:ln/>
        </p:spPr>
        <p:txBody>
          <a:bodyPr wrap="square" rtlCol="0" anchor="ctr"/>
          <a:lstStyle/>
          <a:p>
            <a:pPr marL="0" indent="0" algn="ctr">
              <a:buNone/>
            </a:pPr>
            <a:r>
              <a:rPr lang="en-US" sz="4400" b="1" dirty="0">
                <a:solidFill>
                  <a:srgbClr val="F7F2E8"/>
                </a:solidFill>
                <a:latin typeface="Playfair Display" pitchFamily="34" charset="0"/>
                <a:ea typeface="Playfair Display" pitchFamily="34" charset="-122"/>
                <a:cs typeface="Playfair Display" pitchFamily="34" charset="-120"/>
              </a:rPr>
              <a:t>Conhecimento como código declarativo</a:t>
            </a:r>
            <a:endParaRPr lang="en-US" sz="4400" dirty="0"/>
          </a:p>
        </p:txBody>
      </p:sp>
      <p:sp>
        <p:nvSpPr>
          <p:cNvPr id="6" name="Text 4"/>
          <p:cNvSpPr/>
          <p:nvPr/>
        </p:nvSpPr>
        <p:spPr>
          <a:xfrm>
            <a:off x="1371600" y="3840480"/>
            <a:ext cx="9448495" cy="1371600"/>
          </a:xfrm>
          <a:prstGeom prst="rect">
            <a:avLst/>
          </a:prstGeom>
          <a:noFill/>
          <a:ln/>
        </p:spPr>
        <p:txBody>
          <a:bodyPr wrap="square" rtlCol="0" anchor="ctr"/>
          <a:lstStyle/>
          <a:p>
            <a:pPr marL="0" indent="0" algn="ctr">
              <a:buNone/>
            </a:pPr>
            <a:r>
              <a:rPr lang="en-US" sz="1800" i="1" dirty="0">
                <a:solidFill>
                  <a:srgbClr val="CBBFA3"/>
                </a:solidFill>
                <a:latin typeface="Merriweather" pitchFamily="34" charset="0"/>
                <a:ea typeface="Merriweather" pitchFamily="34" charset="-122"/>
                <a:cs typeface="Merriweather" pitchFamily="34" charset="-120"/>
              </a:rPr>
              <a:t>Lógica permite separar o que sabemos do como inferimos — base da IA explicável.</a:t>
            </a:r>
            <a:endParaRPr lang="en-US" sz="18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5">
    <p:bg>
      <p:bgPr>
        <a:solidFill>
          <a:srgbClr val="1A223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A3550"/>
          </a:solidFill>
          <a:ln w="12700">
            <a:solidFill>
              <a:srgbClr val="2A3550"/>
            </a:solidFill>
            <a:prstDash val="solid"/>
          </a:ln>
        </p:spPr>
      </p:sp>
      <p:sp>
        <p:nvSpPr>
          <p:cNvPr id="3" name="Shape 1"/>
          <p:cNvSpPr/>
          <p:nvPr/>
        </p:nvSpPr>
        <p:spPr>
          <a:xfrm>
            <a:off x="0" y="0"/>
            <a:ext cx="164592" cy="6858000"/>
          </a:xfrm>
          <a:prstGeom prst="rect">
            <a:avLst/>
          </a:prstGeom>
          <a:solidFill>
            <a:srgbClr val="E07A1F"/>
          </a:solidFill>
          <a:ln w="12700">
            <a:solidFill>
              <a:srgbClr val="E07A1F"/>
            </a:solidFill>
            <a:prstDash val="solid"/>
          </a:ln>
        </p:spPr>
      </p:sp>
      <p:sp>
        <p:nvSpPr>
          <p:cNvPr id="4" name="Text 2"/>
          <p:cNvSpPr/>
          <p:nvPr/>
        </p:nvSpPr>
        <p:spPr>
          <a:xfrm>
            <a:off x="9905695" y="228600"/>
            <a:ext cx="2011680" cy="274320"/>
          </a:xfrm>
          <a:prstGeom prst="rect">
            <a:avLst/>
          </a:prstGeom>
          <a:noFill/>
          <a:ln/>
        </p:spPr>
        <p:txBody>
          <a:bodyPr wrap="square" rtlCol="0" anchor="ctr"/>
          <a:lstStyle/>
          <a:p>
            <a:pPr marL="0" indent="0" algn="r">
              <a:buNone/>
            </a:pPr>
            <a:r>
              <a:rPr lang="en-US" sz="1100" b="1" kern="0" spc="400" dirty="0">
                <a:solidFill>
                  <a:srgbClr val="F3A96B"/>
                </a:solidFill>
                <a:latin typeface="Playfair Display" pitchFamily="34" charset="0"/>
                <a:ea typeface="Playfair Display" pitchFamily="34" charset="-122"/>
                <a:cs typeface="Playfair Display" pitchFamily="34" charset="-120"/>
              </a:rPr>
              <a:t>CAP. 08 · 01/7</a:t>
            </a:r>
            <a:endParaRPr lang="en-US" sz="1100" dirty="0"/>
          </a:p>
        </p:txBody>
      </p:sp>
      <p:sp>
        <p:nvSpPr>
          <p:cNvPr id="5" name="Text 3"/>
          <p:cNvSpPr/>
          <p:nvPr/>
        </p:nvSpPr>
        <p:spPr>
          <a:xfrm>
            <a:off x="502920" y="1371600"/>
            <a:ext cx="11185855" cy="365760"/>
          </a:xfrm>
          <a:prstGeom prst="rect">
            <a:avLst/>
          </a:prstGeom>
          <a:noFill/>
          <a:ln/>
        </p:spPr>
        <p:txBody>
          <a:bodyPr wrap="square" rtlCol="0" anchor="ctr"/>
          <a:lstStyle/>
          <a:p>
            <a:pPr marL="0" indent="0">
              <a:buNone/>
            </a:pPr>
            <a:r>
              <a:rPr lang="en-US" sz="1100" b="1" kern="0" spc="600" dirty="0">
                <a:solidFill>
                  <a:srgbClr val="F3A96B"/>
                </a:solidFill>
                <a:latin typeface="Source Sans 3" pitchFamily="34" charset="0"/>
                <a:ea typeface="Source Sans 3" pitchFamily="34" charset="-122"/>
                <a:cs typeface="Source Sans 3" pitchFamily="34" charset="-120"/>
              </a:rPr>
              <a:t>FUNDAMENTOS DE LÓGICA APLICADA À CIÊNCIA DE DADOS</a:t>
            </a:r>
            <a:endParaRPr lang="en-US" sz="1100" dirty="0"/>
          </a:p>
        </p:txBody>
      </p:sp>
      <p:sp>
        <p:nvSpPr>
          <p:cNvPr id="6" name="Text 4"/>
          <p:cNvSpPr/>
          <p:nvPr/>
        </p:nvSpPr>
        <p:spPr>
          <a:xfrm>
            <a:off x="502920" y="1828800"/>
            <a:ext cx="11185855" cy="2286000"/>
          </a:xfrm>
          <a:prstGeom prst="rect">
            <a:avLst/>
          </a:prstGeom>
          <a:noFill/>
          <a:ln/>
        </p:spPr>
        <p:txBody>
          <a:bodyPr wrap="square" rtlCol="0" anchor="ctr"/>
          <a:lstStyle/>
          <a:p>
            <a:pPr marL="0" indent="0">
              <a:buNone/>
            </a:pPr>
            <a:r>
              <a:rPr lang="en-US" sz="6000" b="1" dirty="0">
                <a:solidFill>
                  <a:srgbClr val="F7F2E8"/>
                </a:solidFill>
                <a:latin typeface="Playfair Display" pitchFamily="34" charset="0"/>
                <a:ea typeface="Playfair Display" pitchFamily="34" charset="-122"/>
                <a:cs typeface="Playfair Display" pitchFamily="34" charset="-120"/>
              </a:rPr>
              <a:t>Indução e</a:t>
            </a:r>
            <a:endParaRPr lang="en-US" sz="6000" dirty="0"/>
          </a:p>
          <a:p>
            <a:pPr marL="0" indent="0">
              <a:buNone/>
            </a:pPr>
            <a:r>
              <a:rPr lang="en-US" sz="6000" b="1" dirty="0">
                <a:solidFill>
                  <a:srgbClr val="F7F2E8"/>
                </a:solidFill>
                <a:latin typeface="Playfair Display" pitchFamily="34" charset="0"/>
                <a:ea typeface="Playfair Display" pitchFamily="34" charset="-122"/>
                <a:cs typeface="Playfair Display" pitchFamily="34" charset="-120"/>
              </a:rPr>
              <a:t>Probabilidade</a:t>
            </a:r>
            <a:endParaRPr lang="en-US" sz="6000" dirty="0"/>
          </a:p>
        </p:txBody>
      </p:sp>
      <p:sp>
        <p:nvSpPr>
          <p:cNvPr id="7" name="Text 5"/>
          <p:cNvSpPr/>
          <p:nvPr/>
        </p:nvSpPr>
        <p:spPr>
          <a:xfrm>
            <a:off x="502920" y="4297680"/>
            <a:ext cx="11185855" cy="914400"/>
          </a:xfrm>
          <a:prstGeom prst="rect">
            <a:avLst/>
          </a:prstGeom>
          <a:noFill/>
          <a:ln/>
        </p:spPr>
        <p:txBody>
          <a:bodyPr wrap="square" rtlCol="0" anchor="ctr"/>
          <a:lstStyle/>
          <a:p>
            <a:pPr marL="0" indent="0">
              <a:buNone/>
            </a:pPr>
            <a:r>
              <a:rPr lang="en-US" sz="1800" i="1" dirty="0">
                <a:solidFill>
                  <a:srgbClr val="CBBFA3"/>
                </a:solidFill>
                <a:latin typeface="Merriweather" pitchFamily="34" charset="0"/>
                <a:ea typeface="Merriweather" pitchFamily="34" charset="-122"/>
                <a:cs typeface="Merriweather" pitchFamily="34" charset="-120"/>
              </a:rPr>
              <a:t>Lógica encontra a incerteza dos dados</a:t>
            </a:r>
            <a:endParaRPr lang="en-US" sz="1800" dirty="0"/>
          </a:p>
        </p:txBody>
      </p:sp>
      <p:sp>
        <p:nvSpPr>
          <p:cNvPr id="8" name="Shape 6"/>
          <p:cNvSpPr/>
          <p:nvPr/>
        </p:nvSpPr>
        <p:spPr>
          <a:xfrm>
            <a:off x="502920" y="6446520"/>
            <a:ext cx="11185855" cy="0"/>
          </a:xfrm>
          <a:prstGeom prst="line">
            <a:avLst/>
          </a:prstGeom>
          <a:noFill/>
          <a:ln w="6350">
            <a:solidFill>
              <a:srgbClr val="4B5563"/>
            </a:solidFill>
            <a:prstDash val="solid"/>
          </a:ln>
        </p:spPr>
      </p:sp>
      <p:sp>
        <p:nvSpPr>
          <p:cNvPr id="9" name="Text 7"/>
          <p:cNvSpPr/>
          <p:nvPr/>
        </p:nvSpPr>
        <p:spPr>
          <a:xfrm>
            <a:off x="502920" y="6492240"/>
            <a:ext cx="11185855" cy="274320"/>
          </a:xfrm>
          <a:prstGeom prst="rect">
            <a:avLst/>
          </a:prstGeom>
          <a:noFill/>
          <a:ln/>
        </p:spPr>
        <p:txBody>
          <a:bodyPr wrap="square" rtlCol="0" anchor="ctr"/>
          <a:lstStyle/>
          <a:p>
            <a:r>
              <a:rPr lang="en-US" sz="900" b="1" kern="0" spc="300" dirty="0">
                <a:solidFill>
                  <a:srgbClr val="9CA3AF"/>
                </a:solidFill>
                <a:latin typeface="Source Sans 3" pitchFamily="34" charset="0"/>
                <a:ea typeface="Source Sans 3" pitchFamily="34" charset="-122"/>
                <a:cs typeface="Source Sans 3" pitchFamily="34" charset="-120"/>
              </a:rPr>
              <a:t>ALICCE · Helena Reis &amp; Anderson Marcolino</a:t>
            </a:r>
            <a:endParaRPr lang="en-US" sz="9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6">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02 / 7</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DEDUÇÃO VS. INDUÇÃO</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8 · Raciocínio Indutivo e Probabilístico</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Dois modos de inferência</a:t>
            </a:r>
            <a:endParaRPr lang="en-US" sz="3600" dirty="0"/>
          </a:p>
        </p:txBody>
      </p:sp>
      <p:graphicFrame>
        <p:nvGraphicFramePr>
          <p:cNvPr id="107" name="Table 0"/>
          <p:cNvGraphicFramePr>
            <a:graphicFrameLocks noGrp="1"/>
          </p:cNvGraphicFramePr>
          <p:nvPr>
            <p:extLst>
              <p:ext uri="{D42A27DB-BD31-4B8C-83A1-F6EECF244321}">
                <p14:modId xmlns:p14="http://schemas.microsoft.com/office/powerpoint/2010/main" val="1579011935"/>
              </p:ext>
            </p:extLst>
          </p:nvPr>
        </p:nvGraphicFramePr>
        <p:xfrm>
          <a:off x="1523848" y="2103120"/>
          <a:ext cx="9144000" cy="1920240"/>
        </p:xfrm>
        <a:graphic>
          <a:graphicData uri="http://schemas.openxmlformats.org/drawingml/2006/table">
            <a:tbl>
              <a:tblPr/>
              <a:tblGrid>
                <a:gridCol w="27432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384048">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Aspecto</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Dedução</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Indução</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extLst>
                  <a:ext uri="{0D108BD9-81ED-4DB2-BD59-A6C34878D82A}">
                    <a16:rowId xmlns:a16="http://schemas.microsoft.com/office/drawing/2014/main" val="10000"/>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Garantia</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Certa</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Provável</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Direção</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Geral → específico</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Específico → geral</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Erro</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Impossível</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Sempre possível</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Exemplo</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Modus Ponens</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Generalização</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0" name="Text 7"/>
          <p:cNvSpPr/>
          <p:nvPr/>
        </p:nvSpPr>
        <p:spPr>
          <a:xfrm>
            <a:off x="1523848" y="4069080"/>
            <a:ext cx="9144000" cy="274320"/>
          </a:xfrm>
          <a:prstGeom prst="rect">
            <a:avLst/>
          </a:prstGeom>
          <a:noFill/>
          <a:ln/>
        </p:spPr>
        <p:txBody>
          <a:bodyPr wrap="square" rtlCol="0" anchor="ctr"/>
          <a:lstStyle/>
          <a:p>
            <a:pPr marL="0" indent="0" algn="ctr">
              <a:buNone/>
            </a:pPr>
            <a:r>
              <a:rPr lang="en-US" sz="1000" i="1" dirty="0">
                <a:solidFill>
                  <a:srgbClr val="6B6452"/>
                </a:solidFill>
                <a:latin typeface="Source Sans 3" pitchFamily="34" charset="0"/>
                <a:ea typeface="Source Sans 3" pitchFamily="34" charset="-122"/>
                <a:cs typeface="Source Sans 3" pitchFamily="34" charset="-120"/>
              </a:rPr>
              <a:t>Indução amplia o conhecimento mas pode falhar.</a:t>
            </a:r>
            <a:endParaRPr lang="en-US" sz="10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7">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03 / 7</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BAYES</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8 · Raciocínio Indutivo e Probabilístico</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Teorema fundamental</a:t>
            </a:r>
            <a:endParaRPr lang="en-US" sz="3600" dirty="0"/>
          </a:p>
        </p:txBody>
      </p:sp>
      <p:sp>
        <p:nvSpPr>
          <p:cNvPr id="9" name="Shape 7"/>
          <p:cNvSpPr/>
          <p:nvPr/>
        </p:nvSpPr>
        <p:spPr>
          <a:xfrm>
            <a:off x="1981048" y="2377440"/>
            <a:ext cx="8229600" cy="1371600"/>
          </a:xfrm>
          <a:prstGeom prst="rect">
            <a:avLst/>
          </a:prstGeom>
          <a:solidFill>
            <a:srgbClr val="FFFFFF"/>
          </a:solidFill>
          <a:ln w="12700">
            <a:solidFill>
              <a:srgbClr val="CBBFA3"/>
            </a:solidFill>
            <a:prstDash val="solid"/>
          </a:ln>
        </p:spPr>
      </p:sp>
      <p:sp>
        <p:nvSpPr>
          <p:cNvPr id="10" name="Shape 8"/>
          <p:cNvSpPr/>
          <p:nvPr/>
        </p:nvSpPr>
        <p:spPr>
          <a:xfrm>
            <a:off x="1981048" y="2377440"/>
            <a:ext cx="64008" cy="1371600"/>
          </a:xfrm>
          <a:prstGeom prst="rect">
            <a:avLst/>
          </a:prstGeom>
          <a:solidFill>
            <a:srgbClr val="E07A1F"/>
          </a:solidFill>
          <a:ln w="12700">
            <a:solidFill>
              <a:srgbClr val="E07A1F"/>
            </a:solidFill>
            <a:prstDash val="solid"/>
          </a:ln>
        </p:spPr>
      </p:sp>
      <p:sp>
        <p:nvSpPr>
          <p:cNvPr id="11" name="Text 9"/>
          <p:cNvSpPr/>
          <p:nvPr/>
        </p:nvSpPr>
        <p:spPr>
          <a:xfrm>
            <a:off x="2163928" y="2377440"/>
            <a:ext cx="7955280" cy="1371600"/>
          </a:xfrm>
          <a:prstGeom prst="rect">
            <a:avLst/>
          </a:prstGeom>
          <a:noFill/>
          <a:ln/>
        </p:spPr>
        <p:txBody>
          <a:bodyPr wrap="square" rtlCol="0" anchor="ctr"/>
          <a:lstStyle/>
          <a:p>
            <a:pPr marL="0" indent="0" algn="ctr">
              <a:buNone/>
            </a:pPr>
            <a:r>
              <a:rPr lang="en-US" sz="2400" dirty="0">
                <a:solidFill>
                  <a:srgbClr val="1A2238"/>
                </a:solidFill>
                <a:latin typeface="Cambria" pitchFamily="34" charset="0"/>
                <a:ea typeface="Cambria" pitchFamily="34" charset="-122"/>
                <a:cs typeface="Cambria" pitchFamily="34" charset="-120"/>
              </a:rPr>
              <a:t>P(H | D)  =  P(D | H) · P(H) / P(D)</a:t>
            </a:r>
            <a:endParaRPr lang="en-US" sz="2400" dirty="0"/>
          </a:p>
        </p:txBody>
      </p:sp>
      <p:sp>
        <p:nvSpPr>
          <p:cNvPr id="12" name="Text 10"/>
          <p:cNvSpPr/>
          <p:nvPr/>
        </p:nvSpPr>
        <p:spPr>
          <a:xfrm>
            <a:off x="502920" y="3840480"/>
            <a:ext cx="11185855" cy="365760"/>
          </a:xfrm>
          <a:prstGeom prst="rect">
            <a:avLst/>
          </a:prstGeom>
          <a:noFill/>
          <a:ln/>
        </p:spPr>
        <p:txBody>
          <a:bodyPr wrap="square" rtlCol="0" anchor="ctr"/>
          <a:lstStyle/>
          <a:p>
            <a:pPr marL="0" indent="0" algn="ctr">
              <a:buNone/>
            </a:pPr>
            <a:r>
              <a:rPr lang="en-US" sz="1200" i="1" dirty="0">
                <a:solidFill>
                  <a:srgbClr val="6B6452"/>
                </a:solidFill>
                <a:latin typeface="Source Sans 3" pitchFamily="34" charset="0"/>
                <a:ea typeface="Source Sans 3" pitchFamily="34" charset="-122"/>
                <a:cs typeface="Source Sans 3" pitchFamily="34" charset="-120"/>
              </a:rPr>
              <a:t>Atualizar crença com evidência.</a:t>
            </a:r>
            <a:endParaRPr lang="en-US" sz="12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8">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04 / 7</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EXEMPLO MÉDICO</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8 · Raciocínio Indutivo e Probabilístico</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Teste positivo: probabilidade real</a:t>
            </a:r>
            <a:endParaRPr lang="en-US" sz="3600" dirty="0"/>
          </a:p>
        </p:txBody>
      </p:sp>
      <p:sp>
        <p:nvSpPr>
          <p:cNvPr id="9" name="Shape 7"/>
          <p:cNvSpPr/>
          <p:nvPr/>
        </p:nvSpPr>
        <p:spPr>
          <a:xfrm>
            <a:off x="502920" y="1828800"/>
            <a:ext cx="11185855" cy="4206240"/>
          </a:xfrm>
          <a:prstGeom prst="rect">
            <a:avLst/>
          </a:prstGeom>
          <a:solidFill>
            <a:srgbClr val="1A2238"/>
          </a:solidFill>
          <a:ln w="12700">
            <a:solidFill>
              <a:srgbClr val="2A3550"/>
            </a:solidFill>
            <a:prstDash val="solid"/>
          </a:ln>
        </p:spPr>
      </p:sp>
      <p:sp>
        <p:nvSpPr>
          <p:cNvPr id="10" name="Shape 8"/>
          <p:cNvSpPr/>
          <p:nvPr/>
        </p:nvSpPr>
        <p:spPr>
          <a:xfrm>
            <a:off x="502920" y="1828800"/>
            <a:ext cx="64008" cy="4206240"/>
          </a:xfrm>
          <a:prstGeom prst="rect">
            <a:avLst/>
          </a:prstGeom>
          <a:solidFill>
            <a:srgbClr val="E07A1F"/>
          </a:solidFill>
          <a:ln w="12700">
            <a:solidFill>
              <a:srgbClr val="E07A1F"/>
            </a:solidFill>
            <a:prstDash val="solid"/>
          </a:ln>
        </p:spPr>
      </p:sp>
      <p:sp>
        <p:nvSpPr>
          <p:cNvPr id="11" name="Text 9"/>
          <p:cNvSpPr/>
          <p:nvPr/>
        </p:nvSpPr>
        <p:spPr>
          <a:xfrm>
            <a:off x="731520" y="1920240"/>
            <a:ext cx="10820095" cy="4023360"/>
          </a:xfrm>
          <a:prstGeom prst="rect">
            <a:avLst/>
          </a:prstGeom>
          <a:noFill/>
          <a:ln/>
        </p:spPr>
        <p:txBody>
          <a:bodyPr wrap="square" rtlCol="0" anchor="t"/>
          <a:lstStyle/>
          <a:p>
            <a:pPr marL="0" indent="0">
              <a:buNone/>
            </a:pPr>
            <a:r>
              <a:rPr lang="en-US" sz="1400" dirty="0">
                <a:solidFill>
                  <a:srgbClr val="F7F2E8"/>
                </a:solidFill>
                <a:latin typeface="Consolas" pitchFamily="34" charset="0"/>
                <a:ea typeface="Consolas" pitchFamily="34" charset="-122"/>
                <a:cs typeface="Consolas" pitchFamily="34" charset="-120"/>
              </a:rPr>
              <a:t>Doença rara: P(D) = 0.01</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Sensibilidade: P(+ | D) = 0.99</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Especificidade: P(− | ¬D) = 0.99   →   P(+ | ¬D) = 0.01</a:t>
            </a:r>
            <a:endParaRPr lang="en-US" sz="1400" dirty="0"/>
          </a:p>
          <a:p>
            <a:pPr marL="0" indent="0">
              <a:buNone/>
            </a:pP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Teste positivo. Probabilidade de ter a doença?</a:t>
            </a:r>
            <a:endParaRPr lang="en-US" sz="1400" dirty="0"/>
          </a:p>
          <a:p>
            <a:pPr marL="0" indent="0">
              <a:buNone/>
            </a:pP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P(+) = P(+|D)·P(D) + P(+|¬D)·P(¬D)</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 0.99·0.01 + 0.01·0.99 = 0.0198</a:t>
            </a:r>
            <a:endParaRPr lang="en-US" sz="1400" dirty="0"/>
          </a:p>
          <a:p>
            <a:pPr marL="0" indent="0">
              <a:buNone/>
            </a:pP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P(D | +) = 0.99·0.01 / 0.0198 ≈ 0.5</a:t>
            </a:r>
            <a:endParaRPr lang="en-US" sz="1400" dirty="0"/>
          </a:p>
          <a:p>
            <a:pPr marL="0" indent="0">
              <a:buNone/>
            </a:pP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Mesmo com teste 99% acurado, há só 50% de chance!</a:t>
            </a:r>
            <a:endParaRPr lang="en-US" sz="14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09">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05 / 7</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REDES BAYESIANAS</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8 · Raciocínio Indutivo e Probabilístico</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Estrutura gráfica</a:t>
            </a:r>
            <a:endParaRPr lang="en-US" sz="3600" dirty="0"/>
          </a:p>
        </p:txBody>
      </p:sp>
      <p:sp>
        <p:nvSpPr>
          <p:cNvPr id="9" name="Shape 7"/>
          <p:cNvSpPr/>
          <p:nvPr/>
        </p:nvSpPr>
        <p:spPr>
          <a:xfrm>
            <a:off x="502920" y="2194560"/>
            <a:ext cx="3576218" cy="2011680"/>
          </a:xfrm>
          <a:prstGeom prst="rect">
            <a:avLst/>
          </a:prstGeom>
          <a:solidFill>
            <a:srgbClr val="FFFFFF"/>
          </a:solidFill>
          <a:ln w="9525">
            <a:solidFill>
              <a:srgbClr val="CBBFA3"/>
            </a:solidFill>
            <a:prstDash val="solid"/>
          </a:ln>
        </p:spPr>
      </p:sp>
      <p:sp>
        <p:nvSpPr>
          <p:cNvPr id="10" name="Text 8"/>
          <p:cNvSpPr/>
          <p:nvPr/>
        </p:nvSpPr>
        <p:spPr>
          <a:xfrm>
            <a:off x="685800"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NÓS</a:t>
            </a:r>
            <a:endParaRPr lang="en-US" sz="900" dirty="0"/>
          </a:p>
        </p:txBody>
      </p:sp>
      <p:sp>
        <p:nvSpPr>
          <p:cNvPr id="11" name="Text 9"/>
          <p:cNvSpPr/>
          <p:nvPr/>
        </p:nvSpPr>
        <p:spPr>
          <a:xfrm>
            <a:off x="685800"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Variáveis</a:t>
            </a:r>
            <a:endParaRPr lang="en-US" sz="1800" dirty="0"/>
          </a:p>
        </p:txBody>
      </p:sp>
      <p:sp>
        <p:nvSpPr>
          <p:cNvPr id="12" name="Text 10"/>
          <p:cNvSpPr/>
          <p:nvPr/>
        </p:nvSpPr>
        <p:spPr>
          <a:xfrm>
            <a:off x="685800"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Cada nó é uma proposição incerta.</a:t>
            </a:r>
            <a:endParaRPr lang="en-US" sz="1300" dirty="0"/>
          </a:p>
        </p:txBody>
      </p:sp>
      <p:sp>
        <p:nvSpPr>
          <p:cNvPr id="13" name="Shape 11"/>
          <p:cNvSpPr/>
          <p:nvPr/>
        </p:nvSpPr>
        <p:spPr>
          <a:xfrm>
            <a:off x="4307738" y="2194560"/>
            <a:ext cx="3576218" cy="2011680"/>
          </a:xfrm>
          <a:prstGeom prst="rect">
            <a:avLst/>
          </a:prstGeom>
          <a:solidFill>
            <a:srgbClr val="FFFFFF"/>
          </a:solidFill>
          <a:ln w="9525">
            <a:solidFill>
              <a:srgbClr val="CBBFA3"/>
            </a:solidFill>
            <a:prstDash val="solid"/>
          </a:ln>
        </p:spPr>
      </p:sp>
      <p:sp>
        <p:nvSpPr>
          <p:cNvPr id="14" name="Text 12"/>
          <p:cNvSpPr/>
          <p:nvPr/>
        </p:nvSpPr>
        <p:spPr>
          <a:xfrm>
            <a:off x="4490618"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ARESTAS</a:t>
            </a:r>
            <a:endParaRPr lang="en-US" sz="900" dirty="0"/>
          </a:p>
        </p:txBody>
      </p:sp>
      <p:sp>
        <p:nvSpPr>
          <p:cNvPr id="15" name="Text 13"/>
          <p:cNvSpPr/>
          <p:nvPr/>
        </p:nvSpPr>
        <p:spPr>
          <a:xfrm>
            <a:off x="4490618"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Influência</a:t>
            </a:r>
            <a:endParaRPr lang="en-US" sz="1800" dirty="0"/>
          </a:p>
        </p:txBody>
      </p:sp>
      <p:sp>
        <p:nvSpPr>
          <p:cNvPr id="16" name="Text 14"/>
          <p:cNvSpPr/>
          <p:nvPr/>
        </p:nvSpPr>
        <p:spPr>
          <a:xfrm>
            <a:off x="4490618"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Pai → filho: dependência causal.</a:t>
            </a:r>
            <a:endParaRPr lang="en-US" sz="1300" dirty="0"/>
          </a:p>
        </p:txBody>
      </p:sp>
      <p:sp>
        <p:nvSpPr>
          <p:cNvPr id="17" name="Shape 15"/>
          <p:cNvSpPr/>
          <p:nvPr/>
        </p:nvSpPr>
        <p:spPr>
          <a:xfrm>
            <a:off x="8112557" y="2194560"/>
            <a:ext cx="3576218" cy="2011680"/>
          </a:xfrm>
          <a:prstGeom prst="rect">
            <a:avLst/>
          </a:prstGeom>
          <a:solidFill>
            <a:srgbClr val="FFFFFF"/>
          </a:solidFill>
          <a:ln w="9525">
            <a:solidFill>
              <a:srgbClr val="CBBFA3"/>
            </a:solidFill>
            <a:prstDash val="solid"/>
          </a:ln>
        </p:spPr>
      </p:sp>
      <p:sp>
        <p:nvSpPr>
          <p:cNvPr id="18" name="Text 16"/>
          <p:cNvSpPr/>
          <p:nvPr/>
        </p:nvSpPr>
        <p:spPr>
          <a:xfrm>
            <a:off x="8295437"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CPTS</a:t>
            </a:r>
            <a:endParaRPr lang="en-US" sz="900" dirty="0"/>
          </a:p>
        </p:txBody>
      </p:sp>
      <p:sp>
        <p:nvSpPr>
          <p:cNvPr id="19" name="Text 17"/>
          <p:cNvSpPr/>
          <p:nvPr/>
        </p:nvSpPr>
        <p:spPr>
          <a:xfrm>
            <a:off x="8295437"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Tabelas</a:t>
            </a:r>
            <a:endParaRPr lang="en-US" sz="1800" dirty="0"/>
          </a:p>
        </p:txBody>
      </p:sp>
      <p:sp>
        <p:nvSpPr>
          <p:cNvPr id="20" name="Text 18"/>
          <p:cNvSpPr/>
          <p:nvPr/>
        </p:nvSpPr>
        <p:spPr>
          <a:xfrm>
            <a:off x="8295437"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P(filho | pais) em cada nó.</a:t>
            </a:r>
            <a:endParaRPr lang="en-US" sz="13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0">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06 / 7</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LÓGICA FUZZY</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8 · Raciocínio Indutivo e Probabilístico</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Verdade gradual</a:t>
            </a:r>
            <a:endParaRPr lang="en-US" sz="3600" dirty="0"/>
          </a:p>
        </p:txBody>
      </p:sp>
      <p:sp>
        <p:nvSpPr>
          <p:cNvPr id="9" name="Text 7"/>
          <p:cNvSpPr/>
          <p:nvPr/>
        </p:nvSpPr>
        <p:spPr>
          <a:xfrm>
            <a:off x="502920" y="1554480"/>
            <a:ext cx="11185855" cy="457200"/>
          </a:xfrm>
          <a:prstGeom prst="rect">
            <a:avLst/>
          </a:prstGeom>
          <a:noFill/>
          <a:ln/>
        </p:spPr>
        <p:txBody>
          <a:bodyPr wrap="square" rtlCol="0" anchor="ctr"/>
          <a:lstStyle/>
          <a:p>
            <a:pPr marL="0" indent="0">
              <a:buNone/>
            </a:pPr>
            <a:r>
              <a:rPr lang="en-US" sz="1600" i="1" dirty="0">
                <a:solidFill>
                  <a:srgbClr val="2A3550"/>
                </a:solidFill>
                <a:latin typeface="Merriweather" pitchFamily="34" charset="0"/>
                <a:ea typeface="Merriweather" pitchFamily="34" charset="-122"/>
                <a:cs typeface="Merriweather" pitchFamily="34" charset="-120"/>
              </a:rPr>
              <a:t>Valores em [0,1] em vez de {0,1}</a:t>
            </a:r>
            <a:endParaRPr lang="en-US" sz="16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1">
    <p:bg>
      <p:bgPr>
        <a:solidFill>
          <a:srgbClr val="1A223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Shape 1"/>
          <p:cNvSpPr/>
          <p:nvPr/>
        </p:nvSpPr>
        <p:spPr>
          <a:xfrm>
            <a:off x="4952848" y="1371600"/>
            <a:ext cx="2286000" cy="411480"/>
          </a:xfrm>
          <a:prstGeom prst="roundRect">
            <a:avLst>
              <a:gd name="adj" fmla="val 48889"/>
            </a:avLst>
          </a:prstGeom>
          <a:solidFill>
            <a:srgbClr val="E07A1F"/>
          </a:solidFill>
          <a:ln w="12700">
            <a:solidFill>
              <a:srgbClr val="E07A1F"/>
            </a:solidFill>
            <a:prstDash val="solid"/>
          </a:ln>
        </p:spPr>
      </p:sp>
      <p:sp>
        <p:nvSpPr>
          <p:cNvPr id="4" name="Text 2"/>
          <p:cNvSpPr/>
          <p:nvPr/>
        </p:nvSpPr>
        <p:spPr>
          <a:xfrm>
            <a:off x="4952848" y="1371600"/>
            <a:ext cx="2286000" cy="411480"/>
          </a:xfrm>
          <a:prstGeom prst="rect">
            <a:avLst/>
          </a:prstGeom>
          <a:noFill/>
          <a:ln/>
        </p:spPr>
        <p:txBody>
          <a:bodyPr wrap="square" rtlCol="0" anchor="ctr"/>
          <a:lstStyle/>
          <a:p>
            <a:pPr marL="0" indent="0" algn="ctr">
              <a:buNone/>
            </a:pPr>
            <a:r>
              <a:rPr lang="en-US" sz="1200" b="1" kern="0" spc="400" dirty="0">
                <a:solidFill>
                  <a:srgbClr val="FFFFFF"/>
                </a:solidFill>
                <a:latin typeface="Source Sans 3" pitchFamily="34" charset="0"/>
                <a:ea typeface="Source Sans 3" pitchFamily="34" charset="-122"/>
                <a:cs typeface="Source Sans 3" pitchFamily="34" charset="-120"/>
              </a:rPr>
              <a:t>FIM DO CAPÍTULO 8</a:t>
            </a:r>
            <a:endParaRPr lang="en-US" sz="1200" dirty="0"/>
          </a:p>
        </p:txBody>
      </p:sp>
      <p:sp>
        <p:nvSpPr>
          <p:cNvPr id="5" name="Text 3"/>
          <p:cNvSpPr/>
          <p:nvPr/>
        </p:nvSpPr>
        <p:spPr>
          <a:xfrm>
            <a:off x="502920" y="2103120"/>
            <a:ext cx="11185855" cy="1371600"/>
          </a:xfrm>
          <a:prstGeom prst="rect">
            <a:avLst/>
          </a:prstGeom>
          <a:noFill/>
          <a:ln/>
        </p:spPr>
        <p:txBody>
          <a:bodyPr wrap="square" rtlCol="0" anchor="ctr"/>
          <a:lstStyle/>
          <a:p>
            <a:pPr marL="0" indent="0" algn="ctr">
              <a:buNone/>
            </a:pPr>
            <a:r>
              <a:rPr lang="en-US" sz="4400" b="1" dirty="0">
                <a:solidFill>
                  <a:srgbClr val="F7F2E8"/>
                </a:solidFill>
                <a:latin typeface="Playfair Display" pitchFamily="34" charset="0"/>
                <a:ea typeface="Playfair Display" pitchFamily="34" charset="-122"/>
                <a:cs typeface="Playfair Display" pitchFamily="34" charset="-120"/>
              </a:rPr>
              <a:t>Raciocinar sob incerteza</a:t>
            </a:r>
            <a:endParaRPr lang="en-US" sz="4400" dirty="0"/>
          </a:p>
        </p:txBody>
      </p:sp>
      <p:sp>
        <p:nvSpPr>
          <p:cNvPr id="6" name="Text 4"/>
          <p:cNvSpPr/>
          <p:nvPr/>
        </p:nvSpPr>
        <p:spPr>
          <a:xfrm>
            <a:off x="1371600" y="3840480"/>
            <a:ext cx="9448495" cy="1371600"/>
          </a:xfrm>
          <a:prstGeom prst="rect">
            <a:avLst/>
          </a:prstGeom>
          <a:noFill/>
          <a:ln/>
        </p:spPr>
        <p:txBody>
          <a:bodyPr wrap="square" rtlCol="0" anchor="ctr"/>
          <a:lstStyle/>
          <a:p>
            <a:pPr marL="0" indent="0" algn="ctr">
              <a:buNone/>
            </a:pPr>
            <a:r>
              <a:rPr lang="en-US" sz="1800" i="1" dirty="0">
                <a:solidFill>
                  <a:srgbClr val="CBBFA3"/>
                </a:solidFill>
                <a:latin typeface="Merriweather" pitchFamily="34" charset="0"/>
                <a:ea typeface="Merriweather" pitchFamily="34" charset="-122"/>
                <a:cs typeface="Merriweather" pitchFamily="34" charset="-120"/>
              </a:rPr>
              <a:t>Probabilidade e fuzzy estendem a lógica para o mundo real, ruidoso e ambíguo.</a:t>
            </a:r>
            <a:endParaRPr lang="en-US" sz="18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2">
    <p:bg>
      <p:bgPr>
        <a:solidFill>
          <a:srgbClr val="1A223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A3550"/>
          </a:solidFill>
          <a:ln w="12700">
            <a:solidFill>
              <a:srgbClr val="2A3550"/>
            </a:solidFill>
            <a:prstDash val="solid"/>
          </a:ln>
        </p:spPr>
      </p:sp>
      <p:sp>
        <p:nvSpPr>
          <p:cNvPr id="3" name="Shape 1"/>
          <p:cNvSpPr/>
          <p:nvPr/>
        </p:nvSpPr>
        <p:spPr>
          <a:xfrm>
            <a:off x="0" y="0"/>
            <a:ext cx="164592" cy="6858000"/>
          </a:xfrm>
          <a:prstGeom prst="rect">
            <a:avLst/>
          </a:prstGeom>
          <a:solidFill>
            <a:srgbClr val="E07A1F"/>
          </a:solidFill>
          <a:ln w="12700">
            <a:solidFill>
              <a:srgbClr val="E07A1F"/>
            </a:solidFill>
            <a:prstDash val="solid"/>
          </a:ln>
        </p:spPr>
      </p:sp>
      <p:sp>
        <p:nvSpPr>
          <p:cNvPr id="4" name="Text 2"/>
          <p:cNvSpPr/>
          <p:nvPr/>
        </p:nvSpPr>
        <p:spPr>
          <a:xfrm>
            <a:off x="9905695" y="228600"/>
            <a:ext cx="2011680" cy="274320"/>
          </a:xfrm>
          <a:prstGeom prst="rect">
            <a:avLst/>
          </a:prstGeom>
          <a:noFill/>
          <a:ln/>
        </p:spPr>
        <p:txBody>
          <a:bodyPr wrap="square" rtlCol="0" anchor="ctr"/>
          <a:lstStyle/>
          <a:p>
            <a:pPr marL="0" indent="0" algn="r">
              <a:buNone/>
            </a:pPr>
            <a:r>
              <a:rPr lang="en-US" sz="1100" b="1" kern="0" spc="400" dirty="0">
                <a:solidFill>
                  <a:srgbClr val="F3A96B"/>
                </a:solidFill>
                <a:latin typeface="Playfair Display" pitchFamily="34" charset="0"/>
                <a:ea typeface="Playfair Display" pitchFamily="34" charset="-122"/>
                <a:cs typeface="Playfair Display" pitchFamily="34" charset="-120"/>
              </a:rPr>
              <a:t>CAP. 09 · 01/7</a:t>
            </a:r>
            <a:endParaRPr lang="en-US" sz="1100" dirty="0"/>
          </a:p>
        </p:txBody>
      </p:sp>
      <p:sp>
        <p:nvSpPr>
          <p:cNvPr id="5" name="Text 3"/>
          <p:cNvSpPr/>
          <p:nvPr/>
        </p:nvSpPr>
        <p:spPr>
          <a:xfrm>
            <a:off x="502920" y="1371600"/>
            <a:ext cx="11185855" cy="365760"/>
          </a:xfrm>
          <a:prstGeom prst="rect">
            <a:avLst/>
          </a:prstGeom>
          <a:noFill/>
          <a:ln/>
        </p:spPr>
        <p:txBody>
          <a:bodyPr wrap="square" rtlCol="0" anchor="ctr"/>
          <a:lstStyle/>
          <a:p>
            <a:pPr marL="0" indent="0">
              <a:buNone/>
            </a:pPr>
            <a:r>
              <a:rPr lang="en-US" sz="1100" b="1" kern="0" spc="600" dirty="0">
                <a:solidFill>
                  <a:srgbClr val="F3A96B"/>
                </a:solidFill>
                <a:latin typeface="Source Sans 3" pitchFamily="34" charset="0"/>
                <a:ea typeface="Source Sans 3" pitchFamily="34" charset="-122"/>
                <a:cs typeface="Source Sans 3" pitchFamily="34" charset="-120"/>
              </a:rPr>
              <a:t>FUNDAMENTOS DE LÓGICA APLICADA À CIÊNCIA DE DADOS</a:t>
            </a:r>
            <a:endParaRPr lang="en-US" sz="1100" dirty="0"/>
          </a:p>
        </p:txBody>
      </p:sp>
      <p:sp>
        <p:nvSpPr>
          <p:cNvPr id="6" name="Text 4"/>
          <p:cNvSpPr/>
          <p:nvPr/>
        </p:nvSpPr>
        <p:spPr>
          <a:xfrm>
            <a:off x="502920" y="1828800"/>
            <a:ext cx="11185855" cy="2286000"/>
          </a:xfrm>
          <a:prstGeom prst="rect">
            <a:avLst/>
          </a:prstGeom>
          <a:noFill/>
          <a:ln/>
        </p:spPr>
        <p:txBody>
          <a:bodyPr wrap="square" rtlCol="0" anchor="ctr"/>
          <a:lstStyle/>
          <a:p>
            <a:pPr marL="0" indent="0">
              <a:buNone/>
            </a:pPr>
            <a:r>
              <a:rPr lang="en-US" sz="6000" b="1" dirty="0">
                <a:solidFill>
                  <a:srgbClr val="F7F2E8"/>
                </a:solidFill>
                <a:latin typeface="Playfair Display" pitchFamily="34" charset="0"/>
                <a:ea typeface="Playfair Display" pitchFamily="34" charset="-122"/>
                <a:cs typeface="Playfair Display" pitchFamily="34" charset="-120"/>
              </a:rPr>
              <a:t>Lógicas</a:t>
            </a:r>
            <a:endParaRPr lang="en-US" sz="6000" dirty="0"/>
          </a:p>
          <a:p>
            <a:pPr marL="0" indent="0">
              <a:buNone/>
            </a:pPr>
            <a:r>
              <a:rPr lang="en-US" sz="6000" b="1" dirty="0">
                <a:solidFill>
                  <a:srgbClr val="F7F2E8"/>
                </a:solidFill>
                <a:latin typeface="Playfair Display" pitchFamily="34" charset="0"/>
                <a:ea typeface="Playfair Display" pitchFamily="34" charset="-122"/>
                <a:cs typeface="Playfair Display" pitchFamily="34" charset="-120"/>
              </a:rPr>
              <a:t>Não-Clássicas</a:t>
            </a:r>
            <a:endParaRPr lang="en-US" sz="6000" dirty="0"/>
          </a:p>
        </p:txBody>
      </p:sp>
      <p:sp>
        <p:nvSpPr>
          <p:cNvPr id="7" name="Text 5"/>
          <p:cNvSpPr/>
          <p:nvPr/>
        </p:nvSpPr>
        <p:spPr>
          <a:xfrm>
            <a:off x="502920" y="4297680"/>
            <a:ext cx="11185855" cy="914400"/>
          </a:xfrm>
          <a:prstGeom prst="rect">
            <a:avLst/>
          </a:prstGeom>
          <a:noFill/>
          <a:ln/>
        </p:spPr>
        <p:txBody>
          <a:bodyPr wrap="square" rtlCol="0" anchor="ctr"/>
          <a:lstStyle/>
          <a:p>
            <a:pPr marL="0" indent="0">
              <a:buNone/>
            </a:pPr>
            <a:r>
              <a:rPr lang="en-US" sz="1800" i="1" dirty="0">
                <a:solidFill>
                  <a:srgbClr val="CBBFA3"/>
                </a:solidFill>
                <a:latin typeface="Merriweather" pitchFamily="34" charset="0"/>
                <a:ea typeface="Merriweather" pitchFamily="34" charset="-122"/>
                <a:cs typeface="Merriweather" pitchFamily="34" charset="-120"/>
              </a:rPr>
              <a:t>Necessidade, tempo e obrigação como operadores formais</a:t>
            </a:r>
            <a:endParaRPr lang="en-US" sz="1800" dirty="0"/>
          </a:p>
        </p:txBody>
      </p:sp>
      <p:sp>
        <p:nvSpPr>
          <p:cNvPr id="8" name="Shape 6"/>
          <p:cNvSpPr/>
          <p:nvPr/>
        </p:nvSpPr>
        <p:spPr>
          <a:xfrm>
            <a:off x="502920" y="6446520"/>
            <a:ext cx="11185855" cy="0"/>
          </a:xfrm>
          <a:prstGeom prst="line">
            <a:avLst/>
          </a:prstGeom>
          <a:noFill/>
          <a:ln w="6350">
            <a:solidFill>
              <a:srgbClr val="4B5563"/>
            </a:solidFill>
            <a:prstDash val="solid"/>
          </a:ln>
        </p:spPr>
      </p:sp>
      <p:sp>
        <p:nvSpPr>
          <p:cNvPr id="9" name="Text 7"/>
          <p:cNvSpPr/>
          <p:nvPr/>
        </p:nvSpPr>
        <p:spPr>
          <a:xfrm>
            <a:off x="502920" y="6492240"/>
            <a:ext cx="11185855" cy="274320"/>
          </a:xfrm>
          <a:prstGeom prst="rect">
            <a:avLst/>
          </a:prstGeom>
          <a:noFill/>
          <a:ln/>
        </p:spPr>
        <p:txBody>
          <a:bodyPr wrap="square" rtlCol="0" anchor="ctr"/>
          <a:lstStyle/>
          <a:p>
            <a:r>
              <a:rPr lang="en-US" sz="900" b="1" kern="0" spc="300" dirty="0">
                <a:solidFill>
                  <a:srgbClr val="9CA3AF"/>
                </a:solidFill>
                <a:latin typeface="Source Sans 3" pitchFamily="34" charset="0"/>
                <a:ea typeface="Source Sans 3" pitchFamily="34" charset="-122"/>
                <a:cs typeface="Source Sans 3" pitchFamily="34" charset="-120"/>
              </a:rPr>
              <a:t>ALICCE · Helena Reis &amp; Anderson Marcolino</a:t>
            </a:r>
            <a:endParaRPr lang="en-US" sz="9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3">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02 / 7</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LÓGICA MODAL</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9 · Lógicas Não-Clássicas</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Dois novos operadores</a:t>
            </a:r>
            <a:endParaRPr lang="en-US" sz="3600" dirty="0"/>
          </a:p>
        </p:txBody>
      </p:sp>
      <p:sp>
        <p:nvSpPr>
          <p:cNvPr id="9" name="Shape 7"/>
          <p:cNvSpPr/>
          <p:nvPr/>
        </p:nvSpPr>
        <p:spPr>
          <a:xfrm>
            <a:off x="1981048" y="2377440"/>
            <a:ext cx="8229600" cy="1828800"/>
          </a:xfrm>
          <a:prstGeom prst="rect">
            <a:avLst/>
          </a:prstGeom>
          <a:solidFill>
            <a:srgbClr val="FFFFFF"/>
          </a:solidFill>
          <a:ln w="12700">
            <a:solidFill>
              <a:srgbClr val="CBBFA3"/>
            </a:solidFill>
            <a:prstDash val="solid"/>
          </a:ln>
        </p:spPr>
      </p:sp>
      <p:sp>
        <p:nvSpPr>
          <p:cNvPr id="10" name="Shape 8"/>
          <p:cNvSpPr/>
          <p:nvPr/>
        </p:nvSpPr>
        <p:spPr>
          <a:xfrm>
            <a:off x="1981048" y="2377440"/>
            <a:ext cx="64008" cy="1828800"/>
          </a:xfrm>
          <a:prstGeom prst="rect">
            <a:avLst/>
          </a:prstGeom>
          <a:solidFill>
            <a:srgbClr val="E07A1F"/>
          </a:solidFill>
          <a:ln w="12700">
            <a:solidFill>
              <a:srgbClr val="E07A1F"/>
            </a:solidFill>
            <a:prstDash val="solid"/>
          </a:ln>
        </p:spPr>
      </p:sp>
      <p:sp>
        <p:nvSpPr>
          <p:cNvPr id="11" name="Text 9"/>
          <p:cNvSpPr/>
          <p:nvPr/>
        </p:nvSpPr>
        <p:spPr>
          <a:xfrm>
            <a:off x="2163928" y="2377440"/>
            <a:ext cx="7955280" cy="1828800"/>
          </a:xfrm>
          <a:prstGeom prst="rect">
            <a:avLst/>
          </a:prstGeom>
          <a:noFill/>
          <a:ln/>
        </p:spPr>
        <p:txBody>
          <a:bodyPr wrap="square" rtlCol="0" anchor="ctr"/>
          <a:lstStyle/>
          <a:p>
            <a:pPr marL="0" indent="0" algn="ctr">
              <a:buNone/>
            </a:pPr>
            <a:r>
              <a:rPr lang="en-US" sz="2200" dirty="0">
                <a:solidFill>
                  <a:srgbClr val="1A2238"/>
                </a:solidFill>
                <a:latin typeface="Cambria" pitchFamily="34" charset="0"/>
                <a:ea typeface="Cambria" pitchFamily="34" charset="-122"/>
                <a:cs typeface="Cambria" pitchFamily="34" charset="-120"/>
              </a:rPr>
              <a:t>□ φ   "necessariamente φ"</a:t>
            </a:r>
            <a:endParaRPr lang="en-US" sz="2200" dirty="0"/>
          </a:p>
          <a:p>
            <a:pPr marL="0" indent="0" algn="ctr">
              <a:buNone/>
            </a:pPr>
            <a:r>
              <a:rPr lang="en-US" sz="2200" dirty="0">
                <a:solidFill>
                  <a:srgbClr val="1A2238"/>
                </a:solidFill>
                <a:latin typeface="Cambria" pitchFamily="34" charset="0"/>
                <a:ea typeface="Cambria" pitchFamily="34" charset="-122"/>
                <a:cs typeface="Cambria" pitchFamily="34" charset="-120"/>
              </a:rPr>
              <a:t>◇ φ   "possivelmente φ"</a:t>
            </a:r>
            <a:endParaRPr lang="en-US" sz="2200" dirty="0"/>
          </a:p>
        </p:txBody>
      </p:sp>
      <p:sp>
        <p:nvSpPr>
          <p:cNvPr id="12" name="Text 10"/>
          <p:cNvSpPr/>
          <p:nvPr/>
        </p:nvSpPr>
        <p:spPr>
          <a:xfrm>
            <a:off x="502920" y="4297680"/>
            <a:ext cx="11185855" cy="365760"/>
          </a:xfrm>
          <a:prstGeom prst="rect">
            <a:avLst/>
          </a:prstGeom>
          <a:noFill/>
          <a:ln/>
        </p:spPr>
        <p:txBody>
          <a:bodyPr wrap="square" rtlCol="0" anchor="ctr"/>
          <a:lstStyle/>
          <a:p>
            <a:pPr marL="0" indent="0" algn="ctr">
              <a:buNone/>
            </a:pPr>
            <a:r>
              <a:rPr lang="en-US" sz="1200" i="1" dirty="0">
                <a:solidFill>
                  <a:srgbClr val="6B6452"/>
                </a:solidFill>
                <a:latin typeface="Source Sans 3" pitchFamily="34" charset="0"/>
                <a:ea typeface="Source Sans 3" pitchFamily="34" charset="-122"/>
                <a:cs typeface="Source Sans 3" pitchFamily="34" charset="-120"/>
              </a:rPr>
              <a:t>Dual: ◇φ ≡ ¬□¬φ</a:t>
            </a:r>
            <a:endParaRPr lang="en-US" sz="12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4">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03 / 7</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SEMÂNTICA DE KRIPKE</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9 · Lógicas Não-Clássicas</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Mundos + acessibilidade</a:t>
            </a:r>
            <a:endParaRPr lang="en-US" sz="3600" dirty="0"/>
          </a:p>
        </p:txBody>
      </p:sp>
      <p:sp>
        <p:nvSpPr>
          <p:cNvPr id="9" name="Shape 7"/>
          <p:cNvSpPr/>
          <p:nvPr/>
        </p:nvSpPr>
        <p:spPr>
          <a:xfrm>
            <a:off x="502920" y="2194560"/>
            <a:ext cx="3576218" cy="2011680"/>
          </a:xfrm>
          <a:prstGeom prst="rect">
            <a:avLst/>
          </a:prstGeom>
          <a:solidFill>
            <a:srgbClr val="FFFFFF"/>
          </a:solidFill>
          <a:ln w="9525">
            <a:solidFill>
              <a:srgbClr val="CBBFA3"/>
            </a:solidFill>
            <a:prstDash val="solid"/>
          </a:ln>
        </p:spPr>
      </p:sp>
      <p:sp>
        <p:nvSpPr>
          <p:cNvPr id="10" name="Text 8"/>
          <p:cNvSpPr/>
          <p:nvPr/>
        </p:nvSpPr>
        <p:spPr>
          <a:xfrm>
            <a:off x="685800"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W</a:t>
            </a:r>
            <a:endParaRPr lang="en-US" sz="900" dirty="0"/>
          </a:p>
        </p:txBody>
      </p:sp>
      <p:sp>
        <p:nvSpPr>
          <p:cNvPr id="11" name="Text 9"/>
          <p:cNvSpPr/>
          <p:nvPr/>
        </p:nvSpPr>
        <p:spPr>
          <a:xfrm>
            <a:off x="685800"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Mundos</a:t>
            </a:r>
            <a:endParaRPr lang="en-US" sz="1800" dirty="0"/>
          </a:p>
        </p:txBody>
      </p:sp>
      <p:sp>
        <p:nvSpPr>
          <p:cNvPr id="12" name="Text 10"/>
          <p:cNvSpPr/>
          <p:nvPr/>
        </p:nvSpPr>
        <p:spPr>
          <a:xfrm>
            <a:off x="685800"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Conjunto de situações possíveis.</a:t>
            </a:r>
            <a:endParaRPr lang="en-US" sz="1300" dirty="0"/>
          </a:p>
        </p:txBody>
      </p:sp>
      <p:sp>
        <p:nvSpPr>
          <p:cNvPr id="13" name="Shape 11"/>
          <p:cNvSpPr/>
          <p:nvPr/>
        </p:nvSpPr>
        <p:spPr>
          <a:xfrm>
            <a:off x="4307738" y="2194560"/>
            <a:ext cx="3576218" cy="2011680"/>
          </a:xfrm>
          <a:prstGeom prst="rect">
            <a:avLst/>
          </a:prstGeom>
          <a:solidFill>
            <a:srgbClr val="FFFFFF"/>
          </a:solidFill>
          <a:ln w="9525">
            <a:solidFill>
              <a:srgbClr val="CBBFA3"/>
            </a:solidFill>
            <a:prstDash val="solid"/>
          </a:ln>
        </p:spPr>
      </p:sp>
      <p:sp>
        <p:nvSpPr>
          <p:cNvPr id="14" name="Text 12"/>
          <p:cNvSpPr/>
          <p:nvPr/>
        </p:nvSpPr>
        <p:spPr>
          <a:xfrm>
            <a:off x="4490618"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R</a:t>
            </a:r>
            <a:endParaRPr lang="en-US" sz="900" dirty="0"/>
          </a:p>
        </p:txBody>
      </p:sp>
      <p:sp>
        <p:nvSpPr>
          <p:cNvPr id="15" name="Text 13"/>
          <p:cNvSpPr/>
          <p:nvPr/>
        </p:nvSpPr>
        <p:spPr>
          <a:xfrm>
            <a:off x="4490618"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Acessibilidade</a:t>
            </a:r>
            <a:endParaRPr lang="en-US" sz="1800" dirty="0"/>
          </a:p>
        </p:txBody>
      </p:sp>
      <p:sp>
        <p:nvSpPr>
          <p:cNvPr id="16" name="Text 14"/>
          <p:cNvSpPr/>
          <p:nvPr/>
        </p:nvSpPr>
        <p:spPr>
          <a:xfrm>
            <a:off x="4490618"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Quais mundos são alcançáveis.</a:t>
            </a:r>
            <a:endParaRPr lang="en-US" sz="1300" dirty="0"/>
          </a:p>
        </p:txBody>
      </p:sp>
      <p:sp>
        <p:nvSpPr>
          <p:cNvPr id="17" name="Shape 15"/>
          <p:cNvSpPr/>
          <p:nvPr/>
        </p:nvSpPr>
        <p:spPr>
          <a:xfrm>
            <a:off x="8112557" y="2194560"/>
            <a:ext cx="3576218" cy="2011680"/>
          </a:xfrm>
          <a:prstGeom prst="rect">
            <a:avLst/>
          </a:prstGeom>
          <a:solidFill>
            <a:srgbClr val="FFFFFF"/>
          </a:solidFill>
          <a:ln w="9525">
            <a:solidFill>
              <a:srgbClr val="CBBFA3"/>
            </a:solidFill>
            <a:prstDash val="solid"/>
          </a:ln>
        </p:spPr>
      </p:sp>
      <p:sp>
        <p:nvSpPr>
          <p:cNvPr id="18" name="Text 16"/>
          <p:cNvSpPr/>
          <p:nvPr/>
        </p:nvSpPr>
        <p:spPr>
          <a:xfrm>
            <a:off x="8295437" y="2331720"/>
            <a:ext cx="3210458" cy="274320"/>
          </a:xfrm>
          <a:prstGeom prst="rect">
            <a:avLst/>
          </a:prstGeom>
          <a:noFill/>
          <a:ln/>
        </p:spPr>
        <p:txBody>
          <a:bodyPr wrap="square" rtlCol="0" anchor="ctr"/>
          <a:lstStyle/>
          <a:p>
            <a:pPr marL="0" indent="0">
              <a:buNone/>
            </a:pPr>
            <a:r>
              <a:rPr lang="en-US" sz="900" b="1" kern="0" spc="400" dirty="0">
                <a:solidFill>
                  <a:srgbClr val="E07A1F"/>
                </a:solidFill>
                <a:latin typeface="Source Sans 3" pitchFamily="34" charset="0"/>
                <a:ea typeface="Source Sans 3" pitchFamily="34" charset="-122"/>
                <a:cs typeface="Source Sans 3" pitchFamily="34" charset="-120"/>
              </a:rPr>
              <a:t>V</a:t>
            </a:r>
            <a:endParaRPr lang="en-US" sz="900" dirty="0"/>
          </a:p>
        </p:txBody>
      </p:sp>
      <p:sp>
        <p:nvSpPr>
          <p:cNvPr id="19" name="Text 17"/>
          <p:cNvSpPr/>
          <p:nvPr/>
        </p:nvSpPr>
        <p:spPr>
          <a:xfrm>
            <a:off x="8295437" y="2606040"/>
            <a:ext cx="3210458" cy="457200"/>
          </a:xfrm>
          <a:prstGeom prst="rect">
            <a:avLst/>
          </a:prstGeom>
          <a:noFill/>
          <a:ln/>
        </p:spPr>
        <p:txBody>
          <a:bodyPr wrap="square" rtlCol="0" anchor="ctr"/>
          <a:lstStyle/>
          <a:p>
            <a:pPr marL="0" indent="0">
              <a:buNone/>
            </a:pPr>
            <a:r>
              <a:rPr lang="en-US" sz="1800" b="1" dirty="0">
                <a:solidFill>
                  <a:srgbClr val="1A2238"/>
                </a:solidFill>
                <a:latin typeface="Playfair Display" pitchFamily="34" charset="0"/>
                <a:ea typeface="Playfair Display" pitchFamily="34" charset="-122"/>
                <a:cs typeface="Playfair Display" pitchFamily="34" charset="-120"/>
              </a:rPr>
              <a:t>Valoração</a:t>
            </a:r>
            <a:endParaRPr lang="en-US" sz="1800" dirty="0"/>
          </a:p>
        </p:txBody>
      </p:sp>
      <p:sp>
        <p:nvSpPr>
          <p:cNvPr id="20" name="Text 18"/>
          <p:cNvSpPr/>
          <p:nvPr/>
        </p:nvSpPr>
        <p:spPr>
          <a:xfrm>
            <a:off x="8295437" y="3108960"/>
            <a:ext cx="3210458" cy="1005840"/>
          </a:xfrm>
          <a:prstGeom prst="rect">
            <a:avLst/>
          </a:prstGeom>
          <a:noFill/>
          <a:ln/>
        </p:spPr>
        <p:txBody>
          <a:bodyPr wrap="square" rtlCol="0" anchor="t"/>
          <a:lstStyle/>
          <a:p>
            <a:pPr marL="0" indent="0">
              <a:buNone/>
            </a:pPr>
            <a:r>
              <a:rPr lang="en-US" sz="1300" dirty="0">
                <a:solidFill>
                  <a:srgbClr val="374151"/>
                </a:solidFill>
                <a:latin typeface="Merriweather" pitchFamily="34" charset="0"/>
                <a:ea typeface="Merriweather" pitchFamily="34" charset="-122"/>
                <a:cs typeface="Merriweather" pitchFamily="34" charset="-120"/>
              </a:rPr>
              <a:t>Que átomos valem em cada mundo.</a:t>
            </a:r>
            <a:endParaRPr lang="en-US" sz="13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5">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04 / 7</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LÓGICA TEMPORAL</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9 · Lógicas Não-Clássicas</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Operadores LTL</a:t>
            </a:r>
            <a:endParaRPr lang="en-US" sz="3600" dirty="0"/>
          </a:p>
        </p:txBody>
      </p:sp>
      <p:graphicFrame>
        <p:nvGraphicFramePr>
          <p:cNvPr id="116" name="Table 0"/>
          <p:cNvGraphicFramePr>
            <a:graphicFrameLocks noGrp="1"/>
          </p:cNvGraphicFramePr>
          <p:nvPr>
            <p:extLst>
              <p:ext uri="{D42A27DB-BD31-4B8C-83A1-F6EECF244321}">
                <p14:modId xmlns:p14="http://schemas.microsoft.com/office/powerpoint/2010/main" val="1579011935"/>
              </p:ext>
            </p:extLst>
          </p:nvPr>
        </p:nvGraphicFramePr>
        <p:xfrm>
          <a:off x="1523848" y="2103120"/>
          <a:ext cx="9144000" cy="914400"/>
        </p:xfrm>
        <a:graphic>
          <a:graphicData uri="http://schemas.openxmlformats.org/drawingml/2006/table">
            <a:tbl>
              <a:tblPr/>
              <a:tblGrid>
                <a:gridCol w="18288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384048">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Símbolo</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Lê-se</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Significado</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extLst>
                  <a:ext uri="{0D108BD9-81ED-4DB2-BD59-A6C34878D82A}">
                    <a16:rowId xmlns:a16="http://schemas.microsoft.com/office/drawing/2014/main" val="10000"/>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X φ</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next</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φ vale no próximo instante</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F φ</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eventually</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φ vale em algum futuro</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G φ</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globally</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φ vale sempre no futuro</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φ U ψ</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until</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φ vale até que ψ valha</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0" name="Text 7"/>
          <p:cNvSpPr/>
          <p:nvPr/>
        </p:nvSpPr>
        <p:spPr>
          <a:xfrm>
            <a:off x="1523848" y="4069080"/>
            <a:ext cx="9144000" cy="274320"/>
          </a:xfrm>
          <a:prstGeom prst="rect">
            <a:avLst/>
          </a:prstGeom>
          <a:noFill/>
          <a:ln/>
        </p:spPr>
        <p:txBody>
          <a:bodyPr wrap="square" rtlCol="0" anchor="ctr"/>
          <a:lstStyle/>
          <a:p>
            <a:pPr marL="0" indent="0" algn="ctr">
              <a:buNone/>
            </a:pPr>
            <a:r>
              <a:rPr lang="en-US" sz="1000" i="1" dirty="0">
                <a:solidFill>
                  <a:srgbClr val="6B6452"/>
                </a:solidFill>
                <a:latin typeface="Source Sans 3" pitchFamily="34" charset="0"/>
                <a:ea typeface="Source Sans 3" pitchFamily="34" charset="-122"/>
                <a:cs typeface="Source Sans 3" pitchFamily="34" charset="-120"/>
              </a:rPr>
              <a:t>LTL = Linear Temporal Logic.</a:t>
            </a:r>
            <a:endParaRPr lang="en-US" sz="10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6">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05 / 7</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EXEMPLO LTL</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9 · Lógicas Não-Clássicas</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Propriedades de um sistema</a:t>
            </a:r>
            <a:endParaRPr lang="en-US" sz="3600" dirty="0"/>
          </a:p>
        </p:txBody>
      </p:sp>
      <p:sp>
        <p:nvSpPr>
          <p:cNvPr id="9" name="Shape 7"/>
          <p:cNvSpPr/>
          <p:nvPr/>
        </p:nvSpPr>
        <p:spPr>
          <a:xfrm>
            <a:off x="502920" y="1828800"/>
            <a:ext cx="11185855" cy="4206240"/>
          </a:xfrm>
          <a:prstGeom prst="rect">
            <a:avLst/>
          </a:prstGeom>
          <a:solidFill>
            <a:srgbClr val="1A2238"/>
          </a:solidFill>
          <a:ln w="12700">
            <a:solidFill>
              <a:srgbClr val="2A3550"/>
            </a:solidFill>
            <a:prstDash val="solid"/>
          </a:ln>
        </p:spPr>
      </p:sp>
      <p:sp>
        <p:nvSpPr>
          <p:cNvPr id="10" name="Shape 8"/>
          <p:cNvSpPr/>
          <p:nvPr/>
        </p:nvSpPr>
        <p:spPr>
          <a:xfrm>
            <a:off x="502920" y="1828800"/>
            <a:ext cx="64008" cy="4206240"/>
          </a:xfrm>
          <a:prstGeom prst="rect">
            <a:avLst/>
          </a:prstGeom>
          <a:solidFill>
            <a:srgbClr val="E07A1F"/>
          </a:solidFill>
          <a:ln w="12700">
            <a:solidFill>
              <a:srgbClr val="E07A1F"/>
            </a:solidFill>
            <a:prstDash val="solid"/>
          </a:ln>
        </p:spPr>
      </p:sp>
      <p:sp>
        <p:nvSpPr>
          <p:cNvPr id="11" name="Text 9"/>
          <p:cNvSpPr/>
          <p:nvPr/>
        </p:nvSpPr>
        <p:spPr>
          <a:xfrm>
            <a:off x="731520" y="1920240"/>
            <a:ext cx="10820095" cy="4023360"/>
          </a:xfrm>
          <a:prstGeom prst="rect">
            <a:avLst/>
          </a:prstGeom>
          <a:noFill/>
          <a:ln/>
        </p:spPr>
        <p:txBody>
          <a:bodyPr wrap="square" rtlCol="0" anchor="t"/>
          <a:lstStyle/>
          <a:p>
            <a:pPr marL="0" indent="0">
              <a:buNone/>
            </a:pPr>
            <a:r>
              <a:rPr lang="en-US" sz="1400" dirty="0">
                <a:solidFill>
                  <a:srgbClr val="F7F2E8"/>
                </a:solidFill>
                <a:latin typeface="Consolas" pitchFamily="34" charset="0"/>
                <a:ea typeface="Consolas" pitchFamily="34" charset="-122"/>
                <a:cs typeface="Consolas" pitchFamily="34" charset="-120"/>
              </a:rPr>
              <a:t>Variáveis: req (pedido), grant (concessão)</a:t>
            </a:r>
            <a:endParaRPr lang="en-US" sz="1400" dirty="0"/>
          </a:p>
          <a:p>
            <a:pPr marL="0" indent="0">
              <a:buNone/>
            </a:pP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Especificações típicas:</a:t>
            </a:r>
            <a:endParaRPr lang="en-US" sz="1400" dirty="0"/>
          </a:p>
          <a:p>
            <a:pPr marL="0" indent="0">
              <a:buNone/>
            </a:pP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G (req ⇒ F grant)</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 "todo pedido é eventualmente atendido"</a:t>
            </a:r>
            <a:endParaRPr lang="en-US" sz="1400" dirty="0"/>
          </a:p>
          <a:p>
            <a:pPr marL="0" indent="0">
              <a:buNone/>
            </a:pP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G ¬(grant ∧ ¬req)</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 "nunca conceder sem pedido"</a:t>
            </a:r>
            <a:endParaRPr lang="en-US" sz="1400" dirty="0"/>
          </a:p>
          <a:p>
            <a:pPr marL="0" indent="0">
              <a:buNone/>
            </a:pP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G (grant ⇒ X ¬grant)</a:t>
            </a:r>
            <a:endParaRPr lang="en-US" sz="1400" dirty="0"/>
          </a:p>
          <a:p>
            <a:pPr marL="0" indent="0">
              <a:buNone/>
            </a:pPr>
            <a:r>
              <a:rPr lang="en-US" sz="1400" dirty="0">
                <a:solidFill>
                  <a:srgbClr val="F7F2E8"/>
                </a:solidFill>
                <a:latin typeface="Consolas" pitchFamily="34" charset="0"/>
                <a:ea typeface="Consolas" pitchFamily="34" charset="-122"/>
                <a:cs typeface="Consolas" pitchFamily="34" charset="-120"/>
              </a:rPr>
              <a:t>  → "concessão dura apenas um instante"</a:t>
            </a:r>
            <a:endParaRPr lang="en-US" sz="14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7">
    <p:bg>
      <p:bgPr>
        <a:solidFill>
          <a:srgbClr val="F7F2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Text 1"/>
          <p:cNvSpPr/>
          <p:nvPr/>
        </p:nvSpPr>
        <p:spPr>
          <a:xfrm>
            <a:off x="10362895" y="164592"/>
            <a:ext cx="1554480" cy="274320"/>
          </a:xfrm>
          <a:prstGeom prst="rect">
            <a:avLst/>
          </a:prstGeom>
          <a:noFill/>
          <a:ln/>
        </p:spPr>
        <p:txBody>
          <a:bodyPr wrap="square" rtlCol="0" anchor="ctr"/>
          <a:lstStyle/>
          <a:p>
            <a:pPr marL="0" indent="0" algn="r">
              <a:buNone/>
            </a:pPr>
            <a:r>
              <a:rPr lang="en-US" sz="1100" b="1" kern="0" spc="400" dirty="0">
                <a:solidFill>
                  <a:srgbClr val="2A3550"/>
                </a:solidFill>
                <a:latin typeface="Playfair Display" pitchFamily="34" charset="0"/>
                <a:ea typeface="Playfair Display" pitchFamily="34" charset="-122"/>
                <a:cs typeface="Playfair Display" pitchFamily="34" charset="-120"/>
              </a:rPr>
              <a:t>06 / 7</a:t>
            </a:r>
            <a:endParaRPr lang="en-US" sz="1100" dirty="0"/>
          </a:p>
        </p:txBody>
      </p:sp>
      <p:sp>
        <p:nvSpPr>
          <p:cNvPr id="4" name="Text 2"/>
          <p:cNvSpPr/>
          <p:nvPr/>
        </p:nvSpPr>
        <p:spPr>
          <a:xfrm>
            <a:off x="502920" y="320040"/>
            <a:ext cx="8686800" cy="292608"/>
          </a:xfrm>
          <a:prstGeom prst="rect">
            <a:avLst/>
          </a:prstGeom>
          <a:noFill/>
          <a:ln/>
        </p:spPr>
        <p:txBody>
          <a:bodyPr wrap="square" rtlCol="0" anchor="ctr"/>
          <a:lstStyle/>
          <a:p>
            <a:pPr marL="0" indent="0">
              <a:buNone/>
            </a:pPr>
            <a:r>
              <a:rPr lang="en-US" sz="1000" b="1" kern="0" spc="600" dirty="0">
                <a:solidFill>
                  <a:srgbClr val="E07A1F"/>
                </a:solidFill>
                <a:latin typeface="Source Sans 3" pitchFamily="34" charset="0"/>
                <a:ea typeface="Source Sans 3" pitchFamily="34" charset="-122"/>
                <a:cs typeface="Source Sans 3" pitchFamily="34" charset="-120"/>
              </a:rPr>
              <a:t>LÓGICA DEÔNTICA</a:t>
            </a:r>
            <a:endParaRPr lang="en-US" sz="1000" dirty="0"/>
          </a:p>
        </p:txBody>
      </p:sp>
      <p:sp>
        <p:nvSpPr>
          <p:cNvPr id="5" name="Shape 3"/>
          <p:cNvSpPr/>
          <p:nvPr/>
        </p:nvSpPr>
        <p:spPr>
          <a:xfrm>
            <a:off x="502920" y="6446520"/>
            <a:ext cx="11185855" cy="0"/>
          </a:xfrm>
          <a:prstGeom prst="line">
            <a:avLst/>
          </a:prstGeom>
          <a:noFill/>
          <a:ln w="6350">
            <a:solidFill>
              <a:srgbClr val="CBBFA3"/>
            </a:solidFill>
            <a:prstDash val="solid"/>
          </a:ln>
        </p:spPr>
      </p:sp>
      <p:sp>
        <p:nvSpPr>
          <p:cNvPr id="6" name="Text 4"/>
          <p:cNvSpPr/>
          <p:nvPr/>
        </p:nvSpPr>
        <p:spPr>
          <a:xfrm>
            <a:off x="502920" y="6492240"/>
            <a:ext cx="5486400" cy="274320"/>
          </a:xfrm>
          <a:prstGeom prst="rect">
            <a:avLst/>
          </a:prstGeom>
          <a:noFill/>
          <a:ln/>
        </p:spPr>
        <p:txBody>
          <a:bodyPr wrap="square" rtlCol="0" anchor="ctr"/>
          <a:lstStyle/>
          <a:p>
            <a:pPr marL="0" indent="0">
              <a:buNone/>
            </a:pPr>
            <a:r>
              <a:rPr lang="en-US" sz="900" b="1" kern="0" spc="300" dirty="0">
                <a:solidFill>
                  <a:srgbClr val="6B6452"/>
                </a:solidFill>
                <a:latin typeface="Source Sans 3" pitchFamily="34" charset="0"/>
                <a:ea typeface="Source Sans 3" pitchFamily="34" charset="-122"/>
                <a:cs typeface="Source Sans 3" pitchFamily="34" charset="-120"/>
              </a:rPr>
              <a:t>Capítulo 9 · Lógicas Não-Clássicas</a:t>
            </a:r>
            <a:endParaRPr lang="en-US" sz="900" dirty="0"/>
          </a:p>
        </p:txBody>
      </p:sp>
      <p:sp>
        <p:nvSpPr>
          <p:cNvPr id="7" name="Text 5"/>
          <p:cNvSpPr/>
          <p:nvPr/>
        </p:nvSpPr>
        <p:spPr>
          <a:xfrm>
            <a:off x="6202375" y="6492240"/>
            <a:ext cx="5486400" cy="274320"/>
          </a:xfrm>
          <a:prstGeom prst="rect">
            <a:avLst/>
          </a:prstGeom>
          <a:noFill/>
          <a:ln/>
        </p:spPr>
        <p:txBody>
          <a:bodyPr wrap="square" rtlCol="0" anchor="ctr"/>
          <a:lstStyle/>
          <a:p>
            <a:pPr marL="0" indent="0" algn="r">
              <a:buNone/>
            </a:pPr>
            <a:r>
              <a:rPr lang="en-US" sz="900" b="1" kern="0" spc="300" dirty="0">
                <a:solidFill>
                  <a:srgbClr val="6B6452"/>
                </a:solidFill>
                <a:latin typeface="Source Sans 3" pitchFamily="34" charset="0"/>
                <a:ea typeface="Source Sans 3" pitchFamily="34" charset="-122"/>
                <a:cs typeface="Source Sans 3" pitchFamily="34" charset="-120"/>
              </a:rPr>
              <a:t>ALICCE</a:t>
            </a:r>
            <a:endParaRPr lang="en-US" sz="900" dirty="0"/>
          </a:p>
        </p:txBody>
      </p:sp>
      <p:sp>
        <p:nvSpPr>
          <p:cNvPr id="8" name="Text 6"/>
          <p:cNvSpPr/>
          <p:nvPr/>
        </p:nvSpPr>
        <p:spPr>
          <a:xfrm>
            <a:off x="502920" y="685800"/>
            <a:ext cx="11185855" cy="914400"/>
          </a:xfrm>
          <a:prstGeom prst="rect">
            <a:avLst/>
          </a:prstGeom>
          <a:noFill/>
          <a:ln/>
        </p:spPr>
        <p:txBody>
          <a:bodyPr wrap="square" rtlCol="0" anchor="t"/>
          <a:lstStyle/>
          <a:p>
            <a:pPr marL="0" indent="0">
              <a:buNone/>
            </a:pPr>
            <a:r>
              <a:rPr lang="en-US" sz="3600" b="1" dirty="0">
                <a:solidFill>
                  <a:srgbClr val="1A2238"/>
                </a:solidFill>
                <a:latin typeface="Playfair Display" pitchFamily="34" charset="0"/>
                <a:ea typeface="Playfair Display" pitchFamily="34" charset="-122"/>
                <a:cs typeface="Playfair Display" pitchFamily="34" charset="-120"/>
              </a:rPr>
              <a:t>Normas como operadores</a:t>
            </a:r>
            <a:endParaRPr lang="en-US" sz="3600" dirty="0"/>
          </a:p>
        </p:txBody>
      </p:sp>
      <p:graphicFrame>
        <p:nvGraphicFramePr>
          <p:cNvPr id="118" name="Table 0"/>
          <p:cNvGraphicFramePr>
            <a:graphicFrameLocks noGrp="1"/>
          </p:cNvGraphicFramePr>
          <p:nvPr>
            <p:extLst>
              <p:ext uri="{D42A27DB-BD31-4B8C-83A1-F6EECF244321}">
                <p14:modId xmlns:p14="http://schemas.microsoft.com/office/powerpoint/2010/main" val="1579011935"/>
              </p:ext>
            </p:extLst>
          </p:nvPr>
        </p:nvGraphicFramePr>
        <p:xfrm>
          <a:off x="2895448" y="2103120"/>
          <a:ext cx="6400800" cy="1536192"/>
        </p:xfrm>
        <a:graphic>
          <a:graphicData uri="http://schemas.openxmlformats.org/drawingml/2006/table">
            <a:tbl>
              <a:tblPr/>
              <a:tblGrid>
                <a:gridCol w="18288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384048">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Símbolo</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tc>
                  <a:txBody>
                    <a:bodyPr/>
                    <a:lstStyle/>
                    <a:p>
                      <a:pPr marL="0" indent="0" algn="ctr">
                        <a:buNone/>
                      </a:pPr>
                      <a:r>
                        <a:rPr lang="en-US" sz="1400" b="1" dirty="0">
                          <a:solidFill>
                            <a:srgbClr val="F7F2E8"/>
                          </a:solidFill>
                          <a:latin typeface="Source Sans 3" pitchFamily="34" charset="0"/>
                          <a:ea typeface="Source Sans 3" pitchFamily="34" charset="-122"/>
                          <a:cs typeface="Source Sans 3" pitchFamily="34" charset="-120"/>
                        </a:rPr>
                        <a:t>Lê-se</a:t>
                      </a:r>
                      <a:endParaRPr lang="en-US" sz="1400" dirty="0">
                        <a:latin typeface="Source Sans 3" charset="0"/>
                        <a:ea typeface="Source Sans 3" charset="0"/>
                        <a:cs typeface="Source Sans 3"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2A3550"/>
                    </a:solidFill>
                  </a:tcPr>
                </a:tc>
                <a:extLst>
                  <a:ext uri="{0D108BD9-81ED-4DB2-BD59-A6C34878D82A}">
                    <a16:rowId xmlns:a16="http://schemas.microsoft.com/office/drawing/2014/main" val="10000"/>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O φ</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obrigatório que φ</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P φ</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permitido que φ</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F φ</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mbria" pitchFamily="34" charset="0"/>
                          <a:ea typeface="Cambria" pitchFamily="34" charset="-122"/>
                          <a:cs typeface="Cambria" pitchFamily="34" charset="-120"/>
                        </a:rPr>
                        <a:t>proibido que φ</a:t>
                      </a:r>
                      <a:endParaRPr lang="en-US" sz="1500" dirty="0">
                        <a:latin typeface="Cambria" charset="0"/>
                        <a:ea typeface="Cambria" charset="0"/>
                        <a:cs typeface="Cambria" charset="0"/>
                      </a:endParaRPr>
                    </a:p>
                  </a:txBody>
                  <a:tcPr anchor="ctr">
                    <a:lnL w="6350" cap="flat" cmpd="sng" algn="ctr">
                      <a:solidFill>
                        <a:srgbClr val="CBBFA3"/>
                      </a:solidFill>
                      <a:prstDash val="solid"/>
                      <a:round/>
                      <a:headEnd type="none" w="med" len="med"/>
                      <a:tailEnd type="none" w="med" len="med"/>
                    </a:lnL>
                    <a:lnR w="6350" cap="flat" cmpd="sng" algn="ctr">
                      <a:solidFill>
                        <a:srgbClr val="CBBFA3"/>
                      </a:solidFill>
                      <a:prstDash val="solid"/>
                      <a:round/>
                      <a:headEnd type="none" w="med" len="med"/>
                      <a:tailEnd type="none" w="med" len="med"/>
                    </a:lnR>
                    <a:lnT w="6350" cap="flat" cmpd="sng" algn="ctr">
                      <a:solidFill>
                        <a:srgbClr val="CBBFA3"/>
                      </a:solidFill>
                      <a:prstDash val="solid"/>
                      <a:round/>
                      <a:headEnd type="none" w="med" len="med"/>
                      <a:tailEnd type="none" w="med" len="med"/>
                    </a:lnT>
                    <a:lnB w="6350" cap="flat" cmpd="sng" algn="ctr">
                      <a:solidFill>
                        <a:srgbClr val="CBBFA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Text 7"/>
          <p:cNvSpPr/>
          <p:nvPr/>
        </p:nvSpPr>
        <p:spPr>
          <a:xfrm>
            <a:off x="2895448" y="3685032"/>
            <a:ext cx="6400800" cy="274320"/>
          </a:xfrm>
          <a:prstGeom prst="rect">
            <a:avLst/>
          </a:prstGeom>
          <a:noFill/>
          <a:ln/>
        </p:spPr>
        <p:txBody>
          <a:bodyPr wrap="square" rtlCol="0" anchor="ctr"/>
          <a:lstStyle/>
          <a:p>
            <a:pPr marL="0" indent="0" algn="ctr">
              <a:buNone/>
            </a:pPr>
            <a:r>
              <a:rPr lang="en-US" sz="1000" i="1" dirty="0">
                <a:solidFill>
                  <a:srgbClr val="6B6452"/>
                </a:solidFill>
                <a:latin typeface="Source Sans 3" pitchFamily="34" charset="0"/>
                <a:ea typeface="Source Sans 3" pitchFamily="34" charset="-122"/>
                <a:cs typeface="Source Sans 3" pitchFamily="34" charset="-120"/>
              </a:rPr>
              <a:t>Útil em compliance, contratos digitais, ética em IA.</a:t>
            </a:r>
            <a:endParaRPr lang="en-US" sz="10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8">
    <p:bg>
      <p:bgPr>
        <a:solidFill>
          <a:srgbClr val="1A223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7A1F"/>
          </a:solidFill>
          <a:ln w="12700">
            <a:solidFill>
              <a:srgbClr val="E07A1F"/>
            </a:solidFill>
            <a:prstDash val="solid"/>
          </a:ln>
        </p:spPr>
      </p:sp>
      <p:sp>
        <p:nvSpPr>
          <p:cNvPr id="3" name="Shape 1"/>
          <p:cNvSpPr/>
          <p:nvPr/>
        </p:nvSpPr>
        <p:spPr>
          <a:xfrm>
            <a:off x="4952848" y="1371600"/>
            <a:ext cx="2286000" cy="411480"/>
          </a:xfrm>
          <a:prstGeom prst="roundRect">
            <a:avLst>
              <a:gd name="adj" fmla="val 48889"/>
            </a:avLst>
          </a:prstGeom>
          <a:solidFill>
            <a:srgbClr val="E07A1F"/>
          </a:solidFill>
          <a:ln w="12700">
            <a:solidFill>
              <a:srgbClr val="E07A1F"/>
            </a:solidFill>
            <a:prstDash val="solid"/>
          </a:ln>
        </p:spPr>
      </p:sp>
      <p:sp>
        <p:nvSpPr>
          <p:cNvPr id="4" name="Text 2"/>
          <p:cNvSpPr/>
          <p:nvPr/>
        </p:nvSpPr>
        <p:spPr>
          <a:xfrm>
            <a:off x="4952848" y="1371600"/>
            <a:ext cx="2286000" cy="411480"/>
          </a:xfrm>
          <a:prstGeom prst="rect">
            <a:avLst/>
          </a:prstGeom>
          <a:noFill/>
          <a:ln/>
        </p:spPr>
        <p:txBody>
          <a:bodyPr wrap="square" rtlCol="0" anchor="ctr"/>
          <a:lstStyle/>
          <a:p>
            <a:pPr marL="0" indent="0" algn="ctr">
              <a:buNone/>
            </a:pPr>
            <a:r>
              <a:rPr lang="en-US" sz="1200" b="1" kern="0" spc="400" dirty="0">
                <a:solidFill>
                  <a:srgbClr val="FFFFFF"/>
                </a:solidFill>
                <a:latin typeface="Source Sans 3" pitchFamily="34" charset="0"/>
                <a:ea typeface="Source Sans 3" pitchFamily="34" charset="-122"/>
                <a:cs typeface="Source Sans 3" pitchFamily="34" charset="-120"/>
              </a:rPr>
              <a:t>FIM DO CAPÍTULO 9</a:t>
            </a:r>
            <a:endParaRPr lang="en-US" sz="1200" dirty="0"/>
          </a:p>
        </p:txBody>
      </p:sp>
      <p:sp>
        <p:nvSpPr>
          <p:cNvPr id="5" name="Text 3"/>
          <p:cNvSpPr/>
          <p:nvPr/>
        </p:nvSpPr>
        <p:spPr>
          <a:xfrm>
            <a:off x="502920" y="2103120"/>
            <a:ext cx="11185855" cy="1371600"/>
          </a:xfrm>
          <a:prstGeom prst="rect">
            <a:avLst/>
          </a:prstGeom>
          <a:noFill/>
          <a:ln/>
        </p:spPr>
        <p:txBody>
          <a:bodyPr wrap="square" rtlCol="0" anchor="ctr"/>
          <a:lstStyle/>
          <a:p>
            <a:pPr marL="0" indent="0" algn="ctr">
              <a:buNone/>
            </a:pPr>
            <a:r>
              <a:rPr lang="en-US" sz="4400" b="1" dirty="0">
                <a:solidFill>
                  <a:srgbClr val="F7F2E8"/>
                </a:solidFill>
                <a:latin typeface="Playfair Display" pitchFamily="34" charset="0"/>
                <a:ea typeface="Playfair Display" pitchFamily="34" charset="-122"/>
                <a:cs typeface="Playfair Display" pitchFamily="34" charset="-120"/>
              </a:rPr>
              <a:t>A lógica é plural</a:t>
            </a:r>
            <a:endParaRPr lang="en-US" sz="4400" dirty="0"/>
          </a:p>
        </p:txBody>
      </p:sp>
      <p:sp>
        <p:nvSpPr>
          <p:cNvPr id="6" name="Text 4"/>
          <p:cNvSpPr/>
          <p:nvPr/>
        </p:nvSpPr>
        <p:spPr>
          <a:xfrm>
            <a:off x="1371600" y="3840480"/>
            <a:ext cx="9448495" cy="1371600"/>
          </a:xfrm>
          <a:prstGeom prst="rect">
            <a:avLst/>
          </a:prstGeom>
          <a:noFill/>
          <a:ln/>
        </p:spPr>
        <p:txBody>
          <a:bodyPr wrap="square" rtlCol="0" anchor="ctr"/>
          <a:lstStyle/>
          <a:p>
            <a:pPr marL="0" indent="0" algn="ctr">
              <a:buNone/>
            </a:pPr>
            <a:r>
              <a:rPr lang="en-US" sz="1800" i="1" dirty="0">
                <a:solidFill>
                  <a:srgbClr val="CBBFA3"/>
                </a:solidFill>
                <a:latin typeface="Merriweather" pitchFamily="34" charset="0"/>
                <a:ea typeface="Merriweather" pitchFamily="34" charset="-122"/>
                <a:cs typeface="Merriweather" pitchFamily="34" charset="-120"/>
              </a:rPr>
              <a:t>Modal, temporal, deôntica, fuzzy, paraconsistente: cada problema pede sua lógica. A clássica é só o começo.</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24162</Words>
  <Application>Microsoft Office PowerPoint</Application>
  <PresentationFormat>Widescreen</PresentationFormat>
  <Paragraphs>1658</Paragraphs>
  <Slides>119</Slides>
  <Notes>119</Notes>
  <HiddenSlides>0</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119</vt:i4>
      </vt:variant>
    </vt:vector>
  </HeadingPairs>
  <TitlesOfParts>
    <vt:vector size="127" baseType="lpstr">
      <vt:lpstr>Arial</vt:lpstr>
      <vt:lpstr>Calibri</vt:lpstr>
      <vt:lpstr>Cambria</vt:lpstr>
      <vt:lpstr>Consolas</vt:lpstr>
      <vt:lpstr>Merriweather</vt:lpstr>
      <vt:lpstr>Playfair Display</vt:lpstr>
      <vt:lpstr>Source Sans 3</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ALICCE — Slides de Aula</dc:title>
  <dc:subject>PptxGenJS Presentation</dc:subject>
  <dc:creator>PptxGenJS</dc:creator>
  <cp:lastModifiedBy>helena macedo</cp:lastModifiedBy>
  <cp:revision>1</cp:revision>
  <dcterms:created xsi:type="dcterms:W3CDTF">2026-04-30T11:57:29Z</dcterms:created>
  <dcterms:modified xsi:type="dcterms:W3CDTF">2026-05-05T18:44:26Z</dcterms:modified>
</cp:coreProperties>
</file>